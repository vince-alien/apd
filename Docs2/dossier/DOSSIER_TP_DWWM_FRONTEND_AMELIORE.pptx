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7562088" cy="10689336"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534924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49240"/>
            <a:ext cx="7562088" cy="5340096"/>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4114800"/>
            <a:ext cx="914400" cy="137160"/>
          </a:xfrm>
          <a:prstGeom prst="round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6647688" cy="2286000"/>
          </a:xfrm>
          <a:prstGeom prst="rect">
            <a:avLst/>
          </a:prstGeom>
          <a:noFill/>
        </p:spPr>
        <p:txBody>
          <a:bodyPr wrap="square" anchor="t">
            <a:spAutoFit/>
          </a:bodyPr>
          <a:lstStyle/>
          <a:p>
            <a:pPr algn="ctr">
              <a:lnSpc>
                <a:spcPct val="120000"/>
              </a:lnSpc>
              <a:defRPr sz="3600" b="1">
                <a:solidFill>
                  <a:srgbClr val="FFFFFF"/>
                </a:solidFill>
                <a:latin typeface="Segoe UI"/>
              </a:defRPr>
            </a:pPr>
            <a:r>
              <a:t>DOSSIER PROJET</a:t>
            </a:r>
            <a:br/>
            <a:r>
              <a:t>TITRE PROFESSIONNEL</a:t>
            </a:r>
            <a:br/>
            <a:r>
              <a:t>DÉVELOPPEUR WEB ET WEB MOBILE</a:t>
            </a:r>
          </a:p>
        </p:txBody>
      </p:sp>
      <p:sp>
        <p:nvSpPr>
          <p:cNvPr id="6" name="TextBox 5"/>
          <p:cNvSpPr txBox="1"/>
          <p:nvPr/>
        </p:nvSpPr>
        <p:spPr>
          <a:xfrm>
            <a:off x="731520" y="6400800"/>
            <a:ext cx="6099048" cy="1828800"/>
          </a:xfrm>
          <a:prstGeom prst="rect">
            <a:avLst/>
          </a:prstGeom>
          <a:noFill/>
        </p:spPr>
        <p:txBody>
          <a:bodyPr wrap="square">
            <a:spAutoFit/>
          </a:bodyPr>
          <a:lstStyle/>
          <a:p>
            <a:pPr algn="ctr">
              <a:spcAft>
                <a:spcPts val="800"/>
              </a:spcAft>
              <a:defRPr sz="1600">
                <a:solidFill>
                  <a:srgbClr val="FFFFFF"/>
                </a:solidFill>
                <a:latin typeface="Segoe UI Light"/>
              </a:defRPr>
            </a:pPr>
            <a:r>
              <a:t>PARTIE 1 : DÉVELOPPEMENT FRONTEND</a:t>
            </a:r>
          </a:p>
          <a:p>
            <a:pPr algn="ctr">
              <a:spcAft>
                <a:spcPts val="800"/>
              </a:spcAft>
              <a:defRPr sz="1600">
                <a:solidFill>
                  <a:srgbClr val="FFFFFF"/>
                </a:solidFill>
                <a:latin typeface="Segoe UI Light"/>
              </a:defRPr>
            </a:pPr>
          </a:p>
          <a:p>
            <a:pPr algn="ctr">
              <a:spcAft>
                <a:spcPts val="800"/>
              </a:spcAft>
              <a:defRPr sz="1600">
                <a:solidFill>
                  <a:srgbClr val="FFFFFF"/>
                </a:solidFill>
                <a:latin typeface="Segoe UI Light"/>
              </a:defRPr>
            </a:pPr>
            <a:r>
              <a:t>Philippe BARBOSA</a:t>
            </a:r>
          </a:p>
          <a:p>
            <a:pPr algn="ctr">
              <a:spcAft>
                <a:spcPts val="800"/>
              </a:spcAft>
              <a:defRPr sz="1600">
                <a:solidFill>
                  <a:srgbClr val="FFFFFF"/>
                </a:solidFill>
                <a:latin typeface="Segoe UI Light"/>
              </a:defRPr>
            </a:pPr>
            <a:r>
              <a:t>Novembre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91440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7562088" cy="457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6647688" cy="548640"/>
          </a:xfrm>
          <a:prstGeom prst="rect">
            <a:avLst/>
          </a:prstGeom>
          <a:noFill/>
        </p:spPr>
        <p:txBody>
          <a:bodyPr wrap="none" anchor="t">
            <a:spAutoFit/>
          </a:bodyPr>
          <a:lstStyle/>
          <a:p>
            <a:pPr>
              <a:defRPr sz="2600" b="1">
                <a:solidFill>
                  <a:srgbClr val="FFFFFF"/>
                </a:solidFill>
                <a:latin typeface="Segoe UI Semibold"/>
              </a:defRPr>
            </a:pPr>
            <a:r>
              <a:t>Présentation</a:t>
            </a:r>
          </a:p>
        </p:txBody>
      </p:sp>
      <p:sp>
        <p:nvSpPr>
          <p:cNvPr id="5" name="TextBox 4"/>
          <p:cNvSpPr txBox="1"/>
          <p:nvPr/>
        </p:nvSpPr>
        <p:spPr>
          <a:xfrm>
            <a:off x="548640" y="1188720"/>
            <a:ext cx="6464808" cy="9144000"/>
          </a:xfrm>
          <a:prstGeom prst="rect">
            <a:avLst/>
          </a:prstGeom>
          <a:noFill/>
        </p:spPr>
        <p:txBody>
          <a:bodyPr wrap="square">
            <a:spAutoFit/>
          </a:bodyPr>
          <a:lstStyle/>
          <a:p>
            <a:pPr>
              <a:spcAft>
                <a:spcPts val="800"/>
              </a:spcAft>
              <a:defRPr sz="1800" b="1">
                <a:solidFill>
                  <a:srgbClr val="1A73E8"/>
                </a:solidFill>
                <a:latin typeface="Segoe UI"/>
              </a:defRPr>
            </a:pPr>
            <a:r>
              <a:t>👤 PHILIPPE BARBOSA</a:t>
            </a:r>
          </a:p>
          <a:p>
            <a:pPr>
              <a:spcAft>
                <a:spcPts val="800"/>
              </a:spcAft>
              <a:defRPr sz="1400">
                <a:solidFill>
                  <a:srgbClr val="3C4043"/>
                </a:solidFill>
                <a:latin typeface="Segoe UI"/>
              </a:defRPr>
            </a:pPr>
            <a:r>
              <a:t>54 ans, en reconversion professionnelle</a:t>
            </a:r>
          </a:p>
          <a:p>
            <a:pPr>
              <a:spcAft>
                <a:spcPts val="800"/>
              </a:spcAft>
              <a:defRPr sz="1300">
                <a:solidFill>
                  <a:srgbClr val="3C4043"/>
                </a:solidFill>
                <a:latin typeface="Segoe UI"/>
              </a:defRPr>
            </a:pPr>
          </a:p>
          <a:p>
            <a:pPr>
              <a:spcAft>
                <a:spcPts val="800"/>
              </a:spcAft>
              <a:defRPr sz="1600" b="1">
                <a:solidFill>
                  <a:srgbClr val="3C4043"/>
                </a:solidFill>
                <a:latin typeface="Segoe UI"/>
              </a:defRPr>
            </a:pPr>
            <a:r>
              <a:t>🎯 Parcours de formation</a:t>
            </a:r>
          </a:p>
          <a:p>
            <a:pPr>
              <a:spcAft>
                <a:spcPts val="800"/>
              </a:spcAft>
              <a:defRPr sz="1300">
                <a:solidFill>
                  <a:srgbClr val="3C4043"/>
                </a:solidFill>
                <a:latin typeface="Segoe UI"/>
              </a:defRPr>
            </a:pPr>
            <a:r>
              <a:t>Titre Professionnel Développeur Web et Web Mobile</a:t>
            </a:r>
          </a:p>
          <a:p>
            <a:pPr>
              <a:spcAft>
                <a:spcPts val="800"/>
              </a:spcAft>
              <a:defRPr sz="1300">
                <a:solidFill>
                  <a:srgbClr val="3C4043"/>
                </a:solidFill>
                <a:latin typeface="Segoe UI"/>
              </a:defRPr>
            </a:pPr>
            <a:r>
              <a:t>Stage professionnel : UFO Agency (agence web)</a:t>
            </a:r>
          </a:p>
          <a:p>
            <a:pPr>
              <a:spcAft>
                <a:spcPts val="800"/>
              </a:spcAft>
              <a:defRPr sz="1300">
                <a:solidFill>
                  <a:srgbClr val="3C4043"/>
                </a:solidFill>
                <a:latin typeface="Segoe UI"/>
              </a:defRPr>
            </a:pPr>
          </a:p>
          <a:p>
            <a:pPr>
              <a:spcAft>
                <a:spcPts val="800"/>
              </a:spcAft>
              <a:defRPr sz="1600" b="1">
                <a:solidFill>
                  <a:srgbClr val="3C4043"/>
                </a:solidFill>
                <a:latin typeface="Segoe UI"/>
              </a:defRPr>
            </a:pPr>
            <a:r>
              <a:t>💡 Motivation</a:t>
            </a:r>
          </a:p>
          <a:p>
            <a:pPr>
              <a:spcAft>
                <a:spcPts val="800"/>
              </a:spcAft>
              <a:defRPr sz="1300">
                <a:solidFill>
                  <a:srgbClr val="3C4043"/>
                </a:solidFill>
                <a:latin typeface="Segoe UI"/>
              </a:defRPr>
            </a:pPr>
            <a:r>
              <a:t>Passionné depuis longtemps par le développement web, j'ai décidé de me reconvertir dans ce secteur qui m'anime. Cette formation me permet de concrétiser cette ambition et d'acquérir les compétences techniques nécessaires pour exercer ce métier avec professionnalisme.</a:t>
            </a:r>
          </a:p>
          <a:p>
            <a:pPr>
              <a:spcAft>
                <a:spcPts val="800"/>
              </a:spcAft>
              <a:defRPr sz="1300">
                <a:solidFill>
                  <a:srgbClr val="3C4043"/>
                </a:solidFill>
                <a:latin typeface="Segoe UI"/>
              </a:defRPr>
            </a:pPr>
          </a:p>
          <a:p>
            <a:pPr>
              <a:spcAft>
                <a:spcPts val="800"/>
              </a:spcAft>
              <a:defRPr sz="1600" b="1">
                <a:solidFill>
                  <a:srgbClr val="3C4043"/>
                </a:solidFill>
                <a:latin typeface="Segoe UI"/>
              </a:defRPr>
            </a:pPr>
            <a:r>
              <a:t>📁 Projets présentés dans ce dossier</a:t>
            </a:r>
          </a:p>
          <a:p>
            <a:pPr>
              <a:spcAft>
                <a:spcPts val="800"/>
              </a:spcAft>
              <a:defRPr sz="1300" b="1">
                <a:solidFill>
                  <a:srgbClr val="3C4043"/>
                </a:solidFill>
                <a:latin typeface="Segoe UI"/>
              </a:defRPr>
            </a:pPr>
            <a:r>
              <a:t>Frontend : Projet APD (stage UFO Agency)</a:t>
            </a:r>
          </a:p>
          <a:p>
            <a:pPr>
              <a:spcAft>
                <a:spcPts val="800"/>
              </a:spcAft>
              <a:defRPr sz="1300" b="1">
                <a:solidFill>
                  <a:srgbClr val="3C4043"/>
                </a:solidFill>
                <a:latin typeface="Segoe UI"/>
              </a:defRPr>
            </a:pPr>
            <a:r>
              <a:t>Maquettage : Projet CoolBooking (fil-rouge personnel)</a:t>
            </a:r>
          </a:p>
          <a:p>
            <a:pPr>
              <a:spcAft>
                <a:spcPts val="800"/>
              </a:spcAft>
              <a:defRPr sz="1300" b="1">
                <a:solidFill>
                  <a:srgbClr val="3C4043"/>
                </a:solidFill>
                <a:latin typeface="Segoe UI"/>
              </a:defRPr>
            </a:pPr>
            <a:r>
              <a:t>Backend : Projet CoolBooking MariaDB (fil-rouge personnel)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00"/>
            <a:ext cx="7562088" cy="1545336"/>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0"/>
            <a:ext cx="6647688" cy="1371600"/>
          </a:xfrm>
          <a:prstGeom prst="rect">
            <a:avLst/>
          </a:prstGeom>
          <a:noFill/>
        </p:spPr>
        <p:txBody>
          <a:bodyPr wrap="none">
            <a:spAutoFit/>
          </a:bodyPr>
          <a:lstStyle/>
          <a:p>
            <a:pPr algn="ctr">
              <a:defRPr sz="12000">
                <a:solidFill>
                  <a:srgbClr val="505050"/>
                </a:solidFill>
                <a:latin typeface="Segoe UI Light"/>
              </a:defRPr>
            </a:pPr>
            <a:r>
              <a:t>01</a:t>
            </a:r>
          </a:p>
        </p:txBody>
      </p:sp>
      <p:sp>
        <p:nvSpPr>
          <p:cNvPr id="5" name="TextBox 4"/>
          <p:cNvSpPr txBox="1"/>
          <p:nvPr/>
        </p:nvSpPr>
        <p:spPr>
          <a:xfrm>
            <a:off x="457200" y="4846320"/>
            <a:ext cx="6647688" cy="914400"/>
          </a:xfrm>
          <a:prstGeom prst="rect">
            <a:avLst/>
          </a:prstGeom>
          <a:noFill/>
        </p:spPr>
        <p:txBody>
          <a:bodyPr wrap="none" anchor="t">
            <a:spAutoFit/>
          </a:bodyPr>
          <a:lstStyle/>
          <a:p>
            <a:pPr algn="ctr">
              <a:defRPr sz="4000" b="1">
                <a:solidFill>
                  <a:srgbClr val="FFFFFF"/>
                </a:solidFill>
                <a:latin typeface="Segoe UI"/>
              </a:defRPr>
            </a:pPr>
            <a:r>
              <a:t>PROJET APD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91440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7562088" cy="457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6647688" cy="548640"/>
          </a:xfrm>
          <a:prstGeom prst="rect">
            <a:avLst/>
          </a:prstGeom>
          <a:noFill/>
        </p:spPr>
        <p:txBody>
          <a:bodyPr wrap="none" anchor="t">
            <a:spAutoFit/>
          </a:bodyPr>
          <a:lstStyle/>
          <a:p>
            <a:pPr>
              <a:defRPr sz="2600" b="1">
                <a:solidFill>
                  <a:srgbClr val="FFFFFF"/>
                </a:solidFill>
                <a:latin typeface="Segoe UI Semibold"/>
              </a:defRPr>
            </a:pPr>
            <a:r>
              <a:t>Projet APD - Association Pour la Dignité</a:t>
            </a:r>
          </a:p>
        </p:txBody>
      </p:sp>
      <p:sp>
        <p:nvSpPr>
          <p:cNvPr id="5" name="TextBox 4"/>
          <p:cNvSpPr txBox="1"/>
          <p:nvPr/>
        </p:nvSpPr>
        <p:spPr>
          <a:xfrm>
            <a:off x="548640" y="1188720"/>
            <a:ext cx="6464808" cy="9144000"/>
          </a:xfrm>
          <a:prstGeom prst="rect">
            <a:avLst/>
          </a:prstGeom>
          <a:noFill/>
        </p:spPr>
        <p:txBody>
          <a:bodyPr wrap="square">
            <a:spAutoFit/>
          </a:bodyPr>
          <a:lstStyle/>
          <a:p>
            <a:pPr>
              <a:spcAft>
                <a:spcPts val="800"/>
              </a:spcAft>
              <a:defRPr sz="1600" b="1">
                <a:solidFill>
                  <a:srgbClr val="1A73E8"/>
                </a:solidFill>
                <a:latin typeface="Segoe UI"/>
              </a:defRPr>
            </a:pPr>
            <a:r>
              <a:t>📋 Contexte du projet</a:t>
            </a:r>
          </a:p>
          <a:p>
            <a:pPr>
              <a:spcAft>
                <a:spcPts val="800"/>
              </a:spcAft>
              <a:defRPr sz="1300">
                <a:solidFill>
                  <a:srgbClr val="3C4043"/>
                </a:solidFill>
                <a:latin typeface="Segoe UI"/>
              </a:defRPr>
            </a:pPr>
            <a:r>
              <a:t>Projet réalisé lors de mon stage chez UFO Agency</a:t>
            </a:r>
          </a:p>
          <a:p>
            <a:pPr>
              <a:spcAft>
                <a:spcPts val="800"/>
              </a:spcAft>
              <a:defRPr sz="1300">
                <a:solidFill>
                  <a:srgbClr val="3C4043"/>
                </a:solidFill>
                <a:latin typeface="Segoe UI"/>
              </a:defRPr>
            </a:pPr>
            <a:r>
              <a:t>Site vitrine pour une association humanitaire internationale</a:t>
            </a:r>
          </a:p>
          <a:p>
            <a:pPr>
              <a:spcAft>
                <a:spcPts val="800"/>
              </a:spcAft>
              <a:defRPr sz="1300">
                <a:solidFill>
                  <a:srgbClr val="3C4043"/>
                </a:solidFill>
                <a:latin typeface="Segoe UI"/>
              </a:defRPr>
            </a:pPr>
            <a:r>
              <a:t>Maquette graphique déjà conçue en amont par l'équipe design</a:t>
            </a:r>
          </a:p>
          <a:p>
            <a:pPr>
              <a:spcAft>
                <a:spcPts val="800"/>
              </a:spcAft>
              <a:defRPr sz="1300">
                <a:solidFill>
                  <a:srgbClr val="3C4043"/>
                </a:solidFill>
                <a:latin typeface="Segoe UI"/>
              </a:defRPr>
            </a:pPr>
          </a:p>
          <a:p>
            <a:pPr>
              <a:spcAft>
                <a:spcPts val="800"/>
              </a:spcAft>
              <a:defRPr sz="1600" b="1">
                <a:solidFill>
                  <a:srgbClr val="1A73E8"/>
                </a:solidFill>
                <a:latin typeface="Segoe UI"/>
              </a:defRPr>
            </a:pPr>
            <a:r>
              <a:t>🎯 Objectifs fonctionnels</a:t>
            </a:r>
          </a:p>
          <a:p>
            <a:pPr>
              <a:spcAft>
                <a:spcPts val="800"/>
              </a:spcAft>
              <a:defRPr sz="1300">
                <a:solidFill>
                  <a:srgbClr val="3C4043"/>
                </a:solidFill>
                <a:latin typeface="Segoe UI"/>
              </a:defRPr>
            </a:pPr>
            <a:r>
              <a:t>✓ Présenter l'association, sa mission et ses actions</a:t>
            </a:r>
          </a:p>
          <a:p>
            <a:pPr>
              <a:spcAft>
                <a:spcPts val="800"/>
              </a:spcAft>
              <a:defRPr sz="1300">
                <a:solidFill>
                  <a:srgbClr val="3C4043"/>
                </a:solidFill>
                <a:latin typeface="Segoe UI"/>
              </a:defRPr>
            </a:pPr>
            <a:r>
              <a:t>✓ Publier et gérer des articles d'actualité</a:t>
            </a:r>
          </a:p>
          <a:p>
            <a:pPr>
              <a:spcAft>
                <a:spcPts val="800"/>
              </a:spcAft>
              <a:defRPr sz="1300">
                <a:solidFill>
                  <a:srgbClr val="3C4043"/>
                </a:solidFill>
                <a:latin typeface="Segoe UI"/>
              </a:defRPr>
            </a:pPr>
            <a:r>
              <a:t>✓ Diffuser des interviews vidéo</a:t>
            </a:r>
          </a:p>
          <a:p>
            <a:pPr>
              <a:spcAft>
                <a:spcPts val="800"/>
              </a:spcAft>
              <a:defRPr sz="1300">
                <a:solidFill>
                  <a:srgbClr val="3C4043"/>
                </a:solidFill>
                <a:latin typeface="Segoe UI"/>
              </a:defRPr>
            </a:pPr>
            <a:r>
              <a:t>✓ Mettre en avant les partenaires</a:t>
            </a:r>
          </a:p>
          <a:p>
            <a:pPr>
              <a:spcAft>
                <a:spcPts val="800"/>
              </a:spcAft>
              <a:defRPr sz="1300">
                <a:solidFill>
                  <a:srgbClr val="3C4043"/>
                </a:solidFill>
                <a:latin typeface="Segoe UI"/>
              </a:defRPr>
            </a:pPr>
            <a:r>
              <a:t>✓ Formulaire de contact fonctionnel</a:t>
            </a:r>
          </a:p>
          <a:p>
            <a:pPr>
              <a:spcAft>
                <a:spcPts val="800"/>
              </a:spcAft>
              <a:defRPr sz="1300">
                <a:solidFill>
                  <a:srgbClr val="3C4043"/>
                </a:solidFill>
                <a:latin typeface="Segoe UI"/>
              </a:defRPr>
            </a:pPr>
          </a:p>
          <a:p>
            <a:pPr>
              <a:spcAft>
                <a:spcPts val="800"/>
              </a:spcAft>
              <a:defRPr sz="1600" b="1">
                <a:solidFill>
                  <a:srgbClr val="1A73E8"/>
                </a:solidFill>
                <a:latin typeface="Segoe UI"/>
              </a:defRPr>
            </a:pPr>
            <a:r>
              <a:t>⚙️ Contraintes techniques imposées</a:t>
            </a:r>
          </a:p>
          <a:p>
            <a:pPr>
              <a:spcAft>
                <a:spcPts val="800"/>
              </a:spcAft>
              <a:defRPr sz="1300">
                <a:solidFill>
                  <a:srgbClr val="3C4043"/>
                </a:solidFill>
                <a:latin typeface="Segoe UI"/>
              </a:defRPr>
            </a:pPr>
            <a:r>
              <a:t>Utilisation obligatoire de Strapi CMS (choix de l'agence)</a:t>
            </a:r>
          </a:p>
          <a:p>
            <a:pPr>
              <a:spcAft>
                <a:spcPts val="800"/>
              </a:spcAft>
              <a:defRPr sz="1300">
                <a:solidFill>
                  <a:srgbClr val="3C4043"/>
                </a:solidFill>
                <a:latin typeface="Segoe UI"/>
              </a:defRPr>
            </a:pPr>
            <a:r>
              <a:t>Respect strict du maquettage fourni</a:t>
            </a:r>
          </a:p>
          <a:p>
            <a:pPr>
              <a:spcAft>
                <a:spcPts val="800"/>
              </a:spcAft>
              <a:defRPr sz="1300">
                <a:solidFill>
                  <a:srgbClr val="3C4043"/>
                </a:solidFill>
                <a:latin typeface="Segoe UI"/>
              </a:defRPr>
            </a:pPr>
            <a:r>
              <a:t>Performances élevées (Lighthouse score &gt; 90)</a:t>
            </a:r>
          </a:p>
          <a:p>
            <a:pPr>
              <a:spcAft>
                <a:spcPts val="800"/>
              </a:spcAft>
              <a:defRPr sz="1300">
                <a:solidFill>
                  <a:srgbClr val="3C4043"/>
                </a:solidFill>
                <a:latin typeface="Segoe UI"/>
              </a:defRPr>
            </a:pPr>
            <a:r>
              <a:t>Responsive design mobile-first</a:t>
            </a:r>
          </a:p>
          <a:p>
            <a:pPr>
              <a:spcAft>
                <a:spcPts val="800"/>
              </a:spcAft>
              <a:defRPr sz="1300">
                <a:solidFill>
                  <a:srgbClr val="3C4043"/>
                </a:solidFill>
                <a:latin typeface="Segoe UI"/>
              </a:defRPr>
            </a:pPr>
            <a:r>
              <a:t>Accessibilité WCAG 2.1 niveau AA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914400"/>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7562088" cy="457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6647688" cy="548640"/>
          </a:xfrm>
          <a:prstGeom prst="rect">
            <a:avLst/>
          </a:prstGeom>
          <a:noFill/>
        </p:spPr>
        <p:txBody>
          <a:bodyPr wrap="none" anchor="t">
            <a:spAutoFit/>
          </a:bodyPr>
          <a:lstStyle/>
          <a:p>
            <a:pPr>
              <a:defRPr sz="2600" b="1">
                <a:solidFill>
                  <a:srgbClr val="FFFFFF"/>
                </a:solidFill>
                <a:latin typeface="Segoe UI Semibold"/>
              </a:defRPr>
            </a:pPr>
            <a:r>
              <a:t>Stack Technique Frontend - APD</a:t>
            </a:r>
          </a:p>
        </p:txBody>
      </p:sp>
      <p:sp>
        <p:nvSpPr>
          <p:cNvPr id="5" name="TextBox 4"/>
          <p:cNvSpPr txBox="1"/>
          <p:nvPr/>
        </p:nvSpPr>
        <p:spPr>
          <a:xfrm>
            <a:off x="548640" y="1188720"/>
            <a:ext cx="6464808" cy="9144000"/>
          </a:xfrm>
          <a:prstGeom prst="rect">
            <a:avLst/>
          </a:prstGeom>
          <a:noFill/>
        </p:spPr>
        <p:txBody>
          <a:bodyPr wrap="square">
            <a:spAutoFit/>
          </a:bodyPr>
          <a:lstStyle/>
          <a:p>
            <a:pPr>
              <a:spcAft>
                <a:spcPts val="800"/>
              </a:spcAft>
              <a:defRPr sz="1700" b="1">
                <a:solidFill>
                  <a:srgbClr val="3C4043"/>
                </a:solidFill>
                <a:latin typeface="Segoe UI"/>
              </a:defRPr>
            </a:pPr>
            <a:r>
              <a:t>🛠️ Technologies et outils utilisés</a:t>
            </a:r>
          </a:p>
          <a:p>
            <a:pPr>
              <a:spcAft>
                <a:spcPts val="800"/>
              </a:spcAft>
              <a:defRPr sz="1300">
                <a:solidFill>
                  <a:srgbClr val="3C4043"/>
                </a:solidFill>
                <a:latin typeface="Segoe UI"/>
              </a:defRPr>
            </a:pPr>
          </a:p>
          <a:p>
            <a:pPr>
              <a:spcAft>
                <a:spcPts val="800"/>
              </a:spcAft>
              <a:defRPr sz="1500" b="1">
                <a:solidFill>
                  <a:srgbClr val="1A73E8"/>
                </a:solidFill>
                <a:latin typeface="Segoe UI"/>
              </a:defRPr>
            </a:pPr>
            <a:r>
              <a:t>Next.js 15 (App Router)</a:t>
            </a:r>
          </a:p>
          <a:p>
            <a:pPr>
              <a:spcAft>
                <a:spcPts val="800"/>
              </a:spcAft>
              <a:defRPr sz="1200">
                <a:solidFill>
                  <a:srgbClr val="3C4043"/>
                </a:solidFill>
                <a:latin typeface="Segoe UI"/>
              </a:defRPr>
            </a:pPr>
            <a:r>
              <a:t>Framework React avec système de routing intégré</a:t>
            </a:r>
          </a:p>
          <a:p>
            <a:pPr>
              <a:spcAft>
                <a:spcPts val="800"/>
              </a:spcAft>
              <a:defRPr sz="1200">
                <a:solidFill>
                  <a:srgbClr val="3C4043"/>
                </a:solidFill>
                <a:latin typeface="Segoe UI"/>
              </a:defRPr>
            </a:pPr>
            <a:r>
              <a:t>Server Components et Client Components</a:t>
            </a:r>
          </a:p>
          <a:p>
            <a:pPr>
              <a:spcAft>
                <a:spcPts val="800"/>
              </a:spcAft>
              <a:defRPr sz="1200">
                <a:solidFill>
                  <a:srgbClr val="3C4043"/>
                </a:solidFill>
                <a:latin typeface="Segoe UI"/>
              </a:defRPr>
            </a:pPr>
            <a:r>
              <a:t>Rendu côté serveur (SSR) et génération statique (SSG)</a:t>
            </a:r>
          </a:p>
          <a:p>
            <a:pPr>
              <a:spcAft>
                <a:spcPts val="800"/>
              </a:spcAft>
              <a:defRPr sz="1200">
                <a:solidFill>
                  <a:srgbClr val="3C4043"/>
                </a:solidFill>
                <a:latin typeface="Segoe UI"/>
              </a:defRPr>
            </a:pPr>
            <a:r>
              <a:t>Incremental Static Regeneration (ISR)</a:t>
            </a:r>
          </a:p>
          <a:p>
            <a:pPr>
              <a:spcAft>
                <a:spcPts val="800"/>
              </a:spcAft>
              <a:defRPr sz="1300">
                <a:solidFill>
                  <a:srgbClr val="3C4043"/>
                </a:solidFill>
                <a:latin typeface="Segoe UI"/>
              </a:defRPr>
            </a:pPr>
          </a:p>
          <a:p>
            <a:pPr>
              <a:spcAft>
                <a:spcPts val="800"/>
              </a:spcAft>
              <a:defRPr sz="1500" b="1">
                <a:solidFill>
                  <a:srgbClr val="1A73E8"/>
                </a:solidFill>
                <a:latin typeface="Segoe UI"/>
              </a:defRPr>
            </a:pPr>
            <a:r>
              <a:t>React 19</a:t>
            </a:r>
          </a:p>
          <a:p>
            <a:pPr>
              <a:spcAft>
                <a:spcPts val="800"/>
              </a:spcAft>
              <a:defRPr sz="1200">
                <a:solidFill>
                  <a:srgbClr val="3C4043"/>
                </a:solidFill>
                <a:latin typeface="Segoe UI"/>
              </a:defRPr>
            </a:pPr>
            <a:r>
              <a:t>Bibliothèque JavaScript pour interfaces utilisateur réactives</a:t>
            </a:r>
          </a:p>
          <a:p>
            <a:pPr>
              <a:spcAft>
                <a:spcPts val="800"/>
              </a:spcAft>
              <a:defRPr sz="1200">
                <a:solidFill>
                  <a:srgbClr val="3C4043"/>
                </a:solidFill>
                <a:latin typeface="Segoe UI"/>
              </a:defRPr>
            </a:pPr>
            <a:r>
              <a:t>Composants fonctionnels avec hooks modernes</a:t>
            </a:r>
          </a:p>
          <a:p>
            <a:pPr>
              <a:spcAft>
                <a:spcPts val="800"/>
              </a:spcAft>
              <a:defRPr sz="1300">
                <a:solidFill>
                  <a:srgbClr val="3C4043"/>
                </a:solidFill>
                <a:latin typeface="Segoe UI"/>
              </a:defRPr>
            </a:pPr>
          </a:p>
          <a:p>
            <a:pPr>
              <a:spcAft>
                <a:spcPts val="800"/>
              </a:spcAft>
              <a:defRPr sz="1500" b="1">
                <a:solidFill>
                  <a:srgbClr val="1A73E8"/>
                </a:solidFill>
                <a:latin typeface="Segoe UI"/>
              </a:defRPr>
            </a:pPr>
            <a:r>
              <a:t>TailwindCSS</a:t>
            </a:r>
          </a:p>
          <a:p>
            <a:pPr>
              <a:spcAft>
                <a:spcPts val="800"/>
              </a:spcAft>
              <a:defRPr sz="1200">
                <a:solidFill>
                  <a:srgbClr val="3C4043"/>
                </a:solidFill>
                <a:latin typeface="Segoe UI"/>
              </a:defRPr>
            </a:pPr>
            <a:r>
              <a:t>Framework CSS utility-first pour un développement rapide</a:t>
            </a:r>
          </a:p>
          <a:p>
            <a:pPr>
              <a:spcAft>
                <a:spcPts val="800"/>
              </a:spcAft>
              <a:defRPr sz="1200">
                <a:solidFill>
                  <a:srgbClr val="3C4043"/>
                </a:solidFill>
                <a:latin typeface="Segoe UI"/>
              </a:defRPr>
            </a:pPr>
            <a:r>
              <a:t>Design system cohérent et maintenable</a:t>
            </a:r>
          </a:p>
          <a:p>
            <a:pPr>
              <a:spcAft>
                <a:spcPts val="800"/>
              </a:spcAft>
              <a:defRPr sz="1300">
                <a:solidFill>
                  <a:srgbClr val="3C4043"/>
                </a:solidFill>
                <a:latin typeface="Segoe UI"/>
              </a:defRPr>
            </a:pPr>
          </a:p>
          <a:p>
            <a:pPr>
              <a:spcAft>
                <a:spcPts val="800"/>
              </a:spcAft>
              <a:defRPr sz="1500" b="1">
                <a:solidFill>
                  <a:srgbClr val="1A73E8"/>
                </a:solidFill>
                <a:latin typeface="Segoe UI"/>
              </a:defRPr>
            </a:pPr>
            <a:r>
              <a:t>GSAP &amp; Lenis</a:t>
            </a:r>
          </a:p>
          <a:p>
            <a:pPr>
              <a:spcAft>
                <a:spcPts val="800"/>
              </a:spcAft>
              <a:defRPr sz="1200">
                <a:solidFill>
                  <a:srgbClr val="3C4043"/>
                </a:solidFill>
                <a:latin typeface="Segoe UI"/>
              </a:defRPr>
            </a:pPr>
            <a:r>
              <a:t>Bibliothèque d'animations performantes (GSAP)</a:t>
            </a:r>
          </a:p>
          <a:p>
            <a:pPr>
              <a:spcAft>
                <a:spcPts val="800"/>
              </a:spcAft>
              <a:defRPr sz="1200">
                <a:solidFill>
                  <a:srgbClr val="3C4043"/>
                </a:solidFill>
                <a:latin typeface="Segoe UI"/>
              </a:defRPr>
            </a:pPr>
            <a:r>
              <a:t>Smooth scroll pour une navigation fluide (Lenis)</a:t>
            </a:r>
          </a:p>
          <a:p>
            <a:pPr>
              <a:spcAft>
                <a:spcPts val="800"/>
              </a:spcAft>
              <a:defRPr sz="1300">
                <a:solidFill>
                  <a:srgbClr val="3C4043"/>
                </a:solidFill>
                <a:latin typeface="Segoe UI"/>
              </a:defRPr>
            </a:pPr>
          </a:p>
          <a:p>
            <a:pPr>
              <a:spcAft>
                <a:spcPts val="800"/>
              </a:spcAft>
              <a:defRPr sz="1500" b="1">
                <a:solidFill>
                  <a:srgbClr val="1A73E8"/>
                </a:solidFill>
                <a:latin typeface="Segoe UI"/>
              </a:defRPr>
            </a:pPr>
            <a:r>
              <a:t>Cloudinary CDN</a:t>
            </a:r>
          </a:p>
          <a:p>
            <a:pPr>
              <a:spcAft>
                <a:spcPts val="800"/>
              </a:spcAft>
              <a:defRPr sz="1200">
                <a:solidFill>
                  <a:srgbClr val="3C4043"/>
                </a:solidFill>
                <a:latin typeface="Segoe UI"/>
              </a:defRPr>
            </a:pPr>
            <a:r>
              <a:t>Optimisation et diffusion des médias (images/vidéos)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91440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7562088" cy="457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6647688" cy="548640"/>
          </a:xfrm>
          <a:prstGeom prst="rect">
            <a:avLst/>
          </a:prstGeom>
          <a:noFill/>
        </p:spPr>
        <p:txBody>
          <a:bodyPr wrap="none" anchor="t">
            <a:spAutoFit/>
          </a:bodyPr>
          <a:lstStyle/>
          <a:p>
            <a:pPr>
              <a:defRPr sz="2600" b="1">
                <a:solidFill>
                  <a:srgbClr val="FFFFFF"/>
                </a:solidFill>
                <a:latin typeface="Segoe UI Semibold"/>
              </a:defRPr>
            </a:pPr>
            <a:r>
              <a:t>Architecture Next.js App Router</a:t>
            </a:r>
          </a:p>
        </p:txBody>
      </p:sp>
      <p:sp>
        <p:nvSpPr>
          <p:cNvPr id="5" name="TextBox 4"/>
          <p:cNvSpPr txBox="1"/>
          <p:nvPr/>
        </p:nvSpPr>
        <p:spPr>
          <a:xfrm>
            <a:off x="548640" y="1188720"/>
            <a:ext cx="6464808" cy="9144000"/>
          </a:xfrm>
          <a:prstGeom prst="rect">
            <a:avLst/>
          </a:prstGeom>
          <a:noFill/>
        </p:spPr>
        <p:txBody>
          <a:bodyPr wrap="square">
            <a:spAutoFit/>
          </a:bodyPr>
          <a:lstStyle/>
          <a:p>
            <a:pPr>
              <a:spcAft>
                <a:spcPts val="800"/>
              </a:spcAft>
              <a:defRPr sz="1600" b="1">
                <a:solidFill>
                  <a:srgbClr val="3C4043"/>
                </a:solidFill>
                <a:latin typeface="Segoe UI"/>
              </a:defRPr>
            </a:pPr>
            <a:r>
              <a:t>📁 Organisation du projet frontend</a:t>
            </a:r>
          </a:p>
          <a:p>
            <a:pPr>
              <a:spcAft>
                <a:spcPts val="800"/>
              </a:spcAft>
              <a:defRPr sz="1300">
                <a:solidFill>
                  <a:srgbClr val="3C4043"/>
                </a:solidFill>
                <a:latin typeface="Segoe UI"/>
              </a:defRPr>
            </a:pPr>
            <a:r>
              <a:t>J'ai structuré le projet selon les conventions Next.js 15 App Router :</a:t>
            </a:r>
          </a:p>
          <a:p>
            <a:pPr>
              <a:spcAft>
                <a:spcPts val="800"/>
              </a:spcAft>
              <a:defRPr sz="1300">
                <a:solidFill>
                  <a:srgbClr val="3C4043"/>
                </a:solidFill>
                <a:latin typeface="Segoe UI"/>
              </a:defRPr>
            </a:pPr>
          </a:p>
          <a:p>
            <a:pPr>
              <a:spcAft>
                <a:spcPts val="800"/>
              </a:spcAft>
              <a:defRPr sz="1300" b="1">
                <a:solidFill>
                  <a:srgbClr val="3C4043"/>
                </a:solidFill>
                <a:latin typeface="Courier New"/>
              </a:defRPr>
            </a:pPr>
            <a:r>
              <a:t>frontend/src/app/</a:t>
            </a:r>
          </a:p>
          <a:p>
            <a:pPr lvl="1">
              <a:spcAft>
                <a:spcPts val="800"/>
              </a:spcAft>
              <a:defRPr sz="1100">
                <a:solidFill>
                  <a:srgbClr val="3C4043"/>
                </a:solidFill>
                <a:latin typeface="Courier New"/>
              </a:defRPr>
            </a:pPr>
            <a:r>
              <a:t>├── page.jsx         → Page d'accueil principale</a:t>
            </a:r>
          </a:p>
          <a:p>
            <a:pPr lvl="1">
              <a:spcAft>
                <a:spcPts val="800"/>
              </a:spcAft>
              <a:defRPr sz="1100">
                <a:solidFill>
                  <a:srgbClr val="3C4043"/>
                </a:solidFill>
                <a:latin typeface="Courier New"/>
              </a:defRPr>
            </a:pPr>
            <a:r>
              <a:t>├── layout.js        → Layout global de l'application</a:t>
            </a:r>
          </a:p>
          <a:p>
            <a:pPr lvl="1">
              <a:spcAft>
                <a:spcPts val="800"/>
              </a:spcAft>
              <a:defRPr sz="1100">
                <a:solidFill>
                  <a:srgbClr val="3C4043"/>
                </a:solidFill>
                <a:latin typeface="Courier New"/>
              </a:defRPr>
            </a:pPr>
            <a:r>
              <a:t>├── globals.css      → Styles globaux et variables CSS</a:t>
            </a:r>
          </a:p>
          <a:p>
            <a:pPr lvl="1">
              <a:spcAft>
                <a:spcPts val="800"/>
              </a:spcAft>
              <a:defRPr sz="1100">
                <a:solidFill>
                  <a:srgbClr val="3C4043"/>
                </a:solidFill>
                <a:latin typeface="Courier New"/>
              </a:defRPr>
            </a:pPr>
            <a:r>
              <a:t>├── blog/</a:t>
            </a:r>
          </a:p>
          <a:p>
            <a:pPr lvl="2">
              <a:spcAft>
                <a:spcPts val="800"/>
              </a:spcAft>
              <a:defRPr sz="1100">
                <a:solidFill>
                  <a:srgbClr val="3C4043"/>
                </a:solidFill>
                <a:latin typeface="Courier New"/>
              </a:defRPr>
            </a:pPr>
            <a:r>
              <a:t>│   ├── page.jsx     → Liste complète des articles</a:t>
            </a:r>
          </a:p>
          <a:p>
            <a:pPr lvl="2">
              <a:spcAft>
                <a:spcPts val="800"/>
              </a:spcAft>
              <a:defRPr sz="1100">
                <a:solidFill>
                  <a:srgbClr val="3C4043"/>
                </a:solidFill>
                <a:latin typeface="Courier New"/>
              </a:defRPr>
            </a:pPr>
            <a:r>
              <a:t>│   └── [slug]/      → Routing dynamique</a:t>
            </a:r>
          </a:p>
          <a:p>
            <a:pPr lvl="3">
              <a:spcAft>
                <a:spcPts val="800"/>
              </a:spcAft>
              <a:defRPr sz="1100">
                <a:solidFill>
                  <a:srgbClr val="3C4043"/>
                </a:solidFill>
                <a:latin typeface="Courier New"/>
              </a:defRPr>
            </a:pPr>
            <a:r>
              <a:t>│       └── page.jsx → Article individuel par slug</a:t>
            </a:r>
          </a:p>
          <a:p>
            <a:pPr lvl="1">
              <a:spcAft>
                <a:spcPts val="800"/>
              </a:spcAft>
              <a:defRPr sz="1100">
                <a:solidFill>
                  <a:srgbClr val="3C4043"/>
                </a:solidFill>
                <a:latin typeface="Courier New"/>
              </a:defRPr>
            </a:pPr>
            <a:r>
              <a:t>├── association/page.jsx</a:t>
            </a:r>
          </a:p>
          <a:p>
            <a:pPr lvl="1">
              <a:spcAft>
                <a:spcPts val="800"/>
              </a:spcAft>
              <a:defRPr sz="1100">
                <a:solidFill>
                  <a:srgbClr val="3C4043"/>
                </a:solidFill>
                <a:latin typeface="Courier New"/>
              </a:defRPr>
            </a:pPr>
            <a:r>
              <a:t>└── partners/page.jsx</a:t>
            </a:r>
          </a:p>
          <a:p>
            <a:pPr>
              <a:spcAft>
                <a:spcPts val="800"/>
              </a:spcAft>
              <a:defRPr sz="1300">
                <a:solidFill>
                  <a:srgbClr val="3C4043"/>
                </a:solidFill>
                <a:latin typeface="Segoe UI"/>
              </a:defRPr>
            </a:pPr>
          </a:p>
          <a:p>
            <a:pPr>
              <a:spcAft>
                <a:spcPts val="800"/>
              </a:spcAft>
              <a:defRPr sz="1300" b="1">
                <a:solidFill>
                  <a:srgbClr val="3C4043"/>
                </a:solidFill>
                <a:latin typeface="Courier New"/>
              </a:defRPr>
            </a:pPr>
            <a:r>
              <a:t>frontend/src/components/</a:t>
            </a:r>
          </a:p>
          <a:p>
            <a:pPr lvl="1">
              <a:spcAft>
                <a:spcPts val="800"/>
              </a:spcAft>
              <a:defRPr sz="1100">
                <a:solidFill>
                  <a:srgbClr val="3C4043"/>
                </a:solidFill>
                <a:latin typeface="Courier New"/>
              </a:defRPr>
            </a:pPr>
            <a:r>
              <a:t>├── Header.jsx</a:t>
            </a:r>
          </a:p>
          <a:p>
            <a:pPr lvl="1">
              <a:spcAft>
                <a:spcPts val="800"/>
              </a:spcAft>
              <a:defRPr sz="1100">
                <a:solidFill>
                  <a:srgbClr val="3C4043"/>
                </a:solidFill>
                <a:latin typeface="Courier New"/>
              </a:defRPr>
            </a:pPr>
            <a:r>
              <a:t>├── Footer.jsx</a:t>
            </a:r>
          </a:p>
          <a:p>
            <a:pPr lvl="1">
              <a:spcAft>
                <a:spcPts val="800"/>
              </a:spcAft>
              <a:defRPr sz="1100">
                <a:solidFill>
                  <a:srgbClr val="3C4043"/>
                </a:solidFill>
                <a:latin typeface="Courier New"/>
              </a:defRPr>
            </a:pPr>
            <a:r>
              <a:t>├── VideoBackground.jsx</a:t>
            </a:r>
          </a:p>
          <a:p>
            <a:pPr lvl="1">
              <a:spcAft>
                <a:spcPts val="800"/>
              </a:spcAft>
              <a:defRPr sz="1100">
                <a:solidFill>
                  <a:srgbClr val="3C4043"/>
                </a:solidFill>
                <a:latin typeface="Courier New"/>
              </a:defRPr>
            </a:pPr>
            <a:r>
              <a:t>├── BlogSection.jsx</a:t>
            </a:r>
          </a:p>
          <a:p>
            <a:pPr lvl="1">
              <a:spcAft>
                <a:spcPts val="800"/>
              </a:spcAft>
              <a:defRPr sz="1100">
                <a:solidFill>
                  <a:srgbClr val="3C4043"/>
                </a:solidFill>
                <a:latin typeface="Courier New"/>
              </a:defRPr>
            </a:pPr>
            <a:r>
              <a:t>├── PartnerSection.jsx</a:t>
            </a:r>
          </a:p>
          <a:p>
            <a:pPr lvl="1">
              <a:spcAft>
                <a:spcPts val="800"/>
              </a:spcAft>
              <a:defRPr sz="1100">
                <a:solidFill>
                  <a:srgbClr val="3C4043"/>
                </a:solidFill>
                <a:latin typeface="Courier New"/>
              </a:defRPr>
            </a:pPr>
            <a:r>
              <a:t>└── ContactModal.jsx</a:t>
            </a:r>
          </a:p>
          <a:p>
            <a:pPr>
              <a:spcAft>
                <a:spcPts val="800"/>
              </a:spcAft>
              <a:defRPr sz="1300">
                <a:solidFill>
                  <a:srgbClr val="3C4043"/>
                </a:solidFill>
                <a:latin typeface="Segoe UI"/>
              </a:defRPr>
            </a:pPr>
          </a:p>
          <a:p>
            <a:pPr>
              <a:spcAft>
                <a:spcPts val="800"/>
              </a:spcAft>
              <a:defRPr sz="1300" b="1">
                <a:solidFill>
                  <a:srgbClr val="3C4043"/>
                </a:solidFill>
                <a:latin typeface="Courier New"/>
              </a:defRPr>
            </a:pPr>
            <a:r>
              <a:t>frontend/src/hooks/</a:t>
            </a:r>
          </a:p>
          <a:p>
            <a:pPr lvl="1">
              <a:spcAft>
                <a:spcPts val="800"/>
              </a:spcAft>
              <a:defRPr sz="1100">
                <a:solidFill>
                  <a:srgbClr val="3C4043"/>
                </a:solidFill>
                <a:latin typeface="Courier New"/>
              </a:defRPr>
            </a:pPr>
            <a:r>
              <a:t>├── useSiteData.jsx  → Hook personnalisé pour API</a:t>
            </a:r>
          </a:p>
          <a:p>
            <a:pPr lvl="1">
              <a:spcAft>
                <a:spcPts val="800"/>
              </a:spcAft>
              <a:defRPr sz="1100">
                <a:solidFill>
                  <a:srgbClr val="3C4043"/>
                </a:solidFill>
                <a:latin typeface="Courier New"/>
              </a:defRPr>
            </a:pPr>
            <a:r>
              <a:t>└── useIsMobile.jsx  → Détection responsive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914400"/>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7562088" cy="457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6647688" cy="548640"/>
          </a:xfrm>
          <a:prstGeom prst="rect">
            <a:avLst/>
          </a:prstGeom>
          <a:noFill/>
        </p:spPr>
        <p:txBody>
          <a:bodyPr wrap="none" anchor="t">
            <a:spAutoFit/>
          </a:bodyPr>
          <a:lstStyle/>
          <a:p>
            <a:pPr>
              <a:defRPr sz="2400" b="1">
                <a:solidFill>
                  <a:srgbClr val="FFFFFF"/>
                </a:solidFill>
                <a:latin typeface="Segoe UI Semibold"/>
              </a:defRPr>
            </a:pPr>
            <a:r>
              <a:t>Page d'accueil - page.jsx</a:t>
            </a:r>
          </a:p>
        </p:txBody>
      </p:sp>
      <p:sp>
        <p:nvSpPr>
          <p:cNvPr id="5" name="TextBox 4"/>
          <p:cNvSpPr txBox="1"/>
          <p:nvPr/>
        </p:nvSpPr>
        <p:spPr>
          <a:xfrm>
            <a:off x="548640" y="1097280"/>
            <a:ext cx="6464808" cy="914400"/>
          </a:xfrm>
          <a:prstGeom prst="rect">
            <a:avLst/>
          </a:prstGeom>
          <a:noFill/>
        </p:spPr>
        <p:txBody>
          <a:bodyPr wrap="square">
            <a:spAutoFit/>
          </a:bodyPr>
          <a:lstStyle/>
          <a:p>
            <a:pPr>
              <a:defRPr sz="1200" i="1">
                <a:solidFill>
                  <a:srgbClr val="3C4043"/>
                </a:solidFill>
                <a:latin typeface="Segoe UI"/>
              </a:defRPr>
            </a:pPr>
            <a:r>
              <a:t>J'ai structuré la page d'accueil avec des imports dynamiques pour optimiser les performances. Le composant VideoBackground charge en priorité la vidéo d'arrière-plan.</a:t>
            </a:r>
          </a:p>
        </p:txBody>
      </p:sp>
      <p:sp>
        <p:nvSpPr>
          <p:cNvPr id="6" name="Rounded Rectangle 5"/>
          <p:cNvSpPr/>
          <p:nvPr/>
        </p:nvSpPr>
        <p:spPr>
          <a:xfrm>
            <a:off x="548640" y="1920240"/>
            <a:ext cx="6464808" cy="8311896"/>
          </a:xfrm>
          <a:prstGeom prst="roundRect">
            <a:avLst/>
          </a:prstGeom>
          <a:solidFill>
            <a:srgbClr val="1E1E1E"/>
          </a:solidFill>
          <a:ln w="12700">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57400"/>
            <a:ext cx="6190488" cy="8037575"/>
          </a:xfrm>
          <a:prstGeom prst="rect">
            <a:avLst/>
          </a:prstGeom>
          <a:noFill/>
        </p:spPr>
        <p:txBody>
          <a:bodyPr wrap="square">
            <a:spAutoFit/>
          </a:bodyPr>
          <a:lstStyle/>
          <a:p>
            <a:pPr>
              <a:lnSpc>
                <a:spcPct val="110000"/>
              </a:lnSpc>
              <a:defRPr sz="900">
                <a:solidFill>
                  <a:srgbClr val="D4D4D4"/>
                </a:solidFill>
                <a:latin typeface="Consolas"/>
              </a:defRPr>
            </a:pPr>
            <a:r>
              <a:t>// frontend/src/app/page.jsx</a:t>
            </a:r>
            <a:br/>
            <a:r>
              <a:t>import VideoBackground from "@/components/VideoBackground";</a:t>
            </a:r>
            <a:br/>
            <a:r>
              <a:t>import dynamic from "next/dynamic";</a:t>
            </a:r>
            <a:br/>
            <a:r>
              <a:t>import useSiteData from "@/hooks/useSiteData";</a:t>
            </a:r>
            <a:br/>
            <a:br/>
            <a:r>
              <a:t>// Import dynamique pour optimiser le chargement</a:t>
            </a:r>
            <a:br/>
            <a:r>
              <a:t>const PartnerSection = dynamic(</a:t>
            </a:r>
            <a:br/>
            <a:r>
              <a:t>  () =&gt; import("@/components/PartnerSection"),</a:t>
            </a:r>
            <a:br/>
            <a:r>
              <a:t>  { ssr: false }</a:t>
            </a:r>
            <a:br/>
            <a:r>
              <a:t>);</a:t>
            </a:r>
            <a:br/>
            <a:br/>
            <a:r>
              <a:t>const BlogSection = dynamic(</a:t>
            </a:r>
            <a:br/>
            <a:r>
              <a:t>  () =&gt; import("@/components/BlogSection"),</a:t>
            </a:r>
            <a:br/>
            <a:r>
              <a:t>  { ssr: false }</a:t>
            </a:r>
            <a:br/>
            <a:r>
              <a:t>);</a:t>
            </a:r>
            <a:br/>
            <a:br/>
            <a:r>
              <a:t>export default function Home() {</a:t>
            </a:r>
            <a:br/>
            <a:r>
              <a:t>  const { data, loading, error } = useSiteData();</a:t>
            </a:r>
            <a:br/>
            <a:br/>
            <a:r>
              <a:t>  if (loading) return &lt;div&gt;Chargement...&lt;/div&gt;;</a:t>
            </a:r>
            <a:br/>
            <a:r>
              <a:t>  if (error) return &lt;div&gt;Erreur: {error}&lt;/div&gt;;</a:t>
            </a:r>
            <a:br/>
            <a:br/>
            <a:r>
              <a:t>  return (</a:t>
            </a:r>
            <a:br/>
            <a:r>
              <a:t>    &lt;main&gt;</a:t>
            </a:r>
            <a:br/>
            <a:r>
              <a:t>      &lt;VideoBackground videoUrl={data.accueil?.video} /&gt;</a:t>
            </a:r>
            <a:br/>
            <a:r>
              <a:t>      &lt;IntroSection /&gt;</a:t>
            </a:r>
            <a:br/>
            <a:r>
              <a:t>      &lt;DescriptionSection /&gt;</a:t>
            </a:r>
            <a:br/>
            <a:r>
              <a:t>      &lt;PartnerSection partners={data.partenaires} /&gt;</a:t>
            </a:r>
            <a:br/>
            <a:r>
              <a:t>      &lt;BlogSection articles={data.articles} limit={3} /&gt;</a:t>
            </a:r>
            <a:br/>
            <a:r>
              <a:t>    &lt;/main&gt;</a:t>
            </a:r>
            <a:br/>
            <a:r>
              <a:t>  );</a:t>
            </a:r>
            <a:br/>
            <a: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914400"/>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7562088" cy="457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6647688" cy="548640"/>
          </a:xfrm>
          <a:prstGeom prst="rect">
            <a:avLst/>
          </a:prstGeom>
          <a:noFill/>
        </p:spPr>
        <p:txBody>
          <a:bodyPr wrap="none" anchor="t">
            <a:spAutoFit/>
          </a:bodyPr>
          <a:lstStyle/>
          <a:p>
            <a:pPr>
              <a:defRPr sz="2400" b="1">
                <a:solidFill>
                  <a:srgbClr val="FFFFFF"/>
                </a:solidFill>
                <a:latin typeface="Segoe UI Semibold"/>
              </a:defRPr>
            </a:pPr>
            <a:r>
              <a:t>Composant VideoBackground</a:t>
            </a:r>
          </a:p>
        </p:txBody>
      </p:sp>
      <p:sp>
        <p:nvSpPr>
          <p:cNvPr id="5" name="TextBox 4"/>
          <p:cNvSpPr txBox="1"/>
          <p:nvPr/>
        </p:nvSpPr>
        <p:spPr>
          <a:xfrm>
            <a:off x="548640" y="1097280"/>
            <a:ext cx="6464808" cy="914400"/>
          </a:xfrm>
          <a:prstGeom prst="rect">
            <a:avLst/>
          </a:prstGeom>
          <a:noFill/>
        </p:spPr>
        <p:txBody>
          <a:bodyPr wrap="square">
            <a:spAutoFit/>
          </a:bodyPr>
          <a:lstStyle/>
          <a:p>
            <a:pPr>
              <a:defRPr sz="1200" i="1">
                <a:solidFill>
                  <a:srgbClr val="3C4043"/>
                </a:solidFill>
                <a:latin typeface="Segoe UI"/>
              </a:defRPr>
            </a:pPr>
            <a:r>
              <a:t>J'ai créé un composant qui gère l'affichage progressif de la vidéo avec une transition d'opacité pour améliorer l'expérience utilisateur.</a:t>
            </a:r>
          </a:p>
        </p:txBody>
      </p:sp>
      <p:sp>
        <p:nvSpPr>
          <p:cNvPr id="6" name="Rounded Rectangle 5"/>
          <p:cNvSpPr/>
          <p:nvPr/>
        </p:nvSpPr>
        <p:spPr>
          <a:xfrm>
            <a:off x="548640" y="1920240"/>
            <a:ext cx="6464808" cy="8311896"/>
          </a:xfrm>
          <a:prstGeom prst="roundRect">
            <a:avLst/>
          </a:prstGeom>
          <a:solidFill>
            <a:srgbClr val="1E1E1E"/>
          </a:solidFill>
          <a:ln w="12700">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57400"/>
            <a:ext cx="6190488" cy="8037575"/>
          </a:xfrm>
          <a:prstGeom prst="rect">
            <a:avLst/>
          </a:prstGeom>
          <a:noFill/>
        </p:spPr>
        <p:txBody>
          <a:bodyPr wrap="square">
            <a:spAutoFit/>
          </a:bodyPr>
          <a:lstStyle/>
          <a:p>
            <a:pPr>
              <a:lnSpc>
                <a:spcPct val="110000"/>
              </a:lnSpc>
              <a:defRPr sz="900">
                <a:solidFill>
                  <a:srgbClr val="D4D4D4"/>
                </a:solidFill>
                <a:latin typeface="Consolas"/>
              </a:defRPr>
            </a:pPr>
            <a:r>
              <a:t>// frontend/src/components/VideoBackground.jsx</a:t>
            </a:r>
            <a:br/>
            <a:r>
              <a:t>'use client';</a:t>
            </a:r>
            <a:br/>
            <a:r>
              <a:t>import { useState } from 'react';</a:t>
            </a:r>
            <a:br/>
            <a:br/>
            <a:r>
              <a:t>export default function VideoBackground({ videoUrl }) {</a:t>
            </a:r>
            <a:br/>
            <a:r>
              <a:t>  const [opacity, setOpacity] = useState(0);</a:t>
            </a:r>
            <a:br/>
            <a:br/>
            <a:r>
              <a:t>  const handleVideoReady = () =&gt; {</a:t>
            </a:r>
            <a:br/>
            <a:r>
              <a:t>    setOpacity(1); // Transition douce quand la vidéo est prête</a:t>
            </a:r>
            <a:br/>
            <a:r>
              <a:t>  };</a:t>
            </a:r>
            <a:br/>
            <a:br/>
            <a:r>
              <a:t>  return (</a:t>
            </a:r>
            <a:br/>
            <a:r>
              <a:t>    &lt;div className="video-container"&gt;</a:t>
            </a:r>
            <a:br/>
            <a:r>
              <a:t>      &lt;video</a:t>
            </a:r>
            <a:br/>
            <a:r>
              <a:t>        autoPlay</a:t>
            </a:r>
            <a:br/>
            <a:r>
              <a:t>        loop</a:t>
            </a:r>
            <a:br/>
            <a:r>
              <a:t>        muted</a:t>
            </a:r>
            <a:br/>
            <a:r>
              <a:t>        playsInline</a:t>
            </a:r>
            <a:br/>
            <a:r>
              <a:t>        preload="auto"</a:t>
            </a:r>
            <a:br/>
            <a:r>
              <a:t>        onLoadedData={handleVideoReady}</a:t>
            </a:r>
            <a:br/>
            <a:r>
              <a:t>        onCanPlayThrough={handleVideoReady}</a:t>
            </a:r>
            <a:br/>
            <a:r>
              <a:t>        style={{ opacity, transition: 'opacity 0.5s ease-in' }}</a:t>
            </a:r>
            <a:br/>
            <a:r>
              <a:t>      &gt;</a:t>
            </a:r>
            <a:br/>
            <a:r>
              <a:t>        &lt;source src={videoUrl} type="video/mp4" /&gt;</a:t>
            </a:r>
            <a:br/>
            <a:r>
              <a:t>      &lt;/video&gt;</a:t>
            </a:r>
            <a:br/>
            <a:r>
              <a:t>    &lt;/div&gt;</a:t>
            </a:r>
            <a:br/>
            <a:r>
              <a:t>  );</a:t>
            </a:r>
            <a:br/>
            <a: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914400"/>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7562088" cy="457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6647688" cy="548640"/>
          </a:xfrm>
          <a:prstGeom prst="rect">
            <a:avLst/>
          </a:prstGeom>
          <a:noFill/>
        </p:spPr>
        <p:txBody>
          <a:bodyPr wrap="none" anchor="t">
            <a:spAutoFit/>
          </a:bodyPr>
          <a:lstStyle/>
          <a:p>
            <a:pPr>
              <a:defRPr sz="2400" b="1">
                <a:solidFill>
                  <a:srgbClr val="FFFFFF"/>
                </a:solidFill>
                <a:latin typeface="Segoe UI Semibold"/>
              </a:defRPr>
            </a:pPr>
            <a:r>
              <a:t>Hook personnalisé - useSiteData</a:t>
            </a:r>
          </a:p>
        </p:txBody>
      </p:sp>
      <p:sp>
        <p:nvSpPr>
          <p:cNvPr id="5" name="TextBox 4"/>
          <p:cNvSpPr txBox="1"/>
          <p:nvPr/>
        </p:nvSpPr>
        <p:spPr>
          <a:xfrm>
            <a:off x="548640" y="1097280"/>
            <a:ext cx="6464808" cy="914400"/>
          </a:xfrm>
          <a:prstGeom prst="rect">
            <a:avLst/>
          </a:prstGeom>
          <a:noFill/>
        </p:spPr>
        <p:txBody>
          <a:bodyPr wrap="square">
            <a:spAutoFit/>
          </a:bodyPr>
          <a:lstStyle/>
          <a:p>
            <a:pPr>
              <a:defRPr sz="1200" i="1">
                <a:solidFill>
                  <a:srgbClr val="3C4043"/>
                </a:solidFill>
                <a:latin typeface="Segoe UI"/>
              </a:defRPr>
            </a:pPr>
            <a:r>
              <a:t>Hook personnalisé pour centraliser les appels API. J'ai implémenté un chargement prioritaire pour la vidéo et parallélisé les autres requêtes.</a:t>
            </a:r>
          </a:p>
        </p:txBody>
      </p:sp>
      <p:sp>
        <p:nvSpPr>
          <p:cNvPr id="6" name="Rounded Rectangle 5"/>
          <p:cNvSpPr/>
          <p:nvPr/>
        </p:nvSpPr>
        <p:spPr>
          <a:xfrm>
            <a:off x="548640" y="1920240"/>
            <a:ext cx="6464808" cy="8311896"/>
          </a:xfrm>
          <a:prstGeom prst="roundRect">
            <a:avLst/>
          </a:prstGeom>
          <a:solidFill>
            <a:srgbClr val="1E1E1E"/>
          </a:solidFill>
          <a:ln w="12700">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57400"/>
            <a:ext cx="6190488" cy="8037575"/>
          </a:xfrm>
          <a:prstGeom prst="rect">
            <a:avLst/>
          </a:prstGeom>
          <a:noFill/>
        </p:spPr>
        <p:txBody>
          <a:bodyPr wrap="square">
            <a:spAutoFit/>
          </a:bodyPr>
          <a:lstStyle/>
          <a:p>
            <a:pPr>
              <a:lnSpc>
                <a:spcPct val="110000"/>
              </a:lnSpc>
              <a:defRPr sz="900">
                <a:solidFill>
                  <a:srgbClr val="D4D4D4"/>
                </a:solidFill>
                <a:latin typeface="Consolas"/>
              </a:defRPr>
            </a:pPr>
            <a:r>
              <a:t>// frontend/src/hooks/useSiteData.jsx</a:t>
            </a:r>
            <a:br/>
            <a:r>
              <a:t>'use client';</a:t>
            </a:r>
            <a:br/>
            <a:r>
              <a:t>import { useState, useEffect } from 'react';</a:t>
            </a:r>
            <a:br/>
            <a:br/>
            <a:r>
              <a:t>export default function useSiteData() {</a:t>
            </a:r>
            <a:br/>
            <a:r>
              <a:t>  const [data, setData] = useState({});</a:t>
            </a:r>
            <a:br/>
            <a:r>
              <a:t>  const [loading, setLoading] = useState(true);</a:t>
            </a:r>
            <a:br/>
            <a:r>
              <a:t>  const [error, setError] = useState(null);</a:t>
            </a:r>
            <a:br/>
            <a:br/>
            <a:r>
              <a:t>  useEffect(() =&gt; {</a:t>
            </a:r>
            <a:br/>
            <a:r>
              <a:t>    async function fetchData() {</a:t>
            </a:r>
            <a:br/>
            <a:r>
              <a:t>      try {</a:t>
            </a:r>
            <a:br/>
            <a:r>
              <a:t>        // Chargement prioritaire de l'accueil (vidéo)</a:t>
            </a:r>
            <a:br/>
            <a:r>
              <a:t>        const accueilRes = await fetch(</a:t>
            </a:r>
            <a:br/>
            <a:r>
              <a:t>          `${process.env.NEXT_PUBLIC_STRAPI_URL}/api/accueil?populate=*`</a:t>
            </a:r>
            <a:br/>
            <a:r>
              <a:t>        );</a:t>
            </a:r>
            <a:br/>
            <a:r>
              <a:t>        const accueilData = await accueilRes.json();</a:t>
            </a:r>
            <a:br/>
            <a:r>
              <a:t>        </a:t>
            </a:r>
            <a:br/>
            <a:r>
              <a:t>        // Chargement parallèle des autres endpoints</a:t>
            </a:r>
            <a:br/>
            <a:r>
              <a:t>        const [articlesRes, partenairesRes, interviewsRes] = </a:t>
            </a:r>
            <a:br/>
            <a:r>
              <a:t>          await Promise.all([</a:t>
            </a:r>
            <a:br/>
            <a:r>
              <a:t>            fetch(`${process.env.NEXT_PUBLIC_STRAPI_URL}/api/articles?populate=*`),</a:t>
            </a:r>
            <a:br/>
            <a:r>
              <a:t>            fetch(`${process.env.NEXT_PUBLIC_STRAPI_URL}/api/partenaires?populate=*`),</a:t>
            </a:r>
            <a:br/>
            <a:r>
              <a:t>            fetch(`${process.env.NEXT_PUBLIC_STRAPI_URL}/api/interviews?populate=*`)</a:t>
            </a:r>
            <a:br/>
            <a:r>
              <a:t>          ]);</a:t>
            </a:r>
            <a:br/>
            <a:br/>
            <a:r>
              <a:t>        const articles = await articlesRes.json();</a:t>
            </a:r>
            <a:br/>
            <a:r>
              <a:t>        </a:t>
            </a:r>
            <a:br/>
            <a:r>
              <a:t>        setData({</a:t>
            </a:r>
            <a:br/>
            <a:r>
              <a:t>          accueil: accueilData.data,</a:t>
            </a:r>
            <a:br/>
            <a:r>
              <a:t>          articles: articles.data.sort((a,b) =&gt; </a:t>
            </a:r>
            <a:br/>
            <a:r>
              <a:t>            new Date(b.attributes.date) - new Date(a.attributes.date)</a:t>
            </a:r>
            <a:br/>
            <a:r>
              <a:t>          ),</a:t>
            </a:r>
            <a:br/>
            <a:r>
              <a:t>          partenaires: partenaires.data,</a:t>
            </a:r>
            <a:br/>
            <a:r>
              <a:t>          interviews: interviews.data,</a:t>
            </a:r>
            <a:br/>
            <a:r>
              <a:t>        });</a:t>
            </a:r>
            <a:br/>
            <a:r>
              <a:t>      } catch (err) {</a:t>
            </a:r>
            <a:br/>
            <a:r>
              <a:t>        setError(err.message);</a:t>
            </a:r>
            <a:br/>
            <a:r>
              <a:t>      } finally {</a:t>
            </a:r>
            <a:br/>
            <a:r>
              <a:t>        setLoading(false);</a:t>
            </a:r>
            <a:br/>
            <a:r>
              <a:t>      }</a:t>
            </a:r>
            <a:br/>
            <a:r>
              <a:t>    }</a:t>
            </a:r>
            <a:br/>
            <a:r>
              <a:t>    fetchData();</a:t>
            </a:r>
            <a:br/>
            <a:r>
              <a:t>  }, []);</a:t>
            </a:r>
            <a:br/>
            <a:br/>
            <a:r>
              <a:t>  return { data, loading, error };</a:t>
            </a: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914400"/>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7562088" cy="45720"/>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6647688" cy="548640"/>
          </a:xfrm>
          <a:prstGeom prst="rect">
            <a:avLst/>
          </a:prstGeom>
          <a:noFill/>
        </p:spPr>
        <p:txBody>
          <a:bodyPr wrap="none" anchor="t">
            <a:spAutoFit/>
          </a:bodyPr>
          <a:lstStyle/>
          <a:p>
            <a:pPr>
              <a:defRPr sz="2400" b="1">
                <a:solidFill>
                  <a:srgbClr val="FFFFFF"/>
                </a:solidFill>
                <a:latin typeface="Segoe UI Semibold"/>
              </a:defRPr>
            </a:pPr>
            <a:r>
              <a:t>Routing Dynamique - Article</a:t>
            </a:r>
          </a:p>
        </p:txBody>
      </p:sp>
      <p:sp>
        <p:nvSpPr>
          <p:cNvPr id="5" name="TextBox 4"/>
          <p:cNvSpPr txBox="1"/>
          <p:nvPr/>
        </p:nvSpPr>
        <p:spPr>
          <a:xfrm>
            <a:off x="548640" y="1097280"/>
            <a:ext cx="6464808" cy="914400"/>
          </a:xfrm>
          <a:prstGeom prst="rect">
            <a:avLst/>
          </a:prstGeom>
          <a:noFill/>
        </p:spPr>
        <p:txBody>
          <a:bodyPr wrap="square">
            <a:spAutoFit/>
          </a:bodyPr>
          <a:lstStyle/>
          <a:p>
            <a:pPr>
              <a:defRPr sz="1200" i="1">
                <a:solidFill>
                  <a:srgbClr val="3C4043"/>
                </a:solidFill>
                <a:latin typeface="Segoe UI"/>
              </a:defRPr>
            </a:pPr>
            <a:r>
              <a:t>Page dynamique pour afficher un article à partir de son slug. J'utilise generateMetadata pour le SEO et la revalidation incrémentale (ISR).</a:t>
            </a:r>
          </a:p>
        </p:txBody>
      </p:sp>
      <p:sp>
        <p:nvSpPr>
          <p:cNvPr id="6" name="Rounded Rectangle 5"/>
          <p:cNvSpPr/>
          <p:nvPr/>
        </p:nvSpPr>
        <p:spPr>
          <a:xfrm>
            <a:off x="548640" y="1920240"/>
            <a:ext cx="6464808" cy="8311896"/>
          </a:xfrm>
          <a:prstGeom prst="roundRect">
            <a:avLst/>
          </a:prstGeom>
          <a:solidFill>
            <a:srgbClr val="1E1E1E"/>
          </a:solidFill>
          <a:ln w="12700">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57400"/>
            <a:ext cx="6190488" cy="8037575"/>
          </a:xfrm>
          <a:prstGeom prst="rect">
            <a:avLst/>
          </a:prstGeom>
          <a:noFill/>
        </p:spPr>
        <p:txBody>
          <a:bodyPr wrap="square">
            <a:spAutoFit/>
          </a:bodyPr>
          <a:lstStyle/>
          <a:p>
            <a:pPr>
              <a:lnSpc>
                <a:spcPct val="110000"/>
              </a:lnSpc>
              <a:defRPr sz="900">
                <a:solidFill>
                  <a:srgbClr val="D4D4D4"/>
                </a:solidFill>
                <a:latin typeface="Consolas"/>
              </a:defRPr>
            </a:pPr>
            <a:r>
              <a:t>// frontend/src/app/blog/[slug]/page.jsx</a:t>
            </a:r>
            <a:br/>
            <a:r>
              <a:t>export const revalidate = 60; // Revalidation toutes les 60s</a:t>
            </a:r>
            <a:br/>
            <a:br/>
            <a:r>
              <a:t>export async function generateMetadata({ params }) {</a:t>
            </a:r>
            <a:br/>
            <a:r>
              <a:t>  const { slug } = params;</a:t>
            </a:r>
            <a:br/>
            <a:r>
              <a:t>  const res = await fetch(</a:t>
            </a:r>
            <a:br/>
            <a:r>
              <a:t>    `${process.env.NEXT_PUBLIC_STRAPI_URL}/api/articles?` +</a:t>
            </a:r>
            <a:br/>
            <a:r>
              <a:t>    `filters[slug][$eq]=${slug}&amp;populate=*`</a:t>
            </a:r>
            <a:br/>
            <a:r>
              <a:t>  );</a:t>
            </a:r>
            <a:br/>
            <a:r>
              <a:t>  const data = await res.json();</a:t>
            </a:r>
            <a:br/>
            <a:r>
              <a:t>  const article = data.data[0];</a:t>
            </a:r>
            <a:br/>
            <a:r>
              <a:t>  </a:t>
            </a:r>
            <a:br/>
            <a:r>
              <a:t>  return {</a:t>
            </a:r>
            <a:br/>
            <a:r>
              <a:t>    title: article.attributes.titre,</a:t>
            </a:r>
            <a:br/>
            <a:r>
              <a:t>    description: article.attributes.extrait,</a:t>
            </a:r>
            <a:br/>
            <a:r>
              <a:t>  };</a:t>
            </a:r>
            <a:br/>
            <a:r>
              <a:t>}</a:t>
            </a:r>
            <a:br/>
            <a:br/>
            <a:r>
              <a:t>export default async function ArticlePage({ params }) {</a:t>
            </a:r>
            <a:br/>
            <a:r>
              <a:t>  const { slug } = params;</a:t>
            </a:r>
            <a:br/>
            <a:r>
              <a:t>  const res = await fetch(</a:t>
            </a:r>
            <a:br/>
            <a:r>
              <a:t>    `${process.env.NEXT_PUBLIC_STRAPI_URL}/api/articles?` +</a:t>
            </a:r>
            <a:br/>
            <a:r>
              <a:t>    `filters[slug][$eq]=${slug}&amp;populate=*`,</a:t>
            </a:r>
            <a:br/>
            <a:r>
              <a:t>    { next: { revalidate: 60 } }</a:t>
            </a:r>
            <a:br/>
            <a:r>
              <a:t>  );</a:t>
            </a:r>
            <a:br/>
            <a:r>
              <a:t>  </a:t>
            </a:r>
            <a:br/>
            <a:r>
              <a:t>  const data = await res.json();</a:t>
            </a:r>
            <a:br/>
            <a:r>
              <a:t>  const article = data.data[0]?.attributes;</a:t>
            </a:r>
            <a:br/>
            <a:br/>
            <a:r>
              <a:t>  if (!article) return &lt;div&gt;Article non trouvé&lt;/div&gt;;</a:t>
            </a:r>
            <a:br/>
            <a:br/>
            <a:r>
              <a:t>  return (</a:t>
            </a:r>
            <a:br/>
            <a:r>
              <a:t>    &lt;article&gt;</a:t>
            </a:r>
            <a:br/>
            <a:r>
              <a:t>      &lt;h1&gt;{article.titre}&lt;/h1&gt;</a:t>
            </a:r>
            <a:br/>
            <a:r>
              <a:t>      &lt;time&gt;{new Date(article.date).toLocaleDateString('fr-FR')}&lt;/time&gt;</a:t>
            </a:r>
            <a:br/>
            <a:r>
              <a:t>      &lt;p&gt;Par {article.auteur}&lt;/p&gt;</a:t>
            </a:r>
            <a:br/>
            <a:r>
              <a:t>      &lt;div dangerouslySetInnerHTML={{ __html: article.contenu }} /&gt;</a:t>
            </a:r>
            <a:br/>
            <a:r>
              <a:t>    &lt;/article&gt;</a:t>
            </a:r>
            <a:br/>
            <a:r>
              <a:t>  );</a:t>
            </a:r>
            <a:br/>
            <a: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91440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7562088" cy="457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6647688" cy="548640"/>
          </a:xfrm>
          <a:prstGeom prst="rect">
            <a:avLst/>
          </a:prstGeom>
          <a:noFill/>
        </p:spPr>
        <p:txBody>
          <a:bodyPr wrap="none" anchor="t">
            <a:spAutoFit/>
          </a:bodyPr>
          <a:lstStyle/>
          <a:p>
            <a:pPr>
              <a:defRPr sz="2600" b="1">
                <a:solidFill>
                  <a:srgbClr val="FFFFFF"/>
                </a:solidFill>
                <a:latin typeface="Segoe UI Semibold"/>
              </a:defRPr>
            </a:pPr>
            <a:r>
              <a:t>Strapi CMS - Pourquoi ?</a:t>
            </a:r>
          </a:p>
        </p:txBody>
      </p:sp>
      <p:sp>
        <p:nvSpPr>
          <p:cNvPr id="5" name="TextBox 4"/>
          <p:cNvSpPr txBox="1"/>
          <p:nvPr/>
        </p:nvSpPr>
        <p:spPr>
          <a:xfrm>
            <a:off x="548640" y="1188720"/>
            <a:ext cx="6464808" cy="9144000"/>
          </a:xfrm>
          <a:prstGeom prst="rect">
            <a:avLst/>
          </a:prstGeom>
          <a:noFill/>
        </p:spPr>
        <p:txBody>
          <a:bodyPr wrap="square">
            <a:spAutoFit/>
          </a:bodyPr>
          <a:lstStyle/>
          <a:p>
            <a:pPr>
              <a:spcAft>
                <a:spcPts val="800"/>
              </a:spcAft>
              <a:defRPr sz="1500" b="1">
                <a:solidFill>
                  <a:srgbClr val="3C4043"/>
                </a:solidFill>
                <a:latin typeface="Segoe UI"/>
              </a:defRPr>
            </a:pPr>
            <a:r>
              <a:t>🎯 Contexte de choix</a:t>
            </a:r>
          </a:p>
          <a:p>
            <a:pPr>
              <a:spcAft>
                <a:spcPts val="800"/>
              </a:spcAft>
              <a:defRPr sz="1300">
                <a:solidFill>
                  <a:srgbClr val="3C4043"/>
                </a:solidFill>
                <a:latin typeface="Segoe UI"/>
              </a:defRPr>
            </a:pPr>
            <a:r>
              <a:t>L'agence UFO Agency a choisi Strapi pour ce projet afin de fournir une interface simple de gestion de contenu à l'association.</a:t>
            </a:r>
          </a:p>
          <a:p>
            <a:pPr>
              <a:spcAft>
                <a:spcPts val="800"/>
              </a:spcAft>
              <a:defRPr sz="1300">
                <a:solidFill>
                  <a:srgbClr val="3C4043"/>
                </a:solidFill>
                <a:latin typeface="Segoe UI"/>
              </a:defRPr>
            </a:pPr>
          </a:p>
          <a:p>
            <a:pPr>
              <a:spcAft>
                <a:spcPts val="800"/>
              </a:spcAft>
              <a:defRPr sz="1500" b="1">
                <a:solidFill>
                  <a:srgbClr val="3C4043"/>
                </a:solidFill>
                <a:latin typeface="Segoe UI"/>
              </a:defRPr>
            </a:pPr>
            <a:r>
              <a:t>✅ Avantages de Strapi</a:t>
            </a:r>
          </a:p>
          <a:p>
            <a:pPr>
              <a:spcAft>
                <a:spcPts val="800"/>
              </a:spcAft>
              <a:defRPr sz="1300">
                <a:solidFill>
                  <a:srgbClr val="3C4043"/>
                </a:solidFill>
                <a:latin typeface="Segoe UI"/>
              </a:defRPr>
            </a:pPr>
            <a:r>
              <a:t>Interface d'administration clé en main</a:t>
            </a:r>
          </a:p>
          <a:p>
            <a:pPr lvl="1">
              <a:spcAft>
                <a:spcPts val="800"/>
              </a:spcAft>
              <a:defRPr sz="1200">
                <a:solidFill>
                  <a:srgbClr val="3C4043"/>
                </a:solidFill>
                <a:latin typeface="Segoe UI"/>
              </a:defRPr>
            </a:pPr>
            <a:r>
              <a:t>→ L'association peut gérer articles, interviews et partenaires sans compétences techniques</a:t>
            </a:r>
          </a:p>
          <a:p>
            <a:pPr>
              <a:spcAft>
                <a:spcPts val="800"/>
              </a:spcAft>
              <a:defRPr sz="1300">
                <a:solidFill>
                  <a:srgbClr val="3C4043"/>
                </a:solidFill>
                <a:latin typeface="Segoe UI"/>
              </a:defRPr>
            </a:pPr>
          </a:p>
          <a:p>
            <a:pPr>
              <a:spcAft>
                <a:spcPts val="800"/>
              </a:spcAft>
              <a:defRPr sz="1300">
                <a:solidFill>
                  <a:srgbClr val="3C4043"/>
                </a:solidFill>
                <a:latin typeface="Segoe UI"/>
              </a:defRPr>
            </a:pPr>
            <a:r>
              <a:t>API REST générée automatiquement</a:t>
            </a:r>
          </a:p>
          <a:p>
            <a:pPr lvl="1">
              <a:spcAft>
                <a:spcPts val="800"/>
              </a:spcAft>
              <a:defRPr sz="1200">
                <a:solidFill>
                  <a:srgbClr val="3C4043"/>
                </a:solidFill>
                <a:latin typeface="Segoe UI"/>
              </a:defRPr>
            </a:pPr>
            <a:r>
              <a:t>→ Gain de temps sur le développement backend</a:t>
            </a:r>
          </a:p>
          <a:p>
            <a:pPr>
              <a:spcAft>
                <a:spcPts val="800"/>
              </a:spcAft>
              <a:defRPr sz="1300">
                <a:solidFill>
                  <a:srgbClr val="3C4043"/>
                </a:solidFill>
                <a:latin typeface="Segoe UI"/>
              </a:defRPr>
            </a:pPr>
          </a:p>
          <a:p>
            <a:pPr>
              <a:spcAft>
                <a:spcPts val="800"/>
              </a:spcAft>
              <a:defRPr sz="1300">
                <a:solidFill>
                  <a:srgbClr val="3C4043"/>
                </a:solidFill>
                <a:latin typeface="Segoe UI"/>
              </a:defRPr>
            </a:pPr>
            <a:r>
              <a:t>Gestion des médias intégrée</a:t>
            </a:r>
          </a:p>
          <a:p>
            <a:pPr lvl="1">
              <a:spcAft>
                <a:spcPts val="800"/>
              </a:spcAft>
              <a:defRPr sz="1200">
                <a:solidFill>
                  <a:srgbClr val="3C4043"/>
                </a:solidFill>
                <a:latin typeface="Segoe UI"/>
              </a:defRPr>
            </a:pPr>
            <a:r>
              <a:t>→ Upload d'images et vidéos directement dans l'interface</a:t>
            </a:r>
          </a:p>
          <a:p>
            <a:pPr>
              <a:spcAft>
                <a:spcPts val="800"/>
              </a:spcAft>
              <a:defRPr sz="1300">
                <a:solidFill>
                  <a:srgbClr val="3C4043"/>
                </a:solidFill>
                <a:latin typeface="Segoe UI"/>
              </a:defRPr>
            </a:pPr>
          </a:p>
          <a:p>
            <a:pPr>
              <a:spcAft>
                <a:spcPts val="800"/>
              </a:spcAft>
              <a:defRPr sz="1300">
                <a:solidFill>
                  <a:srgbClr val="3C4043"/>
                </a:solidFill>
                <a:latin typeface="Segoe UI"/>
              </a:defRPr>
            </a:pPr>
            <a:r>
              <a:t>Extensible avec des routes personnalisées</a:t>
            </a:r>
          </a:p>
          <a:p>
            <a:pPr lvl="1">
              <a:spcAft>
                <a:spcPts val="800"/>
              </a:spcAft>
              <a:defRPr sz="1200">
                <a:solidFill>
                  <a:srgbClr val="3C4043"/>
                </a:solidFill>
                <a:latin typeface="Segoe UI"/>
              </a:defRPr>
            </a:pPr>
            <a:r>
              <a:t>→ J'ai pu ajouter une route d'envoi d'email pour le formulaire de contact</a:t>
            </a:r>
          </a:p>
          <a:p>
            <a:pPr>
              <a:spcAft>
                <a:spcPts val="800"/>
              </a:spcAft>
              <a:defRPr sz="1300">
                <a:solidFill>
                  <a:srgbClr val="3C4043"/>
                </a:solidFill>
                <a:latin typeface="Segoe UI"/>
              </a:defRPr>
            </a:pPr>
          </a:p>
          <a:p>
            <a:pPr>
              <a:spcAft>
                <a:spcPts val="800"/>
              </a:spcAft>
              <a:defRPr sz="1300">
                <a:solidFill>
                  <a:srgbClr val="3C4043"/>
                </a:solidFill>
                <a:latin typeface="Segoe UI"/>
              </a:defRPr>
            </a:pPr>
            <a:r>
              <a:t>Open source et bien documenté</a:t>
            </a:r>
          </a:p>
          <a:p>
            <a:pPr lvl="1">
              <a:spcAft>
                <a:spcPts val="800"/>
              </a:spcAft>
              <a:defRPr sz="1200">
                <a:solidFill>
                  <a:srgbClr val="3C4043"/>
                </a:solidFill>
                <a:latin typeface="Segoe UI"/>
              </a:defRPr>
            </a:pPr>
            <a:r>
              <a:t>→ Large communauté et ressources disponibles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91440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7562088" cy="457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6647688" cy="548640"/>
          </a:xfrm>
          <a:prstGeom prst="rect">
            <a:avLst/>
          </a:prstGeom>
          <a:noFill/>
        </p:spPr>
        <p:txBody>
          <a:bodyPr wrap="none" anchor="t">
            <a:spAutoFit/>
          </a:bodyPr>
          <a:lstStyle/>
          <a:p>
            <a:pPr>
              <a:defRPr sz="2600" b="1">
                <a:solidFill>
                  <a:srgbClr val="FFFFFF"/>
                </a:solidFill>
                <a:latin typeface="Segoe UI Semibold"/>
              </a:defRPr>
            </a:pPr>
            <a:r>
              <a:t>Optimisations Performance - APD</a:t>
            </a:r>
          </a:p>
        </p:txBody>
      </p:sp>
      <p:sp>
        <p:nvSpPr>
          <p:cNvPr id="5" name="TextBox 4"/>
          <p:cNvSpPr txBox="1"/>
          <p:nvPr/>
        </p:nvSpPr>
        <p:spPr>
          <a:xfrm>
            <a:off x="548640" y="1188720"/>
            <a:ext cx="6464808" cy="9144000"/>
          </a:xfrm>
          <a:prstGeom prst="rect">
            <a:avLst/>
          </a:prstGeom>
          <a:noFill/>
        </p:spPr>
        <p:txBody>
          <a:bodyPr wrap="square">
            <a:spAutoFit/>
          </a:bodyPr>
          <a:lstStyle/>
          <a:p>
            <a:pPr>
              <a:spcAft>
                <a:spcPts val="800"/>
              </a:spcAft>
              <a:defRPr sz="1500" b="1">
                <a:solidFill>
                  <a:srgbClr val="3C4043"/>
                </a:solidFill>
                <a:latin typeface="Segoe UI"/>
              </a:defRPr>
            </a:pPr>
            <a:r>
              <a:t>⚡ Stratégies d'optimisation mises en place</a:t>
            </a:r>
          </a:p>
          <a:p>
            <a:pPr>
              <a:spcAft>
                <a:spcPts val="800"/>
              </a:spcAft>
              <a:defRPr sz="1300">
                <a:solidFill>
                  <a:srgbClr val="3C4043"/>
                </a:solidFill>
                <a:latin typeface="Segoe UI"/>
              </a:defRPr>
            </a:pPr>
          </a:p>
          <a:p>
            <a:pPr>
              <a:spcAft>
                <a:spcPts val="800"/>
              </a:spcAft>
              <a:defRPr sz="1400" b="1">
                <a:solidFill>
                  <a:srgbClr val="1A73E8"/>
                </a:solidFill>
                <a:latin typeface="Segoe UI"/>
              </a:defRPr>
            </a:pPr>
            <a:r>
              <a:t>1. Images optimisées avec next/image</a:t>
            </a:r>
          </a:p>
          <a:p>
            <a:pPr>
              <a:spcAft>
                <a:spcPts val="800"/>
              </a:spcAft>
              <a:defRPr sz="1200">
                <a:solidFill>
                  <a:srgbClr val="3C4043"/>
                </a:solidFill>
                <a:latin typeface="Segoe UI"/>
              </a:defRPr>
            </a:pPr>
            <a:r>
              <a:t>Redimensionnement automatique et lazy loading</a:t>
            </a:r>
          </a:p>
          <a:p>
            <a:pPr>
              <a:spcAft>
                <a:spcPts val="800"/>
              </a:spcAft>
              <a:defRPr sz="1200">
                <a:solidFill>
                  <a:srgbClr val="3C4043"/>
                </a:solidFill>
                <a:latin typeface="Segoe UI"/>
              </a:defRPr>
            </a:pPr>
            <a:r>
              <a:t>Format WebP pour réduire la taille des fichiers</a:t>
            </a:r>
          </a:p>
          <a:p>
            <a:pPr>
              <a:spcAft>
                <a:spcPts val="800"/>
              </a:spcAft>
              <a:defRPr sz="1200">
                <a:solidFill>
                  <a:srgbClr val="3C4043"/>
                </a:solidFill>
                <a:latin typeface="Segoe UI"/>
              </a:defRPr>
            </a:pPr>
            <a:r>
              <a:t>CDN Cloudinary pour un chargement rapide</a:t>
            </a:r>
          </a:p>
          <a:p>
            <a:pPr>
              <a:spcAft>
                <a:spcPts val="800"/>
              </a:spcAft>
              <a:defRPr sz="1300">
                <a:solidFill>
                  <a:srgbClr val="3C4043"/>
                </a:solidFill>
                <a:latin typeface="Segoe UI"/>
              </a:defRPr>
            </a:pPr>
          </a:p>
          <a:p>
            <a:pPr>
              <a:spcAft>
                <a:spcPts val="800"/>
              </a:spcAft>
              <a:defRPr sz="1400" b="1">
                <a:solidFill>
                  <a:srgbClr val="1A73E8"/>
                </a:solidFill>
                <a:latin typeface="Segoe UI"/>
              </a:defRPr>
            </a:pPr>
            <a:r>
              <a:t>2. Code splitting avec dynamic imports</a:t>
            </a:r>
          </a:p>
          <a:p>
            <a:pPr>
              <a:spcAft>
                <a:spcPts val="800"/>
              </a:spcAft>
              <a:defRPr sz="1200">
                <a:solidFill>
                  <a:srgbClr val="3C4043"/>
                </a:solidFill>
                <a:latin typeface="Segoe UI"/>
              </a:defRPr>
            </a:pPr>
            <a:r>
              <a:t>Chargement différé des composants non critiques</a:t>
            </a:r>
          </a:p>
          <a:p>
            <a:pPr>
              <a:spcAft>
                <a:spcPts val="800"/>
              </a:spcAft>
              <a:defRPr sz="1200">
                <a:solidFill>
                  <a:srgbClr val="3C4043"/>
                </a:solidFill>
                <a:latin typeface="Segoe UI"/>
              </a:defRPr>
            </a:pPr>
            <a:r>
              <a:t>Réduction du bundle JavaScript initial</a:t>
            </a:r>
          </a:p>
          <a:p>
            <a:pPr>
              <a:spcAft>
                <a:spcPts val="800"/>
              </a:spcAft>
              <a:defRPr sz="1300">
                <a:solidFill>
                  <a:srgbClr val="3C4043"/>
                </a:solidFill>
                <a:latin typeface="Segoe UI"/>
              </a:defRPr>
            </a:pPr>
          </a:p>
          <a:p>
            <a:pPr>
              <a:spcAft>
                <a:spcPts val="800"/>
              </a:spcAft>
              <a:defRPr sz="1400" b="1">
                <a:solidFill>
                  <a:srgbClr val="1A73E8"/>
                </a:solidFill>
                <a:latin typeface="Segoe UI"/>
              </a:defRPr>
            </a:pPr>
            <a:r>
              <a:t>3. Chargement prioritaire</a:t>
            </a:r>
          </a:p>
          <a:p>
            <a:pPr>
              <a:spcAft>
                <a:spcPts val="800"/>
              </a:spcAft>
              <a:defRPr sz="1200">
                <a:solidFill>
                  <a:srgbClr val="3C4043"/>
                </a:solidFill>
                <a:latin typeface="Segoe UI"/>
              </a:defRPr>
            </a:pPr>
            <a:r>
              <a:t>Vidéo d'accueil chargée en priorité avec preload="auto"</a:t>
            </a:r>
          </a:p>
          <a:p>
            <a:pPr>
              <a:spcAft>
                <a:spcPts val="800"/>
              </a:spcAft>
              <a:defRPr sz="1200">
                <a:solidFill>
                  <a:srgbClr val="3C4043"/>
                </a:solidFill>
                <a:latin typeface="Segoe UI"/>
              </a:defRPr>
            </a:pPr>
            <a:r>
              <a:t>Hook useSiteData qui charge l'accueil en premier</a:t>
            </a:r>
          </a:p>
          <a:p>
            <a:pPr>
              <a:spcAft>
                <a:spcPts val="800"/>
              </a:spcAft>
              <a:defRPr sz="1300">
                <a:solidFill>
                  <a:srgbClr val="3C4043"/>
                </a:solidFill>
                <a:latin typeface="Segoe UI"/>
              </a:defRPr>
            </a:pPr>
          </a:p>
          <a:p>
            <a:pPr>
              <a:spcAft>
                <a:spcPts val="800"/>
              </a:spcAft>
              <a:defRPr sz="1400" b="1">
                <a:solidFill>
                  <a:srgbClr val="1A73E8"/>
                </a:solidFill>
                <a:latin typeface="Segoe UI"/>
              </a:defRPr>
            </a:pPr>
            <a:r>
              <a:t>4. Server-Side Rendering (SSR)</a:t>
            </a:r>
          </a:p>
          <a:p>
            <a:pPr>
              <a:spcAft>
                <a:spcPts val="800"/>
              </a:spcAft>
              <a:defRPr sz="1200">
                <a:solidFill>
                  <a:srgbClr val="3C4043"/>
                </a:solidFill>
                <a:latin typeface="Segoe UI"/>
              </a:defRPr>
            </a:pPr>
            <a:r>
              <a:t>Pages générées côté serveur pour un meilleur SEO</a:t>
            </a:r>
          </a:p>
          <a:p>
            <a:pPr>
              <a:spcAft>
                <a:spcPts val="800"/>
              </a:spcAft>
              <a:defRPr sz="1200">
                <a:solidFill>
                  <a:srgbClr val="3C4043"/>
                </a:solidFill>
                <a:latin typeface="Segoe UI"/>
              </a:defRPr>
            </a:pPr>
            <a:r>
              <a:t>Incremental Static Regeneration (revalidate: 60s)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91440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7562088" cy="457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6647688" cy="548640"/>
          </a:xfrm>
          <a:prstGeom prst="rect">
            <a:avLst/>
          </a:prstGeom>
          <a:noFill/>
        </p:spPr>
        <p:txBody>
          <a:bodyPr wrap="none" anchor="t">
            <a:spAutoFit/>
          </a:bodyPr>
          <a:lstStyle/>
          <a:p>
            <a:pPr>
              <a:defRPr sz="2600" b="1">
                <a:solidFill>
                  <a:srgbClr val="FFFFFF"/>
                </a:solidFill>
                <a:latin typeface="Segoe UI Semibold"/>
              </a:defRPr>
            </a:pPr>
            <a:r>
              <a:t>Responsive Design &amp; Accessibilité</a:t>
            </a:r>
          </a:p>
        </p:txBody>
      </p:sp>
      <p:sp>
        <p:nvSpPr>
          <p:cNvPr id="5" name="TextBox 4"/>
          <p:cNvSpPr txBox="1"/>
          <p:nvPr/>
        </p:nvSpPr>
        <p:spPr>
          <a:xfrm>
            <a:off x="548640" y="1188720"/>
            <a:ext cx="6464808" cy="9144000"/>
          </a:xfrm>
          <a:prstGeom prst="rect">
            <a:avLst/>
          </a:prstGeom>
          <a:noFill/>
        </p:spPr>
        <p:txBody>
          <a:bodyPr wrap="square">
            <a:spAutoFit/>
          </a:bodyPr>
          <a:lstStyle/>
          <a:p>
            <a:pPr>
              <a:spcAft>
                <a:spcPts val="800"/>
              </a:spcAft>
              <a:defRPr sz="1500" b="1">
                <a:solidFill>
                  <a:srgbClr val="3C4043"/>
                </a:solidFill>
                <a:latin typeface="Segoe UI"/>
              </a:defRPr>
            </a:pPr>
            <a:r>
              <a:t>📱 Approche Mobile-First</a:t>
            </a:r>
          </a:p>
          <a:p>
            <a:pPr>
              <a:spcAft>
                <a:spcPts val="800"/>
              </a:spcAft>
              <a:defRPr sz="1300">
                <a:solidFill>
                  <a:srgbClr val="3C4043"/>
                </a:solidFill>
                <a:latin typeface="Segoe UI"/>
              </a:defRPr>
            </a:pPr>
            <a:r>
              <a:t>J'ai développé le site en commençant par la version mobile, puis adapté progressivement pour les écrans plus larges.</a:t>
            </a:r>
          </a:p>
          <a:p>
            <a:pPr>
              <a:spcAft>
                <a:spcPts val="800"/>
              </a:spcAft>
              <a:defRPr sz="1300">
                <a:solidFill>
                  <a:srgbClr val="3C4043"/>
                </a:solidFill>
                <a:latin typeface="Segoe UI"/>
              </a:defRPr>
            </a:pPr>
          </a:p>
          <a:p>
            <a:pPr>
              <a:spcAft>
                <a:spcPts val="800"/>
              </a:spcAft>
              <a:defRPr sz="1400" b="1">
                <a:solidFill>
                  <a:srgbClr val="3C4043"/>
                </a:solidFill>
                <a:latin typeface="Segoe UI"/>
              </a:defRPr>
            </a:pPr>
            <a:r>
              <a:t>TailwindCSS - Breakpoints utilisés :</a:t>
            </a:r>
          </a:p>
          <a:p>
            <a:pPr lvl="1">
              <a:spcAft>
                <a:spcPts val="800"/>
              </a:spcAft>
              <a:defRPr sz="1200">
                <a:solidFill>
                  <a:srgbClr val="3C4043"/>
                </a:solidFill>
                <a:latin typeface="Courier New"/>
              </a:defRPr>
            </a:pPr>
            <a:r>
              <a:t>sm: (640px)  → Petits écrans</a:t>
            </a:r>
          </a:p>
          <a:p>
            <a:pPr lvl="1">
              <a:spcAft>
                <a:spcPts val="800"/>
              </a:spcAft>
              <a:defRPr sz="1200">
                <a:solidFill>
                  <a:srgbClr val="3C4043"/>
                </a:solidFill>
                <a:latin typeface="Courier New"/>
              </a:defRPr>
            </a:pPr>
            <a:r>
              <a:t>md: (768px)  → Tablettes</a:t>
            </a:r>
          </a:p>
          <a:p>
            <a:pPr lvl="1">
              <a:spcAft>
                <a:spcPts val="800"/>
              </a:spcAft>
              <a:defRPr sz="1200">
                <a:solidFill>
                  <a:srgbClr val="3C4043"/>
                </a:solidFill>
                <a:latin typeface="Courier New"/>
              </a:defRPr>
            </a:pPr>
            <a:r>
              <a:t>lg: (1024px) → Desktop</a:t>
            </a:r>
          </a:p>
          <a:p>
            <a:pPr lvl="1">
              <a:spcAft>
                <a:spcPts val="800"/>
              </a:spcAft>
              <a:defRPr sz="1200">
                <a:solidFill>
                  <a:srgbClr val="3C4043"/>
                </a:solidFill>
                <a:latin typeface="Courier New"/>
              </a:defRPr>
            </a:pPr>
            <a:r>
              <a:t>xl: (1280px) → Large desktop</a:t>
            </a:r>
          </a:p>
          <a:p>
            <a:pPr>
              <a:spcAft>
                <a:spcPts val="800"/>
              </a:spcAft>
              <a:defRPr sz="1300">
                <a:solidFill>
                  <a:srgbClr val="3C4043"/>
                </a:solidFill>
                <a:latin typeface="Segoe UI"/>
              </a:defRPr>
            </a:pPr>
          </a:p>
          <a:p>
            <a:pPr>
              <a:spcAft>
                <a:spcPts val="800"/>
              </a:spcAft>
              <a:defRPr sz="1500" b="1">
                <a:solidFill>
                  <a:srgbClr val="3C4043"/>
                </a:solidFill>
                <a:latin typeface="Segoe UI"/>
              </a:defRPr>
            </a:pPr>
            <a:r>
              <a:t>♿ Accessibilité (WCAG)</a:t>
            </a:r>
          </a:p>
          <a:p>
            <a:pPr>
              <a:spcAft>
                <a:spcPts val="800"/>
              </a:spcAft>
              <a:defRPr sz="1200">
                <a:solidFill>
                  <a:srgbClr val="3C4043"/>
                </a:solidFill>
                <a:latin typeface="Segoe UI"/>
              </a:defRPr>
            </a:pPr>
            <a:r>
              <a:t>Balises sémantiques HTML5 (header, nav, main, article, section)</a:t>
            </a:r>
          </a:p>
          <a:p>
            <a:pPr>
              <a:spcAft>
                <a:spcPts val="800"/>
              </a:spcAft>
              <a:defRPr sz="1200">
                <a:solidFill>
                  <a:srgbClr val="3C4043"/>
                </a:solidFill>
                <a:latin typeface="Segoe UI"/>
              </a:defRPr>
            </a:pPr>
            <a:r>
              <a:t>Attributs alt sur toutes les images</a:t>
            </a:r>
          </a:p>
          <a:p>
            <a:pPr>
              <a:spcAft>
                <a:spcPts val="800"/>
              </a:spcAft>
              <a:defRPr sz="1200">
                <a:solidFill>
                  <a:srgbClr val="3C4043"/>
                </a:solidFill>
                <a:latin typeface="Segoe UI"/>
              </a:defRPr>
            </a:pPr>
            <a:r>
              <a:t>Contraste de couleurs conforme aux normes AA</a:t>
            </a:r>
          </a:p>
          <a:p>
            <a:pPr>
              <a:spcAft>
                <a:spcPts val="800"/>
              </a:spcAft>
              <a:defRPr sz="1200">
                <a:solidFill>
                  <a:srgbClr val="3C4043"/>
                </a:solidFill>
                <a:latin typeface="Segoe UI"/>
              </a:defRPr>
            </a:pPr>
            <a:r>
              <a:t>Navigation au clavier fonctionnelle</a:t>
            </a:r>
          </a:p>
          <a:p>
            <a:pPr>
              <a:spcAft>
                <a:spcPts val="800"/>
              </a:spcAft>
              <a:defRPr sz="1200">
                <a:solidFill>
                  <a:srgbClr val="3C4043"/>
                </a:solidFill>
                <a:latin typeface="Segoe UI"/>
              </a:defRPr>
            </a:pPr>
            <a:r>
              <a:t>Attributs ARIA pour les éléments interactifs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91440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7562088" cy="457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6647688" cy="548640"/>
          </a:xfrm>
          <a:prstGeom prst="rect">
            <a:avLst/>
          </a:prstGeom>
          <a:noFill/>
        </p:spPr>
        <p:txBody>
          <a:bodyPr wrap="none" anchor="t">
            <a:spAutoFit/>
          </a:bodyPr>
          <a:lstStyle/>
          <a:p>
            <a:pPr>
              <a:defRPr sz="2600" b="1">
                <a:solidFill>
                  <a:srgbClr val="FFFFFF"/>
                </a:solidFill>
                <a:latin typeface="Segoe UI Semibold"/>
              </a:defRPr>
            </a:pPr>
            <a:r>
              <a:t>Compétences Frontend Démontrées - APD</a:t>
            </a:r>
          </a:p>
        </p:txBody>
      </p:sp>
      <p:sp>
        <p:nvSpPr>
          <p:cNvPr id="5" name="TextBox 4"/>
          <p:cNvSpPr txBox="1"/>
          <p:nvPr/>
        </p:nvSpPr>
        <p:spPr>
          <a:xfrm>
            <a:off x="548640" y="1188720"/>
            <a:ext cx="6464808" cy="9144000"/>
          </a:xfrm>
          <a:prstGeom prst="rect">
            <a:avLst/>
          </a:prstGeom>
          <a:noFill/>
        </p:spPr>
        <p:txBody>
          <a:bodyPr wrap="square">
            <a:spAutoFit/>
          </a:bodyPr>
          <a:lstStyle/>
          <a:p>
            <a:pPr>
              <a:spcAft>
                <a:spcPts val="800"/>
              </a:spcAft>
              <a:defRPr sz="1700" b="1">
                <a:solidFill>
                  <a:srgbClr val="3C4043"/>
                </a:solidFill>
                <a:latin typeface="Segoe UI"/>
              </a:defRPr>
            </a:pPr>
            <a:r>
              <a:t>✅ Attendus TP DWWM - Frontend (Projet APD)</a:t>
            </a:r>
          </a:p>
          <a:p>
            <a:pPr>
              <a:spcAft>
                <a:spcPts val="800"/>
              </a:spcAft>
              <a:defRPr sz="1300">
                <a:solidFill>
                  <a:srgbClr val="3C4043"/>
                </a:solidFill>
                <a:latin typeface="Segoe UI"/>
              </a:defRPr>
            </a:pPr>
          </a:p>
          <a:p>
            <a:pPr>
              <a:spcAft>
                <a:spcPts val="800"/>
              </a:spcAft>
              <a:defRPr sz="1400" b="1">
                <a:solidFill>
                  <a:srgbClr val="1A73E8"/>
                </a:solidFill>
                <a:latin typeface="Segoe UI"/>
              </a:defRPr>
            </a:pPr>
            <a:r>
              <a:t>2. Réaliser une interface utilisateur web statique et adaptable</a:t>
            </a:r>
          </a:p>
          <a:p>
            <a:pPr>
              <a:spcAft>
                <a:spcPts val="800"/>
              </a:spcAft>
              <a:defRPr sz="1200">
                <a:solidFill>
                  <a:srgbClr val="3C4043"/>
                </a:solidFill>
                <a:latin typeface="Segoe UI"/>
              </a:defRPr>
            </a:pPr>
            <a:r>
              <a:t>✓ HTML5 sémantique avec Next.js/React</a:t>
            </a:r>
          </a:p>
          <a:p>
            <a:pPr>
              <a:spcAft>
                <a:spcPts val="800"/>
              </a:spcAft>
              <a:defRPr sz="1200">
                <a:solidFill>
                  <a:srgbClr val="3C4043"/>
                </a:solidFill>
                <a:latin typeface="Segoe UI"/>
              </a:defRPr>
            </a:pPr>
            <a:r>
              <a:t>✓ CSS moderne avec TailwindCSS</a:t>
            </a:r>
          </a:p>
          <a:p>
            <a:pPr>
              <a:spcAft>
                <a:spcPts val="800"/>
              </a:spcAft>
              <a:defRPr sz="1200">
                <a:solidFill>
                  <a:srgbClr val="3C4043"/>
                </a:solidFill>
                <a:latin typeface="Segoe UI"/>
              </a:defRPr>
            </a:pPr>
            <a:r>
              <a:t>✓ Design responsive mobile-first</a:t>
            </a:r>
          </a:p>
          <a:p>
            <a:pPr>
              <a:spcAft>
                <a:spcPts val="800"/>
              </a:spcAft>
              <a:defRPr sz="1200">
                <a:solidFill>
                  <a:srgbClr val="3C4043"/>
                </a:solidFill>
                <a:latin typeface="Segoe UI"/>
              </a:defRPr>
            </a:pPr>
            <a:r>
              <a:t>✓ Accessibilité WCAG 2.1 niveau AA</a:t>
            </a:r>
          </a:p>
          <a:p>
            <a:pPr>
              <a:spcAft>
                <a:spcPts val="800"/>
              </a:spcAft>
              <a:defRPr sz="1300">
                <a:solidFill>
                  <a:srgbClr val="3C4043"/>
                </a:solidFill>
                <a:latin typeface="Segoe UI"/>
              </a:defRPr>
            </a:pPr>
          </a:p>
          <a:p>
            <a:pPr>
              <a:spcAft>
                <a:spcPts val="800"/>
              </a:spcAft>
              <a:defRPr sz="1400" b="1">
                <a:solidFill>
                  <a:srgbClr val="1A73E8"/>
                </a:solidFill>
                <a:latin typeface="Segoe UI"/>
              </a:defRPr>
            </a:pPr>
            <a:r>
              <a:t>3. Développer une interface utilisateur web dynamique</a:t>
            </a:r>
          </a:p>
          <a:p>
            <a:pPr>
              <a:spcAft>
                <a:spcPts val="800"/>
              </a:spcAft>
              <a:defRPr sz="1200">
                <a:solidFill>
                  <a:srgbClr val="3C4043"/>
                </a:solidFill>
                <a:latin typeface="Segoe UI"/>
              </a:defRPr>
            </a:pPr>
            <a:r>
              <a:t>✓ React 19 avec composants fonctionnels et hooks</a:t>
            </a:r>
          </a:p>
          <a:p>
            <a:pPr>
              <a:spcAft>
                <a:spcPts val="800"/>
              </a:spcAft>
              <a:defRPr sz="1200">
                <a:solidFill>
                  <a:srgbClr val="3C4043"/>
                </a:solidFill>
                <a:latin typeface="Segoe UI"/>
              </a:defRPr>
            </a:pPr>
            <a:r>
              <a:t>✓ Gestion d'état avec useState/useEffect</a:t>
            </a:r>
          </a:p>
          <a:p>
            <a:pPr>
              <a:spcAft>
                <a:spcPts val="800"/>
              </a:spcAft>
              <a:defRPr sz="1200">
                <a:solidFill>
                  <a:srgbClr val="3C4043"/>
                </a:solidFill>
                <a:latin typeface="Segoe UI"/>
              </a:defRPr>
            </a:pPr>
            <a:r>
              <a:t>✓ Hooks personnalisés réutilisables</a:t>
            </a:r>
          </a:p>
          <a:p>
            <a:pPr>
              <a:spcAft>
                <a:spcPts val="800"/>
              </a:spcAft>
              <a:defRPr sz="1200">
                <a:solidFill>
                  <a:srgbClr val="3C4043"/>
                </a:solidFill>
                <a:latin typeface="Segoe UI"/>
              </a:defRPr>
            </a:pPr>
            <a:r>
              <a:t>✓ Animations et interactions fluides (GSAP, Lenis)</a:t>
            </a:r>
          </a:p>
          <a:p>
            <a:pPr>
              <a:spcAft>
                <a:spcPts val="800"/>
              </a:spcAft>
              <a:defRPr sz="1300">
                <a:solidFill>
                  <a:srgbClr val="3C4043"/>
                </a:solidFill>
                <a:latin typeface="Segoe UI"/>
              </a:defRPr>
            </a:pPr>
          </a:p>
          <a:p>
            <a:pPr>
              <a:spcAft>
                <a:spcPts val="800"/>
              </a:spcAft>
              <a:defRPr sz="1400" b="1">
                <a:solidFill>
                  <a:srgbClr val="1A73E8"/>
                </a:solidFill>
                <a:latin typeface="Segoe UI"/>
              </a:defRPr>
            </a:pPr>
            <a:r>
              <a:t>4. Réaliser une interface avec solution de gestion de contenu</a:t>
            </a:r>
          </a:p>
          <a:p>
            <a:pPr>
              <a:spcAft>
                <a:spcPts val="800"/>
              </a:spcAft>
              <a:defRPr sz="1200">
                <a:solidFill>
                  <a:srgbClr val="3C4043"/>
                </a:solidFill>
                <a:latin typeface="Segoe UI"/>
              </a:defRPr>
            </a:pPr>
            <a:r>
              <a:t>✓ Intégration complète avec Strapi CMS headless</a:t>
            </a:r>
          </a:p>
          <a:p>
            <a:pPr>
              <a:spcAft>
                <a:spcPts val="800"/>
              </a:spcAft>
              <a:defRPr sz="1200">
                <a:solidFill>
                  <a:srgbClr val="3C4043"/>
                </a:solidFill>
                <a:latin typeface="Segoe UI"/>
              </a:defRPr>
            </a:pPr>
            <a:r>
              <a:t>✓ Consommation API REST avec fetch</a:t>
            </a:r>
          </a:p>
          <a:p>
            <a:pPr>
              <a:spcAft>
                <a:spcPts val="800"/>
              </a:spcAft>
              <a:defRPr sz="1200">
                <a:solidFill>
                  <a:srgbClr val="3C4043"/>
                </a:solidFill>
                <a:latin typeface="Segoe UI"/>
              </a:defRPr>
            </a:pPr>
            <a:r>
              <a:t>✓ Optimisation cache et revalidation Next.js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10689336"/>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572000"/>
            <a:ext cx="7562088" cy="1545336"/>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0"/>
            <a:ext cx="6647688" cy="1371600"/>
          </a:xfrm>
          <a:prstGeom prst="rect">
            <a:avLst/>
          </a:prstGeom>
          <a:noFill/>
        </p:spPr>
        <p:txBody>
          <a:bodyPr wrap="none">
            <a:spAutoFit/>
          </a:bodyPr>
          <a:lstStyle/>
          <a:p>
            <a:pPr algn="ctr">
              <a:defRPr sz="12000">
                <a:solidFill>
                  <a:srgbClr val="505050"/>
                </a:solidFill>
                <a:latin typeface="Segoe UI Light"/>
              </a:defRPr>
            </a:pPr>
            <a:r>
              <a:t>02</a:t>
            </a:r>
          </a:p>
        </p:txBody>
      </p:sp>
      <p:sp>
        <p:nvSpPr>
          <p:cNvPr id="5" name="TextBox 4"/>
          <p:cNvSpPr txBox="1"/>
          <p:nvPr/>
        </p:nvSpPr>
        <p:spPr>
          <a:xfrm>
            <a:off x="457200" y="4846320"/>
            <a:ext cx="6647688" cy="914400"/>
          </a:xfrm>
          <a:prstGeom prst="rect">
            <a:avLst/>
          </a:prstGeom>
          <a:noFill/>
        </p:spPr>
        <p:txBody>
          <a:bodyPr wrap="none" anchor="t">
            <a:spAutoFit/>
          </a:bodyPr>
          <a:lstStyle/>
          <a:p>
            <a:pPr algn="ctr">
              <a:defRPr sz="4000" b="1">
                <a:solidFill>
                  <a:srgbClr val="FFFFFF"/>
                </a:solidFill>
                <a:latin typeface="Segoe UI"/>
              </a:defRPr>
            </a:pPr>
            <a:r>
              <a:t>MAQUETTAGE - PROJET COOLBOOKING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91440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7562088" cy="457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6647688" cy="548640"/>
          </a:xfrm>
          <a:prstGeom prst="rect">
            <a:avLst/>
          </a:prstGeom>
          <a:noFill/>
        </p:spPr>
        <p:txBody>
          <a:bodyPr wrap="none" anchor="t">
            <a:spAutoFit/>
          </a:bodyPr>
          <a:lstStyle/>
          <a:p>
            <a:pPr>
              <a:defRPr sz="2600" b="1">
                <a:solidFill>
                  <a:srgbClr val="FFFFFF"/>
                </a:solidFill>
                <a:latin typeface="Segoe UI Semibold"/>
              </a:defRPr>
            </a:pPr>
            <a:r>
              <a:t>Projet CoolBooking - Contexte</a:t>
            </a:r>
          </a:p>
        </p:txBody>
      </p:sp>
      <p:sp>
        <p:nvSpPr>
          <p:cNvPr id="5" name="TextBox 4"/>
          <p:cNvSpPr txBox="1"/>
          <p:nvPr/>
        </p:nvSpPr>
        <p:spPr>
          <a:xfrm>
            <a:off x="548640" y="1188720"/>
            <a:ext cx="6464808" cy="9144000"/>
          </a:xfrm>
          <a:prstGeom prst="rect">
            <a:avLst/>
          </a:prstGeom>
          <a:noFill/>
        </p:spPr>
        <p:txBody>
          <a:bodyPr wrap="square">
            <a:spAutoFit/>
          </a:bodyPr>
          <a:lstStyle/>
          <a:p>
            <a:pPr>
              <a:spcAft>
                <a:spcPts val="800"/>
              </a:spcAft>
              <a:defRPr sz="1600" b="1">
                <a:solidFill>
                  <a:srgbClr val="1A73E8"/>
                </a:solidFill>
                <a:latin typeface="Segoe UI"/>
              </a:defRPr>
            </a:pPr>
            <a:r>
              <a:t>📋 Présentation du projet fil-rouge</a:t>
            </a:r>
          </a:p>
          <a:p>
            <a:pPr>
              <a:spcAft>
                <a:spcPts val="800"/>
              </a:spcAft>
              <a:defRPr sz="1300">
                <a:solidFill>
                  <a:srgbClr val="3C4043"/>
                </a:solidFill>
                <a:latin typeface="Segoe UI"/>
              </a:defRPr>
            </a:pPr>
            <a:r>
              <a:t>CoolBooking est mon projet personnel (fil-rouge) développé parallèlement au stage.</a:t>
            </a:r>
          </a:p>
          <a:p>
            <a:pPr>
              <a:spcAft>
                <a:spcPts val="800"/>
              </a:spcAft>
              <a:defRPr sz="1300">
                <a:solidFill>
                  <a:srgbClr val="3C4043"/>
                </a:solidFill>
                <a:latin typeface="Segoe UI"/>
              </a:defRPr>
            </a:pPr>
            <a:r>
              <a:t>Plateforme de mise en relation entre propriétaires et locataires de biens immobiliers.</a:t>
            </a:r>
          </a:p>
          <a:p>
            <a:pPr>
              <a:spcAft>
                <a:spcPts val="800"/>
              </a:spcAft>
              <a:defRPr sz="1300">
                <a:solidFill>
                  <a:srgbClr val="3C4043"/>
                </a:solidFill>
                <a:latin typeface="Segoe UI"/>
              </a:defRPr>
            </a:pPr>
          </a:p>
          <a:p>
            <a:pPr>
              <a:spcAft>
                <a:spcPts val="800"/>
              </a:spcAft>
              <a:defRPr sz="1600" b="1">
                <a:solidFill>
                  <a:srgbClr val="1A73E8"/>
                </a:solidFill>
                <a:latin typeface="Segoe UI"/>
              </a:defRPr>
            </a:pPr>
            <a:r>
              <a:t>🎯 Objectif pédagogique</a:t>
            </a:r>
          </a:p>
          <a:p>
            <a:pPr>
              <a:spcAft>
                <a:spcPts val="800"/>
              </a:spcAft>
              <a:defRPr sz="1300">
                <a:solidFill>
                  <a:srgbClr val="3C4043"/>
                </a:solidFill>
                <a:latin typeface="Segoe UI"/>
              </a:defRPr>
            </a:pPr>
            <a:r>
              <a:t>Ce projet me permet d'expérimenter des technologies complémentaires à celles utilisées en stage :</a:t>
            </a:r>
          </a:p>
          <a:p>
            <a:pPr lvl="1">
              <a:spcAft>
                <a:spcPts val="800"/>
              </a:spcAft>
              <a:defRPr sz="1200">
                <a:solidFill>
                  <a:srgbClr val="3C4043"/>
                </a:solidFill>
                <a:latin typeface="Segoe UI"/>
              </a:defRPr>
            </a:pPr>
            <a:r>
              <a:t>→ Base de données relationnelle MariaDB (vs PostgreSQL de Strapi)</a:t>
            </a:r>
          </a:p>
          <a:p>
            <a:pPr lvl="1">
              <a:spcAft>
                <a:spcPts val="800"/>
              </a:spcAft>
              <a:defRPr sz="1200">
                <a:solidFill>
                  <a:srgbClr val="3C4043"/>
                </a:solidFill>
                <a:latin typeface="Segoe UI"/>
              </a:defRPr>
            </a:pPr>
            <a:r>
              <a:t>→ Backend Express custom (vs Strapi auto-généré)</a:t>
            </a:r>
          </a:p>
          <a:p>
            <a:pPr lvl="1">
              <a:spcAft>
                <a:spcPts val="800"/>
              </a:spcAft>
              <a:defRPr sz="1200">
                <a:solidFill>
                  <a:srgbClr val="3C4043"/>
                </a:solidFill>
                <a:latin typeface="Segoe UI"/>
              </a:defRPr>
            </a:pPr>
            <a:r>
              <a:t>→ Authentification JWT personnalisée</a:t>
            </a:r>
          </a:p>
          <a:p>
            <a:pPr lvl="1">
              <a:spcAft>
                <a:spcPts val="800"/>
              </a:spcAft>
              <a:defRPr sz="1200">
                <a:solidFill>
                  <a:srgbClr val="3C4043"/>
                </a:solidFill>
                <a:latin typeface="Segoe UI"/>
              </a:defRPr>
            </a:pPr>
            <a:r>
              <a:t>→ Architecture complète de A à Z</a:t>
            </a:r>
          </a:p>
          <a:p>
            <a:pPr>
              <a:spcAft>
                <a:spcPts val="800"/>
              </a:spcAft>
              <a:defRPr sz="1300">
                <a:solidFill>
                  <a:srgbClr val="3C4043"/>
                </a:solidFill>
                <a:latin typeface="Segoe UI"/>
              </a:defRPr>
            </a:pPr>
          </a:p>
          <a:p>
            <a:pPr>
              <a:spcAft>
                <a:spcPts val="800"/>
              </a:spcAft>
              <a:defRPr sz="1600" b="1">
                <a:solidFill>
                  <a:srgbClr val="1A73E8"/>
                </a:solidFill>
                <a:latin typeface="Segoe UI"/>
              </a:defRPr>
            </a:pPr>
            <a:r>
              <a:t>💡 Pourquoi deux projets ?</a:t>
            </a:r>
          </a:p>
          <a:p>
            <a:pPr>
              <a:spcAft>
                <a:spcPts val="800"/>
              </a:spcAft>
              <a:defRPr sz="1300">
                <a:solidFill>
                  <a:srgbClr val="3C4043"/>
                </a:solidFill>
                <a:latin typeface="Segoe UI"/>
              </a:defRPr>
            </a:pPr>
            <a:r>
              <a:t>Le projet APD (stage) utilise Strapi imposé par l'agence. Pour démontrer ma maîtrise complète d'une base de données relationnelle et d'un backend custom, j'ai choisi de présenter CoolBooking pour la partie backend du dossier.</a:t>
            </a:r>
          </a:p>
          <a:p>
            <a:pPr>
              <a:spcAft>
                <a:spcPts val="800"/>
              </a:spcAft>
              <a:defRPr sz="1300">
                <a:solidFill>
                  <a:srgbClr val="3C4043"/>
                </a:solidFill>
                <a:latin typeface="Segoe UI"/>
              </a:defRPr>
            </a:pPr>
          </a:p>
          <a:p>
            <a:pPr>
              <a:spcAft>
                <a:spcPts val="800"/>
              </a:spcAft>
              <a:defRPr sz="1300" b="1">
                <a:solidFill>
                  <a:srgbClr val="3C4043"/>
                </a:solidFill>
                <a:latin typeface="Segoe UI"/>
              </a:defRPr>
            </a:pPr>
            <a:r>
              <a:t>J'ai également expérimenté MongoDB sur ce projet, démontrant ma polyvalence entre bases relationnelles et NoSQL.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91440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7562088" cy="457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6647688" cy="548640"/>
          </a:xfrm>
          <a:prstGeom prst="rect">
            <a:avLst/>
          </a:prstGeom>
          <a:noFill/>
        </p:spPr>
        <p:txBody>
          <a:bodyPr wrap="none" anchor="t">
            <a:spAutoFit/>
          </a:bodyPr>
          <a:lstStyle/>
          <a:p>
            <a:pPr>
              <a:defRPr sz="2600" b="1">
                <a:solidFill>
                  <a:srgbClr val="FFFFFF"/>
                </a:solidFill>
                <a:latin typeface="Segoe UI Semibold"/>
              </a:defRPr>
            </a:pPr>
            <a:r>
              <a:t>CoolBooking - Cahier des Charges</a:t>
            </a:r>
          </a:p>
        </p:txBody>
      </p:sp>
      <p:sp>
        <p:nvSpPr>
          <p:cNvPr id="5" name="TextBox 4"/>
          <p:cNvSpPr txBox="1"/>
          <p:nvPr/>
        </p:nvSpPr>
        <p:spPr>
          <a:xfrm>
            <a:off x="548640" y="1188720"/>
            <a:ext cx="6464808" cy="9144000"/>
          </a:xfrm>
          <a:prstGeom prst="rect">
            <a:avLst/>
          </a:prstGeom>
          <a:noFill/>
        </p:spPr>
        <p:txBody>
          <a:bodyPr wrap="square">
            <a:spAutoFit/>
          </a:bodyPr>
          <a:lstStyle/>
          <a:p>
            <a:pPr>
              <a:spcAft>
                <a:spcPts val="800"/>
              </a:spcAft>
              <a:defRPr sz="1600" b="1">
                <a:solidFill>
                  <a:srgbClr val="3C4043"/>
                </a:solidFill>
                <a:latin typeface="Segoe UI"/>
              </a:defRPr>
            </a:pPr>
            <a:r>
              <a:t>📝 Fonctionnalités principales</a:t>
            </a:r>
          </a:p>
          <a:p>
            <a:pPr>
              <a:spcAft>
                <a:spcPts val="800"/>
              </a:spcAft>
              <a:defRPr sz="1300">
                <a:solidFill>
                  <a:srgbClr val="3C4043"/>
                </a:solidFill>
                <a:latin typeface="Segoe UI"/>
              </a:defRPr>
            </a:pPr>
          </a:p>
          <a:p>
            <a:pPr>
              <a:spcAft>
                <a:spcPts val="800"/>
              </a:spcAft>
              <a:defRPr sz="1400" b="1">
                <a:solidFill>
                  <a:srgbClr val="1A73E8"/>
                </a:solidFill>
                <a:latin typeface="Segoe UI"/>
              </a:defRPr>
            </a:pPr>
            <a:r>
              <a:t>Pour les propriétaires :</a:t>
            </a:r>
          </a:p>
          <a:p>
            <a:pPr>
              <a:spcAft>
                <a:spcPts val="800"/>
              </a:spcAft>
              <a:defRPr sz="1200">
                <a:solidFill>
                  <a:srgbClr val="3C4043"/>
                </a:solidFill>
                <a:latin typeface="Segoe UI"/>
              </a:defRPr>
            </a:pPr>
            <a:r>
              <a:t>✓ Inscription et création de profil</a:t>
            </a:r>
          </a:p>
          <a:p>
            <a:pPr>
              <a:spcAft>
                <a:spcPts val="800"/>
              </a:spcAft>
              <a:defRPr sz="1200">
                <a:solidFill>
                  <a:srgbClr val="3C4043"/>
                </a:solidFill>
                <a:latin typeface="Segoe UI"/>
              </a:defRPr>
            </a:pPr>
            <a:r>
              <a:t>✓ Publication d'annonces de location avec photos</a:t>
            </a:r>
          </a:p>
          <a:p>
            <a:pPr>
              <a:spcAft>
                <a:spcPts val="800"/>
              </a:spcAft>
              <a:defRPr sz="1200">
                <a:solidFill>
                  <a:srgbClr val="3C4043"/>
                </a:solidFill>
                <a:latin typeface="Segoe UI"/>
              </a:defRPr>
            </a:pPr>
            <a:r>
              <a:t>✓ Gestion de leurs annonces (CRUD complet)</a:t>
            </a:r>
          </a:p>
          <a:p>
            <a:pPr>
              <a:spcAft>
                <a:spcPts val="800"/>
              </a:spcAft>
              <a:defRPr sz="1200">
                <a:solidFill>
                  <a:srgbClr val="3C4043"/>
                </a:solidFill>
                <a:latin typeface="Segoe UI"/>
              </a:defRPr>
            </a:pPr>
            <a:r>
              <a:t>✓ Messagerie pour échanger avec les locataires</a:t>
            </a:r>
          </a:p>
          <a:p>
            <a:pPr>
              <a:spcAft>
                <a:spcPts val="800"/>
              </a:spcAft>
              <a:defRPr sz="1200">
                <a:solidFill>
                  <a:srgbClr val="3C4043"/>
                </a:solidFill>
                <a:latin typeface="Segoe UI"/>
              </a:defRPr>
            </a:pPr>
            <a:r>
              <a:t>✓ Consulter les biens disponibles en tant que locataire</a:t>
            </a:r>
          </a:p>
          <a:p>
            <a:pPr>
              <a:spcAft>
                <a:spcPts val="800"/>
              </a:spcAft>
              <a:defRPr sz="1300">
                <a:solidFill>
                  <a:srgbClr val="3C4043"/>
                </a:solidFill>
                <a:latin typeface="Segoe UI"/>
              </a:defRPr>
            </a:pPr>
          </a:p>
          <a:p>
            <a:pPr>
              <a:spcAft>
                <a:spcPts val="800"/>
              </a:spcAft>
              <a:defRPr sz="1400" b="1">
                <a:solidFill>
                  <a:srgbClr val="1A73E8"/>
                </a:solidFill>
                <a:latin typeface="Segoe UI"/>
              </a:defRPr>
            </a:pPr>
            <a:r>
              <a:t>Pour les locataires :</a:t>
            </a:r>
          </a:p>
          <a:p>
            <a:pPr>
              <a:spcAft>
                <a:spcPts val="800"/>
              </a:spcAft>
              <a:defRPr sz="1200">
                <a:solidFill>
                  <a:srgbClr val="3C4043"/>
                </a:solidFill>
                <a:latin typeface="Segoe UI"/>
              </a:defRPr>
            </a:pPr>
            <a:r>
              <a:t>✓ Inscription et profil</a:t>
            </a:r>
          </a:p>
          <a:p>
            <a:pPr>
              <a:spcAft>
                <a:spcPts val="800"/>
              </a:spcAft>
              <a:defRPr sz="1200">
                <a:solidFill>
                  <a:srgbClr val="3C4043"/>
                </a:solidFill>
                <a:latin typeface="Segoe UI"/>
              </a:defRPr>
            </a:pPr>
            <a:r>
              <a:t>✓ Recherche et consultation des annonces</a:t>
            </a:r>
          </a:p>
          <a:p>
            <a:pPr>
              <a:spcAft>
                <a:spcPts val="800"/>
              </a:spcAft>
              <a:defRPr sz="1200">
                <a:solidFill>
                  <a:srgbClr val="3C4043"/>
                </a:solidFill>
                <a:latin typeface="Segoe UI"/>
              </a:defRPr>
            </a:pPr>
            <a:r>
              <a:t>✓ Mise en favoris des annonces</a:t>
            </a:r>
          </a:p>
          <a:p>
            <a:pPr>
              <a:spcAft>
                <a:spcPts val="800"/>
              </a:spcAft>
              <a:defRPr sz="1200">
                <a:solidFill>
                  <a:srgbClr val="3C4043"/>
                </a:solidFill>
                <a:latin typeface="Segoe UI"/>
              </a:defRPr>
            </a:pPr>
            <a:r>
              <a:t>✓ Messagerie avec les propriétaires</a:t>
            </a:r>
          </a:p>
          <a:p>
            <a:pPr>
              <a:spcAft>
                <a:spcPts val="800"/>
              </a:spcAft>
              <a:defRPr sz="1300">
                <a:solidFill>
                  <a:srgbClr val="3C4043"/>
                </a:solidFill>
                <a:latin typeface="Segoe UI"/>
              </a:defRPr>
            </a:pPr>
          </a:p>
          <a:p>
            <a:pPr>
              <a:spcAft>
                <a:spcPts val="800"/>
              </a:spcAft>
              <a:defRPr sz="1400" b="1">
                <a:solidFill>
                  <a:srgbClr val="1A73E8"/>
                </a:solidFill>
                <a:latin typeface="Segoe UI"/>
              </a:defRPr>
            </a:pPr>
            <a:r>
              <a:t>Fonctionnalités transverses :</a:t>
            </a:r>
          </a:p>
          <a:p>
            <a:pPr>
              <a:spcAft>
                <a:spcPts val="800"/>
              </a:spcAft>
              <a:defRPr sz="1200">
                <a:solidFill>
                  <a:srgbClr val="3C4043"/>
                </a:solidFill>
                <a:latin typeface="Segoe UI"/>
              </a:defRPr>
            </a:pPr>
            <a:r>
              <a:t>✓ Authentification sécurisée (JWT + cookies HttpOnly)</a:t>
            </a:r>
          </a:p>
          <a:p>
            <a:pPr>
              <a:spcAft>
                <a:spcPts val="800"/>
              </a:spcAft>
              <a:defRPr sz="1200">
                <a:solidFill>
                  <a:srgbClr val="3C4043"/>
                </a:solidFill>
                <a:latin typeface="Segoe UI"/>
              </a:defRPr>
            </a:pPr>
            <a:r>
              <a:t>✓ Upload et stockage d'images (Cloudinary)</a:t>
            </a:r>
          </a:p>
          <a:p>
            <a:pPr>
              <a:spcAft>
                <a:spcPts val="800"/>
              </a:spcAft>
              <a:defRPr sz="1200">
                <a:solidFill>
                  <a:srgbClr val="3C4043"/>
                </a:solidFill>
                <a:latin typeface="Segoe UI"/>
              </a:defRPr>
            </a:pPr>
            <a:r>
              <a:t>✓ Gestion de compte (modification profil, avatar)</a:t>
            </a:r>
          </a:p>
          <a:p>
            <a:pPr>
              <a:spcAft>
                <a:spcPts val="800"/>
              </a:spcAft>
              <a:defRPr sz="1200">
                <a:solidFill>
                  <a:srgbClr val="3C4043"/>
                </a:solidFill>
                <a:latin typeface="Segoe UI"/>
              </a:defRPr>
            </a:pPr>
            <a:r>
              <a:t>✓ Responsive design mobile-first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91440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7562088" cy="457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6647688" cy="548640"/>
          </a:xfrm>
          <a:prstGeom prst="rect">
            <a:avLst/>
          </a:prstGeom>
          <a:noFill/>
        </p:spPr>
        <p:txBody>
          <a:bodyPr wrap="none" anchor="t">
            <a:spAutoFit/>
          </a:bodyPr>
          <a:lstStyle/>
          <a:p>
            <a:pPr>
              <a:defRPr sz="2600" b="1">
                <a:solidFill>
                  <a:srgbClr val="FFFFFF"/>
                </a:solidFill>
                <a:latin typeface="Segoe UI Semibold"/>
              </a:defRPr>
            </a:pPr>
            <a:r>
              <a:t>Maquettage Figma - Démarche</a:t>
            </a:r>
          </a:p>
        </p:txBody>
      </p:sp>
      <p:sp>
        <p:nvSpPr>
          <p:cNvPr id="5" name="TextBox 4"/>
          <p:cNvSpPr txBox="1"/>
          <p:nvPr/>
        </p:nvSpPr>
        <p:spPr>
          <a:xfrm>
            <a:off x="548640" y="1188720"/>
            <a:ext cx="6464808" cy="9144000"/>
          </a:xfrm>
          <a:prstGeom prst="rect">
            <a:avLst/>
          </a:prstGeom>
          <a:noFill/>
        </p:spPr>
        <p:txBody>
          <a:bodyPr wrap="square">
            <a:spAutoFit/>
          </a:bodyPr>
          <a:lstStyle/>
          <a:p>
            <a:pPr>
              <a:spcAft>
                <a:spcPts val="800"/>
              </a:spcAft>
              <a:defRPr sz="1600" b="1">
                <a:solidFill>
                  <a:srgbClr val="3C4043"/>
                </a:solidFill>
                <a:latin typeface="Segoe UI"/>
              </a:defRPr>
            </a:pPr>
            <a:r>
              <a:t>🎨 Processus de maquettage</a:t>
            </a:r>
          </a:p>
          <a:p>
            <a:pPr>
              <a:spcAft>
                <a:spcPts val="800"/>
              </a:spcAft>
              <a:defRPr sz="1300">
                <a:solidFill>
                  <a:srgbClr val="3C4043"/>
                </a:solidFill>
                <a:latin typeface="Segoe UI"/>
              </a:defRPr>
            </a:pPr>
          </a:p>
          <a:p>
            <a:pPr>
              <a:spcAft>
                <a:spcPts val="800"/>
              </a:spcAft>
              <a:defRPr sz="1300">
                <a:solidFill>
                  <a:srgbClr val="3C4043"/>
                </a:solidFill>
                <a:latin typeface="Segoe UI"/>
              </a:defRPr>
            </a:pPr>
            <a:r>
              <a:t>Pour CoolBooking, j'ai réalisé l'ensemble du maquettage sur Figma avant de développer l'application.</a:t>
            </a:r>
          </a:p>
          <a:p>
            <a:pPr>
              <a:spcAft>
                <a:spcPts val="800"/>
              </a:spcAft>
              <a:defRPr sz="1300">
                <a:solidFill>
                  <a:srgbClr val="3C4043"/>
                </a:solidFill>
                <a:latin typeface="Segoe UI"/>
              </a:defRPr>
            </a:pPr>
          </a:p>
          <a:p>
            <a:pPr>
              <a:spcAft>
                <a:spcPts val="800"/>
              </a:spcAft>
              <a:defRPr sz="1400" b="1">
                <a:solidFill>
                  <a:srgbClr val="1A73E8"/>
                </a:solidFill>
                <a:latin typeface="Segoe UI"/>
              </a:defRPr>
            </a:pPr>
            <a:r>
              <a:t>1. Analyse des besoins utilisateurs</a:t>
            </a:r>
          </a:p>
          <a:p>
            <a:pPr>
              <a:spcAft>
                <a:spcPts val="800"/>
              </a:spcAft>
              <a:defRPr sz="1200">
                <a:solidFill>
                  <a:srgbClr val="3C4043"/>
                </a:solidFill>
                <a:latin typeface="Segoe UI"/>
              </a:defRPr>
            </a:pPr>
            <a:r>
              <a:t>Identification des parcours utilisateurs (propriétaire vs locataire)</a:t>
            </a:r>
          </a:p>
          <a:p>
            <a:pPr>
              <a:spcAft>
                <a:spcPts val="800"/>
              </a:spcAft>
              <a:defRPr sz="1200">
                <a:solidFill>
                  <a:srgbClr val="3C4043"/>
                </a:solidFill>
                <a:latin typeface="Segoe UI"/>
              </a:defRPr>
            </a:pPr>
            <a:r>
              <a:t>Définition des fonctionnalités essentielles (MVP)</a:t>
            </a:r>
          </a:p>
          <a:p>
            <a:pPr>
              <a:spcAft>
                <a:spcPts val="800"/>
              </a:spcAft>
              <a:defRPr sz="1300">
                <a:solidFill>
                  <a:srgbClr val="3C4043"/>
                </a:solidFill>
                <a:latin typeface="Segoe UI"/>
              </a:defRPr>
            </a:pPr>
          </a:p>
          <a:p>
            <a:pPr>
              <a:spcAft>
                <a:spcPts val="800"/>
              </a:spcAft>
              <a:defRPr sz="1400" b="1">
                <a:solidFill>
                  <a:srgbClr val="1A73E8"/>
                </a:solidFill>
                <a:latin typeface="Segoe UI"/>
              </a:defRPr>
            </a:pPr>
            <a:r>
              <a:t>2. Wireframes basse fidélité</a:t>
            </a:r>
          </a:p>
          <a:p>
            <a:pPr>
              <a:spcAft>
                <a:spcPts val="800"/>
              </a:spcAft>
              <a:defRPr sz="1200">
                <a:solidFill>
                  <a:srgbClr val="3C4043"/>
                </a:solidFill>
                <a:latin typeface="Segoe UI"/>
              </a:defRPr>
            </a:pPr>
            <a:r>
              <a:t>Esquisse de la structure des pages principales</a:t>
            </a:r>
          </a:p>
          <a:p>
            <a:pPr>
              <a:spcAft>
                <a:spcPts val="800"/>
              </a:spcAft>
              <a:defRPr sz="1200">
                <a:solidFill>
                  <a:srgbClr val="3C4043"/>
                </a:solidFill>
                <a:latin typeface="Segoe UI"/>
              </a:defRPr>
            </a:pPr>
            <a:r>
              <a:t>Organisation de l'information et hiérarchie visuelle</a:t>
            </a:r>
          </a:p>
          <a:p>
            <a:pPr>
              <a:spcAft>
                <a:spcPts val="800"/>
              </a:spcAft>
              <a:defRPr sz="1300">
                <a:solidFill>
                  <a:srgbClr val="3C4043"/>
                </a:solidFill>
                <a:latin typeface="Segoe UI"/>
              </a:defRPr>
            </a:pPr>
          </a:p>
          <a:p>
            <a:pPr>
              <a:spcAft>
                <a:spcPts val="800"/>
              </a:spcAft>
              <a:defRPr sz="1400" b="1">
                <a:solidFill>
                  <a:srgbClr val="1A73E8"/>
                </a:solidFill>
                <a:latin typeface="Segoe UI"/>
              </a:defRPr>
            </a:pPr>
            <a:r>
              <a:t>3. Maquettes haute fidélité</a:t>
            </a:r>
          </a:p>
          <a:p>
            <a:pPr>
              <a:spcAft>
                <a:spcPts val="800"/>
              </a:spcAft>
              <a:defRPr sz="1200">
                <a:solidFill>
                  <a:srgbClr val="3C4043"/>
                </a:solidFill>
                <a:latin typeface="Segoe UI"/>
              </a:defRPr>
            </a:pPr>
            <a:r>
              <a:t>Design des écrans desktop et mobile</a:t>
            </a:r>
          </a:p>
          <a:p>
            <a:pPr>
              <a:spcAft>
                <a:spcPts val="800"/>
              </a:spcAft>
              <a:defRPr sz="1200">
                <a:solidFill>
                  <a:srgbClr val="3C4043"/>
                </a:solidFill>
                <a:latin typeface="Segoe UI"/>
              </a:defRPr>
            </a:pPr>
            <a:r>
              <a:t>Choix de la charte graphique (couleurs, typographie)</a:t>
            </a:r>
          </a:p>
          <a:p>
            <a:pPr>
              <a:spcAft>
                <a:spcPts val="800"/>
              </a:spcAft>
              <a:defRPr sz="1200">
                <a:solidFill>
                  <a:srgbClr val="3C4043"/>
                </a:solidFill>
                <a:latin typeface="Segoe UI"/>
              </a:defRPr>
            </a:pPr>
            <a:r>
              <a:t>Création des composants réutilisables</a:t>
            </a:r>
          </a:p>
          <a:p>
            <a:pPr>
              <a:spcAft>
                <a:spcPts val="800"/>
              </a:spcAft>
              <a:defRPr sz="1300">
                <a:solidFill>
                  <a:srgbClr val="3C4043"/>
                </a:solidFill>
                <a:latin typeface="Segoe UI"/>
              </a:defRPr>
            </a:pPr>
          </a:p>
          <a:p>
            <a:pPr>
              <a:spcAft>
                <a:spcPts val="800"/>
              </a:spcAft>
              <a:defRPr sz="1400" b="1">
                <a:solidFill>
                  <a:srgbClr val="1A73E8"/>
                </a:solidFill>
                <a:latin typeface="Segoe UI"/>
              </a:defRPr>
            </a:pPr>
            <a:r>
              <a:t>4. Prototypage interactif</a:t>
            </a:r>
          </a:p>
          <a:p>
            <a:pPr>
              <a:spcAft>
                <a:spcPts val="800"/>
              </a:spcAft>
              <a:defRPr sz="1200">
                <a:solidFill>
                  <a:srgbClr val="3C4043"/>
                </a:solidFill>
                <a:latin typeface="Segoe UI"/>
              </a:defRPr>
            </a:pPr>
            <a:r>
              <a:t>Liens entre les pages pour simuler la navigation</a:t>
            </a:r>
          </a:p>
          <a:p>
            <a:pPr>
              <a:spcAft>
                <a:spcPts val="800"/>
              </a:spcAft>
              <a:defRPr sz="1200">
                <a:solidFill>
                  <a:srgbClr val="3C4043"/>
                </a:solidFill>
                <a:latin typeface="Segoe UI"/>
              </a:defRPr>
            </a:pPr>
            <a:r>
              <a:t>Test du parcours utilisateur</a:t>
            </a:r>
          </a:p>
          <a:p>
            <a:pPr>
              <a:spcAft>
                <a:spcPts val="800"/>
              </a:spcAft>
              <a:defRPr sz="1300">
                <a:solidFill>
                  <a:srgbClr val="3C4043"/>
                </a:solidFill>
                <a:latin typeface="Segoe UI"/>
              </a:defRPr>
            </a:pPr>
          </a:p>
          <a:p>
            <a:pPr>
              <a:spcAft>
                <a:spcPts val="800"/>
              </a:spcAft>
              <a:defRPr sz="1400" b="1">
                <a:solidFill>
                  <a:srgbClr val="3C4043"/>
                </a:solidFill>
                <a:latin typeface="Segoe UI"/>
              </a:defRPr>
            </a:pPr>
            <a:r>
              <a:t>🔗 Lien Figma :</a:t>
            </a:r>
          </a:p>
          <a:p>
            <a:pPr>
              <a:spcAft>
                <a:spcPts val="800"/>
              </a:spcAft>
              <a:defRPr sz="1000">
                <a:solidFill>
                  <a:srgbClr val="3C4043"/>
                </a:solidFill>
                <a:latin typeface="Courier New"/>
              </a:defRPr>
            </a:pPr>
            <a:r>
              <a:t>https://www.figma.com/design/zY3c9cuy1BIWtWpgnjX2Sd/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91440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7562088" cy="457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6647688" cy="548640"/>
          </a:xfrm>
          <a:prstGeom prst="rect">
            <a:avLst/>
          </a:prstGeom>
          <a:noFill/>
        </p:spPr>
        <p:txBody>
          <a:bodyPr wrap="none" anchor="t">
            <a:spAutoFit/>
          </a:bodyPr>
          <a:lstStyle/>
          <a:p>
            <a:pPr>
              <a:defRPr sz="2600" b="1">
                <a:solidFill>
                  <a:srgbClr val="FFFFFF"/>
                </a:solidFill>
                <a:latin typeface="Segoe UI Semibold"/>
              </a:defRPr>
            </a:pPr>
            <a:r>
              <a:t>Charte Graphique CoolBooking</a:t>
            </a:r>
          </a:p>
        </p:txBody>
      </p:sp>
      <p:sp>
        <p:nvSpPr>
          <p:cNvPr id="5" name="TextBox 4"/>
          <p:cNvSpPr txBox="1"/>
          <p:nvPr/>
        </p:nvSpPr>
        <p:spPr>
          <a:xfrm>
            <a:off x="548640" y="1188720"/>
            <a:ext cx="6464808" cy="9144000"/>
          </a:xfrm>
          <a:prstGeom prst="rect">
            <a:avLst/>
          </a:prstGeom>
          <a:noFill/>
        </p:spPr>
        <p:txBody>
          <a:bodyPr wrap="square">
            <a:spAutoFit/>
          </a:bodyPr>
          <a:lstStyle/>
          <a:p>
            <a:pPr>
              <a:spcAft>
                <a:spcPts val="800"/>
              </a:spcAft>
              <a:defRPr sz="1600" b="1">
                <a:solidFill>
                  <a:srgbClr val="3C4043"/>
                </a:solidFill>
                <a:latin typeface="Segoe UI"/>
              </a:defRPr>
            </a:pPr>
            <a:r>
              <a:t>🎨 Identité visuelle</a:t>
            </a:r>
          </a:p>
          <a:p>
            <a:pPr>
              <a:spcAft>
                <a:spcPts val="800"/>
              </a:spcAft>
              <a:defRPr sz="1300">
                <a:solidFill>
                  <a:srgbClr val="3C4043"/>
                </a:solidFill>
                <a:latin typeface="Segoe UI"/>
              </a:defRPr>
            </a:pPr>
          </a:p>
          <a:p>
            <a:pPr>
              <a:spcAft>
                <a:spcPts val="800"/>
              </a:spcAft>
              <a:defRPr sz="1400" b="1">
                <a:solidFill>
                  <a:srgbClr val="1A73E8"/>
                </a:solidFill>
                <a:latin typeface="Segoe UI"/>
              </a:defRPr>
            </a:pPr>
            <a:r>
              <a:t>Palette de couleurs :</a:t>
            </a:r>
          </a:p>
          <a:p>
            <a:pPr>
              <a:spcAft>
                <a:spcPts val="800"/>
              </a:spcAft>
              <a:defRPr sz="1200">
                <a:solidFill>
                  <a:srgbClr val="3C4043"/>
                </a:solidFill>
                <a:latin typeface="Segoe UI"/>
              </a:defRPr>
            </a:pPr>
            <a:r>
              <a:t>• Couleur principale : Bleu (#2563EB) - Confiance et professionnalisme</a:t>
            </a:r>
          </a:p>
          <a:p>
            <a:pPr>
              <a:spcAft>
                <a:spcPts val="800"/>
              </a:spcAft>
              <a:defRPr sz="1200">
                <a:solidFill>
                  <a:srgbClr val="3C4043"/>
                </a:solidFill>
                <a:latin typeface="Segoe UI"/>
              </a:defRPr>
            </a:pPr>
            <a:r>
              <a:t>• Couleur secondaire : Orange (#F97316) - Chaleur et convivialité</a:t>
            </a:r>
          </a:p>
          <a:p>
            <a:pPr>
              <a:spcAft>
                <a:spcPts val="800"/>
              </a:spcAft>
              <a:defRPr sz="1200">
                <a:solidFill>
                  <a:srgbClr val="3C4043"/>
                </a:solidFill>
                <a:latin typeface="Segoe UI"/>
              </a:defRPr>
            </a:pPr>
            <a:r>
              <a:t>• Couleur accent : Vert (#10B981) - Validation et succès</a:t>
            </a:r>
          </a:p>
          <a:p>
            <a:pPr>
              <a:spcAft>
                <a:spcPts val="800"/>
              </a:spcAft>
              <a:defRPr sz="1200">
                <a:solidFill>
                  <a:srgbClr val="3C4043"/>
                </a:solidFill>
                <a:latin typeface="Segoe UI"/>
              </a:defRPr>
            </a:pPr>
            <a:r>
              <a:t>• Tons neutres : Gris (#64748B) - Équilibre et sobriété</a:t>
            </a:r>
          </a:p>
          <a:p>
            <a:pPr>
              <a:spcAft>
                <a:spcPts val="800"/>
              </a:spcAft>
              <a:defRPr sz="1300">
                <a:solidFill>
                  <a:srgbClr val="3C4043"/>
                </a:solidFill>
                <a:latin typeface="Segoe UI"/>
              </a:defRPr>
            </a:pPr>
          </a:p>
          <a:p>
            <a:pPr>
              <a:spcAft>
                <a:spcPts val="800"/>
              </a:spcAft>
              <a:defRPr sz="1400" b="1">
                <a:solidFill>
                  <a:srgbClr val="1A73E8"/>
                </a:solidFill>
                <a:latin typeface="Segoe UI"/>
              </a:defRPr>
            </a:pPr>
            <a:r>
              <a:t>Typographie :</a:t>
            </a:r>
          </a:p>
          <a:p>
            <a:pPr>
              <a:spcAft>
                <a:spcPts val="800"/>
              </a:spcAft>
              <a:defRPr sz="1200">
                <a:solidFill>
                  <a:srgbClr val="3C4043"/>
                </a:solidFill>
                <a:latin typeface="Segoe UI"/>
              </a:defRPr>
            </a:pPr>
            <a:r>
              <a:t>• Titres : Jockey One (caractère distinctif, mémorabilité)</a:t>
            </a:r>
          </a:p>
          <a:p>
            <a:pPr>
              <a:spcAft>
                <a:spcPts val="800"/>
              </a:spcAft>
              <a:defRPr sz="1200">
                <a:solidFill>
                  <a:srgbClr val="3C4043"/>
                </a:solidFill>
                <a:latin typeface="Segoe UI"/>
              </a:defRPr>
            </a:pPr>
            <a:r>
              <a:t>• Corps de texte : Quicksand (lisibilité, modernité)</a:t>
            </a:r>
          </a:p>
          <a:p>
            <a:pPr>
              <a:spcAft>
                <a:spcPts val="800"/>
              </a:spcAft>
              <a:defRPr sz="1200">
                <a:solidFill>
                  <a:srgbClr val="3C4043"/>
                </a:solidFill>
                <a:latin typeface="Segoe UI"/>
              </a:defRPr>
            </a:pPr>
            <a:r>
              <a:t>• Hiérarchie claire : H1 (32px), H2 (24px), Body (16px)</a:t>
            </a:r>
          </a:p>
          <a:p>
            <a:pPr>
              <a:spcAft>
                <a:spcPts val="800"/>
              </a:spcAft>
              <a:defRPr sz="1300">
                <a:solidFill>
                  <a:srgbClr val="3C4043"/>
                </a:solidFill>
                <a:latin typeface="Segoe UI"/>
              </a:defRPr>
            </a:pPr>
          </a:p>
          <a:p>
            <a:pPr>
              <a:spcAft>
                <a:spcPts val="800"/>
              </a:spcAft>
              <a:defRPr sz="1400" b="1">
                <a:solidFill>
                  <a:srgbClr val="1A73E8"/>
                </a:solidFill>
                <a:latin typeface="Segoe UI"/>
              </a:defRPr>
            </a:pPr>
            <a:r>
              <a:t>Principes de design :</a:t>
            </a:r>
          </a:p>
          <a:p>
            <a:pPr>
              <a:spcAft>
                <a:spcPts val="800"/>
              </a:spcAft>
              <a:defRPr sz="1200">
                <a:solidFill>
                  <a:srgbClr val="3C4043"/>
                </a:solidFill>
                <a:latin typeface="Segoe UI"/>
              </a:defRPr>
            </a:pPr>
            <a:r>
              <a:t>• Espacements généreux pour une lecture confortable</a:t>
            </a:r>
          </a:p>
          <a:p>
            <a:pPr>
              <a:spcAft>
                <a:spcPts val="800"/>
              </a:spcAft>
              <a:defRPr sz="1200">
                <a:solidFill>
                  <a:srgbClr val="3C4043"/>
                </a:solidFill>
                <a:latin typeface="Segoe UI"/>
              </a:defRPr>
            </a:pPr>
            <a:r>
              <a:t>• Coins arrondis pour une apparence moderne et douce</a:t>
            </a:r>
          </a:p>
          <a:p>
            <a:pPr>
              <a:spcAft>
                <a:spcPts val="800"/>
              </a:spcAft>
              <a:defRPr sz="1200">
                <a:solidFill>
                  <a:srgbClr val="3C4043"/>
                </a:solidFill>
                <a:latin typeface="Segoe UI"/>
              </a:defRPr>
            </a:pPr>
            <a:r>
              <a:t>• Ombres subtiles pour la profondeur et la hiérarchie</a:t>
            </a:r>
          </a:p>
          <a:p>
            <a:pPr>
              <a:spcAft>
                <a:spcPts val="800"/>
              </a:spcAft>
              <a:defRPr sz="1200">
                <a:solidFill>
                  <a:srgbClr val="3C4043"/>
                </a:solidFill>
                <a:latin typeface="Segoe UI"/>
              </a:defRPr>
            </a:pPr>
            <a:r>
              <a:t>• Boutons CTA bien visibles avec hover effects</a:t>
            </a:r>
          </a:p>
          <a:p>
            <a:pPr>
              <a:spcAft>
                <a:spcPts val="800"/>
              </a:spcAft>
              <a:defRPr sz="1200">
                <a:solidFill>
                  <a:srgbClr val="3C4043"/>
                </a:solidFill>
                <a:latin typeface="Segoe UI"/>
              </a:defRPr>
            </a:pPr>
            <a:r>
              <a:t>• Images en pleine largeur pour valoriser les biens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91440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7562088" cy="457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6647688" cy="548640"/>
          </a:xfrm>
          <a:prstGeom prst="rect">
            <a:avLst/>
          </a:prstGeom>
          <a:noFill/>
        </p:spPr>
        <p:txBody>
          <a:bodyPr wrap="none" anchor="t">
            <a:spAutoFit/>
          </a:bodyPr>
          <a:lstStyle/>
          <a:p>
            <a:pPr>
              <a:defRPr sz="2600" b="1">
                <a:solidFill>
                  <a:srgbClr val="FFFFFF"/>
                </a:solidFill>
                <a:latin typeface="Segoe UI Semibold"/>
              </a:defRPr>
            </a:pPr>
            <a:r>
              <a:t>Maquettes Figma - Pages d'Authentification</a:t>
            </a:r>
          </a:p>
        </p:txBody>
      </p:sp>
      <p:sp>
        <p:nvSpPr>
          <p:cNvPr id="5" name="TextBox 4"/>
          <p:cNvSpPr txBox="1"/>
          <p:nvPr/>
        </p:nvSpPr>
        <p:spPr>
          <a:xfrm>
            <a:off x="548640" y="1188720"/>
            <a:ext cx="6464808" cy="9144000"/>
          </a:xfrm>
          <a:prstGeom prst="rect">
            <a:avLst/>
          </a:prstGeom>
          <a:noFill/>
        </p:spPr>
        <p:txBody>
          <a:bodyPr wrap="square">
            <a:spAutoFit/>
          </a:bodyPr>
          <a:lstStyle/>
          <a:p>
            <a:pPr>
              <a:spcAft>
                <a:spcPts val="800"/>
              </a:spcAft>
              <a:defRPr sz="1600" b="1">
                <a:solidFill>
                  <a:srgbClr val="3C4043"/>
                </a:solidFill>
                <a:latin typeface="Segoe UI"/>
              </a:defRPr>
            </a:pPr>
            <a:r>
              <a:t>🔐 Écrans d'inscription et connexion</a:t>
            </a:r>
          </a:p>
          <a:p>
            <a:pPr>
              <a:spcAft>
                <a:spcPts val="800"/>
              </a:spcAft>
              <a:defRPr sz="1300">
                <a:solidFill>
                  <a:srgbClr val="3C4043"/>
                </a:solidFill>
                <a:latin typeface="Segoe UI"/>
              </a:defRPr>
            </a:pPr>
          </a:p>
          <a:p>
            <a:pPr>
              <a:spcAft>
                <a:spcPts val="800"/>
              </a:spcAft>
              <a:defRPr sz="1400" b="1">
                <a:solidFill>
                  <a:srgbClr val="1A73E8"/>
                </a:solidFill>
                <a:latin typeface="Segoe UI"/>
              </a:defRPr>
            </a:pPr>
            <a:r>
              <a:t>Page Inscription :</a:t>
            </a:r>
          </a:p>
          <a:p>
            <a:pPr>
              <a:spcAft>
                <a:spcPts val="800"/>
              </a:spcAft>
              <a:defRPr sz="1200">
                <a:solidFill>
                  <a:srgbClr val="3C4043"/>
                </a:solidFill>
                <a:latin typeface="Segoe UI"/>
              </a:defRPr>
            </a:pPr>
            <a:r>
              <a:t>• Formulaire en deux colonnes : infos personnelles + photo profil</a:t>
            </a:r>
          </a:p>
          <a:p>
            <a:pPr>
              <a:spcAft>
                <a:spcPts val="800"/>
              </a:spcAft>
              <a:defRPr sz="1200">
                <a:solidFill>
                  <a:srgbClr val="3C4043"/>
                </a:solidFill>
                <a:latin typeface="Segoe UI"/>
              </a:defRPr>
            </a:pPr>
            <a:r>
              <a:t>• Choix du rôle (propriétaire/locataire) avec explications</a:t>
            </a:r>
          </a:p>
          <a:p>
            <a:pPr>
              <a:spcAft>
                <a:spcPts val="800"/>
              </a:spcAft>
              <a:defRPr sz="1200">
                <a:solidFill>
                  <a:srgbClr val="3C4043"/>
                </a:solidFill>
                <a:latin typeface="Segoe UI"/>
              </a:defRPr>
            </a:pPr>
            <a:r>
              <a:t>• Upload d'avatar avec prévisualisation en temps réel</a:t>
            </a:r>
          </a:p>
          <a:p>
            <a:pPr>
              <a:spcAft>
                <a:spcPts val="800"/>
              </a:spcAft>
              <a:defRPr sz="1200">
                <a:solidFill>
                  <a:srgbClr val="3C4043"/>
                </a:solidFill>
                <a:latin typeface="Segoe UI"/>
              </a:defRPr>
            </a:pPr>
            <a:r>
              <a:t>• Validation côté client avec messages d'erreur clairs</a:t>
            </a:r>
          </a:p>
          <a:p>
            <a:pPr>
              <a:spcAft>
                <a:spcPts val="800"/>
              </a:spcAft>
              <a:defRPr sz="1200">
                <a:solidFill>
                  <a:srgbClr val="3C4043"/>
                </a:solidFill>
                <a:latin typeface="Segoe UI"/>
              </a:defRPr>
            </a:pPr>
            <a:r>
              <a:t>• Design épuré pour faciliter la conversion</a:t>
            </a:r>
          </a:p>
          <a:p>
            <a:pPr>
              <a:spcAft>
                <a:spcPts val="800"/>
              </a:spcAft>
              <a:defRPr sz="1300">
                <a:solidFill>
                  <a:srgbClr val="3C4043"/>
                </a:solidFill>
                <a:latin typeface="Segoe UI"/>
              </a:defRPr>
            </a:pPr>
          </a:p>
          <a:p>
            <a:pPr>
              <a:spcAft>
                <a:spcPts val="800"/>
              </a:spcAft>
              <a:defRPr sz="1400" b="1">
                <a:solidFill>
                  <a:srgbClr val="1A73E8"/>
                </a:solidFill>
                <a:latin typeface="Segoe UI"/>
              </a:defRPr>
            </a:pPr>
            <a:r>
              <a:t>Page Connexion :</a:t>
            </a:r>
          </a:p>
          <a:p>
            <a:pPr>
              <a:spcAft>
                <a:spcPts val="800"/>
              </a:spcAft>
              <a:defRPr sz="1200">
                <a:solidFill>
                  <a:srgbClr val="3C4043"/>
                </a:solidFill>
                <a:latin typeface="Segoe UI"/>
              </a:defRPr>
            </a:pPr>
            <a:r>
              <a:t>• Formulaire minimaliste (email + mot de passe)</a:t>
            </a:r>
          </a:p>
          <a:p>
            <a:pPr>
              <a:spcAft>
                <a:spcPts val="800"/>
              </a:spcAft>
              <a:defRPr sz="1200">
                <a:solidFill>
                  <a:srgbClr val="3C4043"/>
                </a:solidFill>
                <a:latin typeface="Segoe UI"/>
              </a:defRPr>
            </a:pPr>
            <a:r>
              <a:t>• Bouton CTA bien visible</a:t>
            </a:r>
          </a:p>
          <a:p>
            <a:pPr>
              <a:spcAft>
                <a:spcPts val="800"/>
              </a:spcAft>
              <a:defRPr sz="1200">
                <a:solidFill>
                  <a:srgbClr val="3C4043"/>
                </a:solidFill>
                <a:latin typeface="Segoe UI"/>
              </a:defRPr>
            </a:pPr>
            <a:r>
              <a:t>• Lien vers inscription pour les nouveaux utilisateurs</a:t>
            </a:r>
          </a:p>
          <a:p>
            <a:pPr>
              <a:spcAft>
                <a:spcPts val="800"/>
              </a:spcAft>
              <a:defRPr sz="1300">
                <a:solidFill>
                  <a:srgbClr val="3C4043"/>
                </a:solidFill>
                <a:latin typeface="Segoe UI"/>
              </a:defRPr>
            </a:pPr>
          </a:p>
          <a:p>
            <a:pPr>
              <a:spcAft>
                <a:spcPts val="800"/>
              </a:spcAft>
              <a:defRPr sz="1400" b="1">
                <a:solidFill>
                  <a:srgbClr val="3C4043"/>
                </a:solidFill>
                <a:latin typeface="Segoe UI"/>
              </a:defRPr>
            </a:pPr>
            <a:r>
              <a:t>💡 Choix UX :</a:t>
            </a:r>
          </a:p>
          <a:p>
            <a:pPr>
              <a:spcAft>
                <a:spcPts val="800"/>
              </a:spcAft>
              <a:defRPr sz="1200">
                <a:solidFill>
                  <a:srgbClr val="3C4043"/>
                </a:solidFill>
                <a:latin typeface="Segoe UI"/>
              </a:defRPr>
            </a:pPr>
            <a:r>
              <a:t>J'ai opté pour un processus d'inscription en une seule étape pour limiter la friction. Le choix du rôle déclenche une modal explicative pour guider l'utilisateur.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91440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7562088" cy="457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6647688" cy="548640"/>
          </a:xfrm>
          <a:prstGeom prst="rect">
            <a:avLst/>
          </a:prstGeom>
          <a:noFill/>
        </p:spPr>
        <p:txBody>
          <a:bodyPr wrap="none" anchor="t">
            <a:spAutoFit/>
          </a:bodyPr>
          <a:lstStyle/>
          <a:p>
            <a:pPr>
              <a:defRPr sz="2600" b="1">
                <a:solidFill>
                  <a:srgbClr val="FFFFFF"/>
                </a:solidFill>
                <a:latin typeface="Segoe UI Semibold"/>
              </a:defRPr>
            </a:pPr>
            <a:r>
              <a:t>Compétences Maquettage Démontrées</a:t>
            </a:r>
          </a:p>
        </p:txBody>
      </p:sp>
      <p:sp>
        <p:nvSpPr>
          <p:cNvPr id="5" name="TextBox 4"/>
          <p:cNvSpPr txBox="1"/>
          <p:nvPr/>
        </p:nvSpPr>
        <p:spPr>
          <a:xfrm>
            <a:off x="548640" y="1188720"/>
            <a:ext cx="6464808" cy="9144000"/>
          </a:xfrm>
          <a:prstGeom prst="rect">
            <a:avLst/>
          </a:prstGeom>
          <a:noFill/>
        </p:spPr>
        <p:txBody>
          <a:bodyPr wrap="square">
            <a:spAutoFit/>
          </a:bodyPr>
          <a:lstStyle/>
          <a:p>
            <a:pPr>
              <a:spcAft>
                <a:spcPts val="800"/>
              </a:spcAft>
              <a:defRPr sz="1600" b="1">
                <a:solidFill>
                  <a:srgbClr val="3C4043"/>
                </a:solidFill>
                <a:latin typeface="Segoe UI"/>
              </a:defRPr>
            </a:pPr>
            <a:r>
              <a:t>✅ Attendus TP DWWM - Maquettage (Projet CoolBooking)</a:t>
            </a:r>
          </a:p>
          <a:p>
            <a:pPr>
              <a:spcAft>
                <a:spcPts val="800"/>
              </a:spcAft>
              <a:defRPr sz="1300">
                <a:solidFill>
                  <a:srgbClr val="3C4043"/>
                </a:solidFill>
                <a:latin typeface="Segoe UI"/>
              </a:defRPr>
            </a:pPr>
          </a:p>
          <a:p>
            <a:pPr>
              <a:spcAft>
                <a:spcPts val="800"/>
              </a:spcAft>
              <a:defRPr sz="1400" b="1">
                <a:solidFill>
                  <a:srgbClr val="1A73E8"/>
                </a:solidFill>
                <a:latin typeface="Segoe UI"/>
              </a:defRPr>
            </a:pPr>
            <a:r>
              <a:t>1. Maquetter une application</a:t>
            </a:r>
          </a:p>
          <a:p>
            <a:pPr>
              <a:spcAft>
                <a:spcPts val="800"/>
              </a:spcAft>
              <a:defRPr sz="1200">
                <a:solidFill>
                  <a:srgbClr val="3C4043"/>
                </a:solidFill>
                <a:latin typeface="Segoe UI"/>
              </a:defRPr>
            </a:pPr>
            <a:r>
              <a:t>✓ Utilisation professionnelle de Figma</a:t>
            </a:r>
          </a:p>
          <a:p>
            <a:pPr>
              <a:spcAft>
                <a:spcPts val="800"/>
              </a:spcAft>
              <a:defRPr sz="1200">
                <a:solidFill>
                  <a:srgbClr val="3C4043"/>
                </a:solidFill>
                <a:latin typeface="Segoe UI"/>
              </a:defRPr>
            </a:pPr>
            <a:r>
              <a:t>✓ Création de wireframes et maquettes haute fidélité</a:t>
            </a:r>
          </a:p>
          <a:p>
            <a:pPr>
              <a:spcAft>
                <a:spcPts val="800"/>
              </a:spcAft>
              <a:defRPr sz="1200">
                <a:solidFill>
                  <a:srgbClr val="3C4043"/>
                </a:solidFill>
                <a:latin typeface="Segoe UI"/>
              </a:defRPr>
            </a:pPr>
            <a:r>
              <a:t>✓ Prototypage interactif avec navigation</a:t>
            </a:r>
          </a:p>
          <a:p>
            <a:pPr>
              <a:spcAft>
                <a:spcPts val="800"/>
              </a:spcAft>
              <a:defRPr sz="1200">
                <a:solidFill>
                  <a:srgbClr val="3C4043"/>
                </a:solidFill>
                <a:latin typeface="Segoe UI"/>
              </a:defRPr>
            </a:pPr>
            <a:r>
              <a:t>✓ Design system avec composants réutilisables</a:t>
            </a:r>
          </a:p>
          <a:p>
            <a:pPr>
              <a:spcAft>
                <a:spcPts val="800"/>
              </a:spcAft>
              <a:defRPr sz="1300">
                <a:solidFill>
                  <a:srgbClr val="3C4043"/>
                </a:solidFill>
                <a:latin typeface="Segoe UI"/>
              </a:defRPr>
            </a:pPr>
          </a:p>
          <a:p>
            <a:pPr>
              <a:spcAft>
                <a:spcPts val="800"/>
              </a:spcAft>
              <a:defRPr sz="1400" b="1">
                <a:solidFill>
                  <a:srgbClr val="1A73E8"/>
                </a:solidFill>
                <a:latin typeface="Segoe UI"/>
              </a:defRPr>
            </a:pPr>
            <a:r>
              <a:t>2. Conception centrée utilisateur</a:t>
            </a:r>
          </a:p>
          <a:p>
            <a:pPr>
              <a:spcAft>
                <a:spcPts val="800"/>
              </a:spcAft>
              <a:defRPr sz="1200">
                <a:solidFill>
                  <a:srgbClr val="3C4043"/>
                </a:solidFill>
                <a:latin typeface="Segoe UI"/>
              </a:defRPr>
            </a:pPr>
            <a:r>
              <a:t>✓ Analyse des besoins et personas (propriétaire/locataire)</a:t>
            </a:r>
          </a:p>
          <a:p>
            <a:pPr>
              <a:spcAft>
                <a:spcPts val="800"/>
              </a:spcAft>
              <a:defRPr sz="1200">
                <a:solidFill>
                  <a:srgbClr val="3C4043"/>
                </a:solidFill>
                <a:latin typeface="Segoe UI"/>
              </a:defRPr>
            </a:pPr>
            <a:r>
              <a:t>✓ Définition des parcours utilisateurs (user flows)</a:t>
            </a:r>
          </a:p>
          <a:p>
            <a:pPr>
              <a:spcAft>
                <a:spcPts val="800"/>
              </a:spcAft>
              <a:defRPr sz="1200">
                <a:solidFill>
                  <a:srgbClr val="3C4043"/>
                </a:solidFill>
                <a:latin typeface="Segoe UI"/>
              </a:defRPr>
            </a:pPr>
            <a:r>
              <a:t>✓ Hiérarchie de l'information claire et intuitive</a:t>
            </a:r>
          </a:p>
          <a:p>
            <a:pPr>
              <a:spcAft>
                <a:spcPts val="800"/>
              </a:spcAft>
              <a:defRPr sz="1200">
                <a:solidFill>
                  <a:srgbClr val="3C4043"/>
                </a:solidFill>
                <a:latin typeface="Segoe UI"/>
              </a:defRPr>
            </a:pPr>
            <a:r>
              <a:t>✓ Accessibilité et utilisabilité au cœur du design</a:t>
            </a:r>
          </a:p>
          <a:p>
            <a:pPr>
              <a:spcAft>
                <a:spcPts val="800"/>
              </a:spcAft>
              <a:defRPr sz="1300">
                <a:solidFill>
                  <a:srgbClr val="3C4043"/>
                </a:solidFill>
                <a:latin typeface="Segoe UI"/>
              </a:defRPr>
            </a:pPr>
          </a:p>
          <a:p>
            <a:pPr>
              <a:spcAft>
                <a:spcPts val="800"/>
              </a:spcAft>
              <a:defRPr sz="1400" b="1">
                <a:solidFill>
                  <a:srgbClr val="1A73E8"/>
                </a:solidFill>
                <a:latin typeface="Segoe UI"/>
              </a:defRPr>
            </a:pPr>
            <a:r>
              <a:t>3. Responsive design</a:t>
            </a:r>
          </a:p>
          <a:p>
            <a:pPr>
              <a:spcAft>
                <a:spcPts val="800"/>
              </a:spcAft>
              <a:defRPr sz="1200">
                <a:solidFill>
                  <a:srgbClr val="3C4043"/>
                </a:solidFill>
                <a:latin typeface="Segoe UI"/>
              </a:defRPr>
            </a:pPr>
            <a:r>
              <a:t>✓ Maquettes desktop (1920px) et mobile (375px)</a:t>
            </a:r>
          </a:p>
          <a:p>
            <a:pPr>
              <a:spcAft>
                <a:spcPts val="800"/>
              </a:spcAft>
              <a:defRPr sz="1200">
                <a:solidFill>
                  <a:srgbClr val="3C4043"/>
                </a:solidFill>
                <a:latin typeface="Segoe UI"/>
              </a:defRPr>
            </a:pPr>
            <a:r>
              <a:t>✓ Adaptation des layouts et composants</a:t>
            </a:r>
          </a:p>
          <a:p>
            <a:pPr>
              <a:spcAft>
                <a:spcPts val="800"/>
              </a:spcAft>
              <a:defRPr sz="1200">
                <a:solidFill>
                  <a:srgbClr val="3C4043"/>
                </a:solidFill>
                <a:latin typeface="Segoe UI"/>
              </a:defRPr>
            </a:pPr>
            <a:r>
              <a:t>✓ Interactions tactiles optimisées</a:t>
            </a:r>
          </a:p>
          <a:p>
            <a:pPr>
              <a:spcAft>
                <a:spcPts val="800"/>
              </a:spcAft>
              <a:defRPr sz="1300">
                <a:solidFill>
                  <a:srgbClr val="3C4043"/>
                </a:solidFill>
                <a:latin typeface="Segoe UI"/>
              </a:defRPr>
            </a:pPr>
          </a:p>
          <a:p>
            <a:pPr>
              <a:spcAft>
                <a:spcPts val="800"/>
              </a:spcAft>
              <a:defRPr sz="1400" b="1">
                <a:solidFill>
                  <a:srgbClr val="1A73E8"/>
                </a:solidFill>
                <a:latin typeface="Segoe UI"/>
              </a:defRPr>
            </a:pPr>
            <a:r>
              <a:t>4. Charte graphique cohérente</a:t>
            </a:r>
          </a:p>
          <a:p>
            <a:pPr>
              <a:spcAft>
                <a:spcPts val="800"/>
              </a:spcAft>
              <a:defRPr sz="1200">
                <a:solidFill>
                  <a:srgbClr val="3C4043"/>
                </a:solidFill>
                <a:latin typeface="Segoe UI"/>
              </a:defRPr>
            </a:pPr>
            <a:r>
              <a:t>✓ Palette de couleurs réfléchie et harmonieuse</a:t>
            </a:r>
          </a:p>
          <a:p>
            <a:pPr>
              <a:spcAft>
                <a:spcPts val="800"/>
              </a:spcAft>
              <a:defRPr sz="1200">
                <a:solidFill>
                  <a:srgbClr val="3C4043"/>
                </a:solidFill>
                <a:latin typeface="Segoe UI"/>
              </a:defRPr>
            </a:pPr>
            <a:r>
              <a:t>✓ Typographie lisible et hiérarchisée</a:t>
            </a:r>
          </a:p>
          <a:p>
            <a:pPr>
              <a:spcAft>
                <a:spcPts val="800"/>
              </a:spcAft>
              <a:defRPr sz="1200">
                <a:solidFill>
                  <a:srgbClr val="3C4043"/>
                </a:solidFill>
                <a:latin typeface="Segoe UI"/>
              </a:defRPr>
            </a:pPr>
            <a:r>
              <a:t>✓ Cohérence visuelle sur toutes les pages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2088" cy="914400"/>
          </a:xfrm>
          <a:prstGeom prst="rect">
            <a:avLst/>
          </a:prstGeom>
          <a:solidFill>
            <a:srgbClr val="1A7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68680"/>
            <a:ext cx="7562088" cy="45720"/>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6647688" cy="548640"/>
          </a:xfrm>
          <a:prstGeom prst="rect">
            <a:avLst/>
          </a:prstGeom>
          <a:noFill/>
        </p:spPr>
        <p:txBody>
          <a:bodyPr wrap="none" anchor="t">
            <a:spAutoFit/>
          </a:bodyPr>
          <a:lstStyle/>
          <a:p>
            <a:pPr>
              <a:defRPr sz="2600" b="1">
                <a:solidFill>
                  <a:srgbClr val="FFFFFF"/>
                </a:solidFill>
                <a:latin typeface="Segoe UI Semibold"/>
              </a:defRPr>
            </a:pPr>
            <a:r>
              <a:t>Bilan - Partie Frontend &amp; Maquettage</a:t>
            </a:r>
          </a:p>
        </p:txBody>
      </p:sp>
      <p:sp>
        <p:nvSpPr>
          <p:cNvPr id="5" name="TextBox 4"/>
          <p:cNvSpPr txBox="1"/>
          <p:nvPr/>
        </p:nvSpPr>
        <p:spPr>
          <a:xfrm>
            <a:off x="548640" y="1188720"/>
            <a:ext cx="6464808" cy="9144000"/>
          </a:xfrm>
          <a:prstGeom prst="rect">
            <a:avLst/>
          </a:prstGeom>
          <a:noFill/>
        </p:spPr>
        <p:txBody>
          <a:bodyPr wrap="square">
            <a:spAutoFit/>
          </a:bodyPr>
          <a:lstStyle/>
          <a:p>
            <a:pPr>
              <a:spcAft>
                <a:spcPts val="800"/>
              </a:spcAft>
              <a:defRPr sz="1700" b="1">
                <a:solidFill>
                  <a:srgbClr val="3C4043"/>
                </a:solidFill>
                <a:latin typeface="Segoe UI"/>
              </a:defRPr>
            </a:pPr>
            <a:r>
              <a:t>🎯 Objectifs atteints</a:t>
            </a:r>
          </a:p>
          <a:p>
            <a:pPr>
              <a:spcAft>
                <a:spcPts val="800"/>
              </a:spcAft>
              <a:defRPr sz="1300">
                <a:solidFill>
                  <a:srgbClr val="3C4043"/>
                </a:solidFill>
                <a:latin typeface="Segoe UI"/>
              </a:defRPr>
            </a:pPr>
          </a:p>
          <a:p>
            <a:pPr>
              <a:spcAft>
                <a:spcPts val="800"/>
              </a:spcAft>
              <a:defRPr sz="1400" b="1">
                <a:solidFill>
                  <a:srgbClr val="1A73E8"/>
                </a:solidFill>
                <a:latin typeface="Segoe UI"/>
              </a:defRPr>
            </a:pPr>
            <a:r>
              <a:t>Projet APD (Stage UFO Agency) :</a:t>
            </a:r>
          </a:p>
          <a:p>
            <a:pPr>
              <a:spcAft>
                <a:spcPts val="800"/>
              </a:spcAft>
              <a:defRPr sz="1200">
                <a:solidFill>
                  <a:srgbClr val="3C4043"/>
                </a:solidFill>
                <a:latin typeface="Segoe UI"/>
              </a:defRPr>
            </a:pPr>
            <a:r>
              <a:t>✓ Site vitrine moderne et performant pour l'association</a:t>
            </a:r>
          </a:p>
          <a:p>
            <a:pPr>
              <a:spcAft>
                <a:spcPts val="800"/>
              </a:spcAft>
              <a:defRPr sz="1200">
                <a:solidFill>
                  <a:srgbClr val="3C4043"/>
                </a:solidFill>
                <a:latin typeface="Segoe UI"/>
              </a:defRPr>
            </a:pPr>
            <a:r>
              <a:t>✓ Interface d'administration Strapi opérationnelle</a:t>
            </a:r>
          </a:p>
          <a:p>
            <a:pPr>
              <a:spcAft>
                <a:spcPts val="800"/>
              </a:spcAft>
              <a:defRPr sz="1200">
                <a:solidFill>
                  <a:srgbClr val="3C4043"/>
                </a:solidFill>
                <a:latin typeface="Segoe UI"/>
              </a:defRPr>
            </a:pPr>
            <a:r>
              <a:t>✓ Optimisations performance (images, code splitting, SSR)</a:t>
            </a:r>
          </a:p>
          <a:p>
            <a:pPr>
              <a:spcAft>
                <a:spcPts val="800"/>
              </a:spcAft>
              <a:defRPr sz="1200">
                <a:solidFill>
                  <a:srgbClr val="3C4043"/>
                </a:solidFill>
                <a:latin typeface="Segoe UI"/>
              </a:defRPr>
            </a:pPr>
            <a:r>
              <a:t>✓ Design responsive et accessible</a:t>
            </a:r>
          </a:p>
          <a:p>
            <a:pPr>
              <a:spcAft>
                <a:spcPts val="800"/>
              </a:spcAft>
              <a:defRPr sz="1300">
                <a:solidFill>
                  <a:srgbClr val="3C4043"/>
                </a:solidFill>
                <a:latin typeface="Segoe UI"/>
              </a:defRPr>
            </a:pPr>
          </a:p>
          <a:p>
            <a:pPr>
              <a:spcAft>
                <a:spcPts val="800"/>
              </a:spcAft>
              <a:defRPr sz="1400" b="1">
                <a:solidFill>
                  <a:srgbClr val="1A73E8"/>
                </a:solidFill>
                <a:latin typeface="Segoe UI"/>
              </a:defRPr>
            </a:pPr>
            <a:r>
              <a:t>Projet CoolBooking (Fil-rouge) :</a:t>
            </a:r>
          </a:p>
          <a:p>
            <a:pPr>
              <a:spcAft>
                <a:spcPts val="800"/>
              </a:spcAft>
              <a:defRPr sz="1200">
                <a:solidFill>
                  <a:srgbClr val="3C4043"/>
                </a:solidFill>
                <a:latin typeface="Segoe UI"/>
              </a:defRPr>
            </a:pPr>
            <a:r>
              <a:t>✓ Maquettage complet sur Figma (desktop + mobile)</a:t>
            </a:r>
          </a:p>
          <a:p>
            <a:pPr>
              <a:spcAft>
                <a:spcPts val="800"/>
              </a:spcAft>
              <a:defRPr sz="1200">
                <a:solidFill>
                  <a:srgbClr val="3C4043"/>
                </a:solidFill>
                <a:latin typeface="Segoe UI"/>
              </a:defRPr>
            </a:pPr>
            <a:r>
              <a:t>✓ Design system avec composants réutilisables</a:t>
            </a:r>
          </a:p>
          <a:p>
            <a:pPr>
              <a:spcAft>
                <a:spcPts val="800"/>
              </a:spcAft>
              <a:defRPr sz="1200">
                <a:solidFill>
                  <a:srgbClr val="3C4043"/>
                </a:solidFill>
                <a:latin typeface="Segoe UI"/>
              </a:defRPr>
            </a:pPr>
            <a:r>
              <a:t>✓ Parcours utilisateurs optimisés</a:t>
            </a:r>
          </a:p>
          <a:p>
            <a:pPr>
              <a:spcAft>
                <a:spcPts val="800"/>
              </a:spcAft>
              <a:defRPr sz="1300">
                <a:solidFill>
                  <a:srgbClr val="3C4043"/>
                </a:solidFill>
                <a:latin typeface="Segoe UI"/>
              </a:defRPr>
            </a:pPr>
          </a:p>
          <a:p>
            <a:pPr>
              <a:spcAft>
                <a:spcPts val="800"/>
              </a:spcAft>
              <a:defRPr sz="1700" b="1">
                <a:solidFill>
                  <a:srgbClr val="3C4043"/>
                </a:solidFill>
                <a:latin typeface="Segoe UI"/>
              </a:defRPr>
            </a:pPr>
            <a:r>
              <a:t>💪 Points forts démontrés</a:t>
            </a:r>
          </a:p>
          <a:p>
            <a:pPr>
              <a:spcAft>
                <a:spcPts val="800"/>
              </a:spcAft>
              <a:defRPr sz="1200">
                <a:solidFill>
                  <a:srgbClr val="3C4043"/>
                </a:solidFill>
                <a:latin typeface="Segoe UI"/>
              </a:defRPr>
            </a:pPr>
            <a:r>
              <a:t>• Maîtrise de Next.js 15 (App Router, SSR, ISR)</a:t>
            </a:r>
          </a:p>
          <a:p>
            <a:pPr>
              <a:spcAft>
                <a:spcPts val="800"/>
              </a:spcAft>
              <a:defRPr sz="1200">
                <a:solidFill>
                  <a:srgbClr val="3C4043"/>
                </a:solidFill>
                <a:latin typeface="Segoe UI"/>
              </a:defRPr>
            </a:pPr>
            <a:r>
              <a:t>• Utilisation avancée des hooks React</a:t>
            </a:r>
          </a:p>
          <a:p>
            <a:pPr>
              <a:spcAft>
                <a:spcPts val="800"/>
              </a:spcAft>
              <a:defRPr sz="1200">
                <a:solidFill>
                  <a:srgbClr val="3C4043"/>
                </a:solidFill>
                <a:latin typeface="Segoe UI"/>
              </a:defRPr>
            </a:pPr>
            <a:r>
              <a:t>• Compétences en maquettage Figma professionnel</a:t>
            </a:r>
          </a:p>
          <a:p>
            <a:pPr>
              <a:spcAft>
                <a:spcPts val="800"/>
              </a:spcAft>
              <a:defRPr sz="1200">
                <a:solidFill>
                  <a:srgbClr val="3C4043"/>
                </a:solidFill>
                <a:latin typeface="Segoe UI"/>
              </a:defRPr>
            </a:pPr>
            <a:r>
              <a:t>• Approche UX réfléchie et centrée utilisateur</a:t>
            </a:r>
          </a:p>
          <a:p>
            <a:pPr>
              <a:spcAft>
                <a:spcPts val="800"/>
              </a:spcAft>
              <a:defRPr sz="1200">
                <a:solidFill>
                  <a:srgbClr val="3C4043"/>
                </a:solidFill>
                <a:latin typeface="Segoe UI"/>
              </a:defRPr>
            </a:pPr>
            <a:r>
              <a:t>• Code propre, maintenable et documenté</a:t>
            </a:r>
          </a:p>
          <a:p>
            <a:pPr>
              <a:spcAft>
                <a:spcPts val="800"/>
              </a:spcAft>
              <a:defRPr sz="1300">
                <a:solidFill>
                  <a:srgbClr val="3C4043"/>
                </a:solidFill>
                <a:latin typeface="Segoe UI"/>
              </a:defRPr>
            </a:pPr>
          </a:p>
          <a:p>
            <a:pPr>
              <a:spcAft>
                <a:spcPts val="800"/>
              </a:spcAft>
              <a:defRPr sz="1700" b="1">
                <a:solidFill>
                  <a:srgbClr val="3C4043"/>
                </a:solidFill>
                <a:latin typeface="Segoe UI"/>
              </a:defRPr>
            </a:pPr>
            <a:r>
              <a:t>📚 Apprentissages clés</a:t>
            </a:r>
          </a:p>
          <a:p>
            <a:pPr>
              <a:spcAft>
                <a:spcPts val="800"/>
              </a:spcAft>
              <a:defRPr sz="1200">
                <a:solidFill>
                  <a:srgbClr val="3C4043"/>
                </a:solidFill>
                <a:latin typeface="Segoe UI"/>
              </a:defRPr>
            </a:pPr>
            <a:r>
              <a:t>• Architecture headless CMS avec Strapi</a:t>
            </a:r>
          </a:p>
          <a:p>
            <a:pPr>
              <a:spcAft>
                <a:spcPts val="800"/>
              </a:spcAft>
              <a:defRPr sz="1200">
                <a:solidFill>
                  <a:srgbClr val="3C4043"/>
                </a:solidFill>
                <a:latin typeface="Segoe UI"/>
              </a:defRPr>
            </a:pPr>
            <a:r>
              <a:t>• Optimisations performance web</a:t>
            </a:r>
          </a:p>
          <a:p>
            <a:pPr>
              <a:spcAft>
                <a:spcPts val="800"/>
              </a:spcAft>
              <a:defRPr sz="1200">
                <a:solidFill>
                  <a:srgbClr val="3C4043"/>
                </a:solidFill>
                <a:latin typeface="Segoe UI"/>
              </a:defRPr>
            </a:pPr>
            <a:r>
              <a:t>• Design thinking et méthodologie de maquettage</a:t>
            </a:r>
          </a:p>
          <a:p>
            <a:pPr>
              <a:spcAft>
                <a:spcPts val="800"/>
              </a:spcAft>
              <a:defRPr sz="1200">
                <a:solidFill>
                  <a:srgbClr val="3C4043"/>
                </a:solidFill>
                <a:latin typeface="Segoe UI"/>
              </a:defRPr>
            </a:pPr>
            <a:r>
              <a:t>• Gestion de projet en contexte professionnel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