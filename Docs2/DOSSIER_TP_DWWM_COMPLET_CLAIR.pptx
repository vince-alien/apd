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x="7562088"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3781044" cy="73152"/>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81044" y="822960"/>
            <a:ext cx="3781044" cy="73152"/>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28800"/>
            <a:ext cx="6464808" cy="2286000"/>
          </a:xfrm>
          <a:prstGeom prst="rect">
            <a:avLst/>
          </a:prstGeom>
          <a:noFill/>
        </p:spPr>
        <p:txBody>
          <a:bodyPr wrap="square">
            <a:spAutoFit/>
          </a:bodyPr>
          <a:lstStyle/>
          <a:p>
            <a:pPr algn="ctr">
              <a:defRPr sz="3400">
                <a:solidFill>
                  <a:srgbClr val="2D2D2D"/>
                </a:solidFill>
                <a:latin typeface="Segoe UI Semibold"/>
              </a:defRPr>
            </a:pPr>
            <a:r>
              <a:t>DOSSIER PROJET</a:t>
            </a:r>
            <a:br/>
            <a:r>
              <a:t>TITRE PROFESSIONNEL DWWM</a:t>
            </a:r>
          </a:p>
        </p:txBody>
      </p:sp>
      <p:sp>
        <p:nvSpPr>
          <p:cNvPr id="6" name="TextBox 5"/>
          <p:cNvSpPr txBox="1"/>
          <p:nvPr/>
        </p:nvSpPr>
        <p:spPr>
          <a:xfrm>
            <a:off x="731520" y="4663440"/>
            <a:ext cx="6099048" cy="1463040"/>
          </a:xfrm>
          <a:prstGeom prst="rect">
            <a:avLst/>
          </a:prstGeom>
          <a:noFill/>
        </p:spPr>
        <p:txBody>
          <a:bodyPr wrap="square">
            <a:spAutoFit/>
          </a:bodyPr>
          <a:lstStyle/>
          <a:p>
            <a:pPr algn="ctr">
              <a:defRPr sz="1600">
                <a:solidFill>
                  <a:srgbClr val="787878"/>
                </a:solidFill>
                <a:latin typeface="Segoe UI"/>
              </a:defRPr>
            </a:pPr>
            <a:r>
              <a:t>Fusion APD (Art et Patrimoine de Doazit) + CoolBooking</a:t>
            </a:r>
            <a:br/>
            <a:r>
              <a:t>Novembre 2025 — Philippe BARBOSA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7562088" cy="91440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0"/>
            <a:ext cx="6647688" cy="1371600"/>
          </a:xfrm>
          <a:prstGeom prst="rect">
            <a:avLst/>
          </a:prstGeom>
          <a:noFill/>
        </p:spPr>
        <p:txBody>
          <a:bodyPr wrap="none">
            <a:spAutoFit/>
          </a:bodyPr>
          <a:lstStyle/>
          <a:p>
            <a:pPr algn="ctr">
              <a:defRPr sz="11000">
                <a:solidFill>
                  <a:srgbClr val="E6E6E6"/>
                </a:solidFill>
                <a:latin typeface="Segoe UI Light"/>
              </a:defRPr>
            </a:pPr>
            <a:r>
              <a:t>01</a:t>
            </a:r>
          </a:p>
        </p:txBody>
      </p:sp>
      <p:sp>
        <p:nvSpPr>
          <p:cNvPr id="5" name="TextBox 4"/>
          <p:cNvSpPr txBox="1"/>
          <p:nvPr/>
        </p:nvSpPr>
        <p:spPr>
          <a:xfrm>
            <a:off x="457200" y="4572000"/>
            <a:ext cx="6647688" cy="822960"/>
          </a:xfrm>
          <a:prstGeom prst="rect">
            <a:avLst/>
          </a:prstGeom>
          <a:noFill/>
        </p:spPr>
        <p:txBody>
          <a:bodyPr wrap="none" anchor="t">
            <a:spAutoFit/>
          </a:bodyPr>
          <a:lstStyle/>
          <a:p>
            <a:pPr algn="ctr">
              <a:defRPr sz="3000">
                <a:solidFill>
                  <a:srgbClr val="FFFFFF"/>
                </a:solidFill>
                <a:latin typeface="Segoe UI Semibold"/>
              </a:defRPr>
            </a:pPr>
            <a:r>
              <a:t>PARTIE APD — Frontend &amp; CMS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Présentation</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800" b="1">
                <a:solidFill>
                  <a:srgbClr val="AC1115"/>
                </a:solidFill>
                <a:latin typeface="Segoe UI"/>
              </a:defRPr>
            </a:pPr>
            <a:r>
              <a:t>👤 PHILIPPE BARBOSA</a:t>
            </a:r>
          </a:p>
          <a:p>
            <a:pPr>
              <a:spcAft>
                <a:spcPts val="800"/>
              </a:spcAft>
              <a:defRPr sz="1400">
                <a:solidFill>
                  <a:srgbClr val="2D2D2D"/>
                </a:solidFill>
                <a:latin typeface="Segoe UI"/>
              </a:defRPr>
            </a:pPr>
            <a:r>
              <a:t>54 ans, en reconversion professionnelle</a:t>
            </a:r>
          </a:p>
          <a:p>
            <a:pPr>
              <a:spcAft>
                <a:spcPts val="800"/>
              </a:spcAft>
              <a:defRPr sz="1300">
                <a:solidFill>
                  <a:srgbClr val="2D2D2D"/>
                </a:solidFill>
                <a:latin typeface="Segoe UI"/>
              </a:defRPr>
            </a:pPr>
          </a:p>
          <a:p>
            <a:pPr>
              <a:spcAft>
                <a:spcPts val="800"/>
              </a:spcAft>
              <a:defRPr sz="1600" b="1">
                <a:solidFill>
                  <a:srgbClr val="2D2D2D"/>
                </a:solidFill>
                <a:latin typeface="Segoe UI"/>
              </a:defRPr>
            </a:pPr>
            <a:r>
              <a:t>🎯 Parcours de formation</a:t>
            </a:r>
          </a:p>
          <a:p>
            <a:pPr>
              <a:spcAft>
                <a:spcPts val="800"/>
              </a:spcAft>
              <a:defRPr sz="1300">
                <a:solidFill>
                  <a:srgbClr val="2D2D2D"/>
                </a:solidFill>
                <a:latin typeface="Segoe UI"/>
              </a:defRPr>
            </a:pPr>
            <a:r>
              <a:t>Titre Professionnel Développeur Web et Web Mobile</a:t>
            </a:r>
          </a:p>
          <a:p>
            <a:pPr>
              <a:spcAft>
                <a:spcPts val="800"/>
              </a:spcAft>
              <a:defRPr sz="1300">
                <a:solidFill>
                  <a:srgbClr val="2D2D2D"/>
                </a:solidFill>
                <a:latin typeface="Segoe UI"/>
              </a:defRPr>
            </a:pPr>
            <a:r>
              <a:t>Stage professionnel : UFO Agency (agence web)</a:t>
            </a:r>
          </a:p>
          <a:p>
            <a:pPr>
              <a:spcAft>
                <a:spcPts val="800"/>
              </a:spcAft>
              <a:defRPr sz="1300">
                <a:solidFill>
                  <a:srgbClr val="2D2D2D"/>
                </a:solidFill>
                <a:latin typeface="Segoe UI"/>
              </a:defRPr>
            </a:pPr>
          </a:p>
          <a:p>
            <a:pPr>
              <a:spcAft>
                <a:spcPts val="800"/>
              </a:spcAft>
              <a:defRPr sz="1600" b="1">
                <a:solidFill>
                  <a:srgbClr val="2D2D2D"/>
                </a:solidFill>
                <a:latin typeface="Segoe UI"/>
              </a:defRPr>
            </a:pPr>
            <a:r>
              <a:t>💡 Motivation</a:t>
            </a:r>
          </a:p>
          <a:p>
            <a:pPr>
              <a:spcAft>
                <a:spcPts val="800"/>
              </a:spcAft>
              <a:defRPr sz="1300">
                <a:solidFill>
                  <a:srgbClr val="2D2D2D"/>
                </a:solidFill>
                <a:latin typeface="Segoe UI"/>
              </a:defRPr>
            </a:pPr>
            <a:r>
              <a:t>Passionné depuis longtemps par le développement web, j'ai décidé de me reconvertir dans ce secteur qui m'anime. Cette formation me permet de concrétiser cette ambition et d'acquérir les compétences techniques nécessaires pour exercer ce métier avec professionnalisme.</a:t>
            </a:r>
          </a:p>
          <a:p>
            <a:pPr>
              <a:spcAft>
                <a:spcPts val="800"/>
              </a:spcAft>
              <a:defRPr sz="1300">
                <a:solidFill>
                  <a:srgbClr val="2D2D2D"/>
                </a:solidFill>
                <a:latin typeface="Segoe UI"/>
              </a:defRPr>
            </a:pPr>
          </a:p>
          <a:p>
            <a:pPr>
              <a:spcAft>
                <a:spcPts val="800"/>
              </a:spcAft>
              <a:defRPr sz="1600" b="1">
                <a:solidFill>
                  <a:srgbClr val="2D2D2D"/>
                </a:solidFill>
                <a:latin typeface="Segoe UI"/>
              </a:defRPr>
            </a:pPr>
            <a:r>
              <a:t>📁 Projets présentés dans ce dossier</a:t>
            </a:r>
          </a:p>
          <a:p>
            <a:pPr>
              <a:spcAft>
                <a:spcPts val="800"/>
              </a:spcAft>
              <a:defRPr sz="1300" b="1">
                <a:solidFill>
                  <a:srgbClr val="2D2D2D"/>
                </a:solidFill>
                <a:latin typeface="Segoe UI"/>
              </a:defRPr>
            </a:pPr>
            <a:r>
              <a:t>Frontend : Projet APD (stage UFO Agency)</a:t>
            </a:r>
          </a:p>
          <a:p>
            <a:pPr>
              <a:spcAft>
                <a:spcPts val="800"/>
              </a:spcAft>
              <a:defRPr sz="1300" b="1">
                <a:solidFill>
                  <a:srgbClr val="2D2D2D"/>
                </a:solidFill>
                <a:latin typeface="Segoe UI"/>
              </a:defRPr>
            </a:pPr>
            <a:r>
              <a:t>Maquettage : Projet CoolBooking (fil-rouge personnel)</a:t>
            </a:r>
          </a:p>
          <a:p>
            <a:pPr>
              <a:spcAft>
                <a:spcPts val="800"/>
              </a:spcAft>
              <a:defRPr sz="1300" b="1">
                <a:solidFill>
                  <a:srgbClr val="2D2D2D"/>
                </a:solidFill>
                <a:latin typeface="Segoe UI"/>
              </a:defRPr>
            </a:pPr>
            <a:r>
              <a:t>Backend : Projet CoolBooking MariaDB (fil-rouge personnel)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Projet APD - Association Pour la Dignité</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600" b="1">
                <a:solidFill>
                  <a:srgbClr val="AC1115"/>
                </a:solidFill>
                <a:latin typeface="Segoe UI"/>
              </a:defRPr>
            </a:pPr>
            <a:r>
              <a:t>📋 Contexte du projet</a:t>
            </a:r>
          </a:p>
          <a:p>
            <a:pPr>
              <a:spcAft>
                <a:spcPts val="800"/>
              </a:spcAft>
              <a:defRPr sz="1300">
                <a:solidFill>
                  <a:srgbClr val="2D2D2D"/>
                </a:solidFill>
                <a:latin typeface="Segoe UI"/>
              </a:defRPr>
            </a:pPr>
            <a:r>
              <a:t>Projet réalisé lors de mon stage chez UFO Agency</a:t>
            </a:r>
          </a:p>
          <a:p>
            <a:pPr>
              <a:spcAft>
                <a:spcPts val="800"/>
              </a:spcAft>
              <a:defRPr sz="1300">
                <a:solidFill>
                  <a:srgbClr val="2D2D2D"/>
                </a:solidFill>
                <a:latin typeface="Segoe UI"/>
              </a:defRPr>
            </a:pPr>
            <a:r>
              <a:t>Site vitrine pour une association humanitaire internationale</a:t>
            </a:r>
          </a:p>
          <a:p>
            <a:pPr>
              <a:spcAft>
                <a:spcPts val="800"/>
              </a:spcAft>
              <a:defRPr sz="1300">
                <a:solidFill>
                  <a:srgbClr val="2D2D2D"/>
                </a:solidFill>
                <a:latin typeface="Segoe UI"/>
              </a:defRPr>
            </a:pPr>
            <a:r>
              <a:t>Maquette graphique déjà conçue en amont par l'équipe design</a:t>
            </a:r>
          </a:p>
          <a:p>
            <a:pPr>
              <a:spcAft>
                <a:spcPts val="800"/>
              </a:spcAft>
              <a:defRPr sz="1300">
                <a:solidFill>
                  <a:srgbClr val="2D2D2D"/>
                </a:solidFill>
                <a:latin typeface="Segoe UI"/>
              </a:defRPr>
            </a:pPr>
          </a:p>
          <a:p>
            <a:pPr>
              <a:spcAft>
                <a:spcPts val="800"/>
              </a:spcAft>
              <a:defRPr sz="1600" b="1">
                <a:solidFill>
                  <a:srgbClr val="AC1115"/>
                </a:solidFill>
                <a:latin typeface="Segoe UI"/>
              </a:defRPr>
            </a:pPr>
            <a:r>
              <a:t>🎯 Objectifs fonctionnels</a:t>
            </a:r>
          </a:p>
          <a:p>
            <a:pPr>
              <a:spcAft>
                <a:spcPts val="800"/>
              </a:spcAft>
              <a:defRPr sz="1300">
                <a:solidFill>
                  <a:srgbClr val="2D2D2D"/>
                </a:solidFill>
                <a:latin typeface="Segoe UI"/>
              </a:defRPr>
            </a:pPr>
            <a:r>
              <a:t>✓ Présenter l'association, sa mission et ses actions</a:t>
            </a:r>
          </a:p>
          <a:p>
            <a:pPr>
              <a:spcAft>
                <a:spcPts val="800"/>
              </a:spcAft>
              <a:defRPr sz="1300">
                <a:solidFill>
                  <a:srgbClr val="2D2D2D"/>
                </a:solidFill>
                <a:latin typeface="Segoe UI"/>
              </a:defRPr>
            </a:pPr>
            <a:r>
              <a:t>✓ Publier et gérer des articles d'actualité</a:t>
            </a:r>
          </a:p>
          <a:p>
            <a:pPr>
              <a:spcAft>
                <a:spcPts val="800"/>
              </a:spcAft>
              <a:defRPr sz="1300">
                <a:solidFill>
                  <a:srgbClr val="2D2D2D"/>
                </a:solidFill>
                <a:latin typeface="Segoe UI"/>
              </a:defRPr>
            </a:pPr>
            <a:r>
              <a:t>✓ Diffuser des interviews vidéo</a:t>
            </a:r>
          </a:p>
          <a:p>
            <a:pPr>
              <a:spcAft>
                <a:spcPts val="800"/>
              </a:spcAft>
              <a:defRPr sz="1300">
                <a:solidFill>
                  <a:srgbClr val="2D2D2D"/>
                </a:solidFill>
                <a:latin typeface="Segoe UI"/>
              </a:defRPr>
            </a:pPr>
            <a:r>
              <a:t>✓ Mettre en avant les partenaires</a:t>
            </a:r>
          </a:p>
          <a:p>
            <a:pPr>
              <a:spcAft>
                <a:spcPts val="800"/>
              </a:spcAft>
              <a:defRPr sz="1300">
                <a:solidFill>
                  <a:srgbClr val="2D2D2D"/>
                </a:solidFill>
                <a:latin typeface="Segoe UI"/>
              </a:defRPr>
            </a:pPr>
            <a:r>
              <a:t>✓ Formulaire de contact fonctionnel</a:t>
            </a:r>
          </a:p>
          <a:p>
            <a:pPr>
              <a:spcAft>
                <a:spcPts val="800"/>
              </a:spcAft>
              <a:defRPr sz="1300">
                <a:solidFill>
                  <a:srgbClr val="2D2D2D"/>
                </a:solidFill>
                <a:latin typeface="Segoe UI"/>
              </a:defRPr>
            </a:pPr>
          </a:p>
          <a:p>
            <a:pPr>
              <a:spcAft>
                <a:spcPts val="800"/>
              </a:spcAft>
              <a:defRPr sz="1600" b="1">
                <a:solidFill>
                  <a:srgbClr val="AC1115"/>
                </a:solidFill>
                <a:latin typeface="Segoe UI"/>
              </a:defRPr>
            </a:pPr>
            <a:r>
              <a:t>⚙️ Contraintes techniques imposées</a:t>
            </a:r>
          </a:p>
          <a:p>
            <a:pPr>
              <a:spcAft>
                <a:spcPts val="800"/>
              </a:spcAft>
              <a:defRPr sz="1300">
                <a:solidFill>
                  <a:srgbClr val="2D2D2D"/>
                </a:solidFill>
                <a:latin typeface="Segoe UI"/>
              </a:defRPr>
            </a:pPr>
            <a:r>
              <a:t>Utilisation obligatoire de Strapi CMS (choix de l'agence)</a:t>
            </a:r>
          </a:p>
          <a:p>
            <a:pPr>
              <a:spcAft>
                <a:spcPts val="800"/>
              </a:spcAft>
              <a:defRPr sz="1300">
                <a:solidFill>
                  <a:srgbClr val="2D2D2D"/>
                </a:solidFill>
                <a:latin typeface="Segoe UI"/>
              </a:defRPr>
            </a:pPr>
            <a:r>
              <a:t>Respect strict du maquettage fourni</a:t>
            </a:r>
          </a:p>
          <a:p>
            <a:pPr>
              <a:spcAft>
                <a:spcPts val="800"/>
              </a:spcAft>
              <a:defRPr sz="1300">
                <a:solidFill>
                  <a:srgbClr val="2D2D2D"/>
                </a:solidFill>
                <a:latin typeface="Segoe UI"/>
              </a:defRPr>
            </a:pPr>
            <a:r>
              <a:t>Performances élevées (Lighthouse score &gt; 90)</a:t>
            </a:r>
          </a:p>
          <a:p>
            <a:pPr>
              <a:spcAft>
                <a:spcPts val="800"/>
              </a:spcAft>
              <a:defRPr sz="1300">
                <a:solidFill>
                  <a:srgbClr val="2D2D2D"/>
                </a:solidFill>
                <a:latin typeface="Segoe UI"/>
              </a:defRPr>
            </a:pPr>
            <a:r>
              <a:t>Responsive design mobile-first</a:t>
            </a:r>
          </a:p>
          <a:p>
            <a:pPr>
              <a:spcAft>
                <a:spcPts val="800"/>
              </a:spcAft>
              <a:defRPr sz="1300">
                <a:solidFill>
                  <a:srgbClr val="2D2D2D"/>
                </a:solidFill>
                <a:latin typeface="Segoe UI"/>
              </a:defRPr>
            </a:pPr>
            <a:r>
              <a:t>Accessibilité WCAG 2.1 niveau AA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Stack Technique Frontend - APD</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700" b="1">
                <a:solidFill>
                  <a:srgbClr val="2D2D2D"/>
                </a:solidFill>
                <a:latin typeface="Segoe UI"/>
              </a:defRPr>
            </a:pPr>
            <a:r>
              <a:t>🛠️ Technologies et outils utilisés</a:t>
            </a:r>
          </a:p>
          <a:p>
            <a:pPr>
              <a:spcAft>
                <a:spcPts val="800"/>
              </a:spcAft>
              <a:defRPr sz="1300">
                <a:solidFill>
                  <a:srgbClr val="2D2D2D"/>
                </a:solidFill>
                <a:latin typeface="Segoe UI"/>
              </a:defRPr>
            </a:pPr>
          </a:p>
          <a:p>
            <a:pPr>
              <a:spcAft>
                <a:spcPts val="800"/>
              </a:spcAft>
              <a:defRPr sz="1500" b="1">
                <a:solidFill>
                  <a:srgbClr val="AC1115"/>
                </a:solidFill>
                <a:latin typeface="Segoe UI"/>
              </a:defRPr>
            </a:pPr>
            <a:r>
              <a:t>Next.js 15 (App Router)</a:t>
            </a:r>
          </a:p>
          <a:p>
            <a:pPr>
              <a:spcAft>
                <a:spcPts val="800"/>
              </a:spcAft>
              <a:defRPr sz="1200">
                <a:solidFill>
                  <a:srgbClr val="2D2D2D"/>
                </a:solidFill>
                <a:latin typeface="Segoe UI"/>
              </a:defRPr>
            </a:pPr>
            <a:r>
              <a:t>Framework React avec système de routing intégré</a:t>
            </a:r>
          </a:p>
          <a:p>
            <a:pPr>
              <a:spcAft>
                <a:spcPts val="800"/>
              </a:spcAft>
              <a:defRPr sz="1200">
                <a:solidFill>
                  <a:srgbClr val="2D2D2D"/>
                </a:solidFill>
                <a:latin typeface="Segoe UI"/>
              </a:defRPr>
            </a:pPr>
            <a:r>
              <a:t>Server Components et Client Components</a:t>
            </a:r>
          </a:p>
          <a:p>
            <a:pPr>
              <a:spcAft>
                <a:spcPts val="800"/>
              </a:spcAft>
              <a:defRPr sz="1200">
                <a:solidFill>
                  <a:srgbClr val="2D2D2D"/>
                </a:solidFill>
                <a:latin typeface="Segoe UI"/>
              </a:defRPr>
            </a:pPr>
            <a:r>
              <a:t>Rendu côté serveur (SSR) et génération statique (SSG)</a:t>
            </a:r>
          </a:p>
          <a:p>
            <a:pPr>
              <a:spcAft>
                <a:spcPts val="800"/>
              </a:spcAft>
              <a:defRPr sz="1200">
                <a:solidFill>
                  <a:srgbClr val="2D2D2D"/>
                </a:solidFill>
                <a:latin typeface="Segoe UI"/>
              </a:defRPr>
            </a:pPr>
            <a:r>
              <a:t>Incremental Static Regeneration (ISR)</a:t>
            </a:r>
          </a:p>
          <a:p>
            <a:pPr>
              <a:spcAft>
                <a:spcPts val="800"/>
              </a:spcAft>
              <a:defRPr sz="1300">
                <a:solidFill>
                  <a:srgbClr val="2D2D2D"/>
                </a:solidFill>
                <a:latin typeface="Segoe UI"/>
              </a:defRPr>
            </a:pPr>
          </a:p>
          <a:p>
            <a:pPr>
              <a:spcAft>
                <a:spcPts val="800"/>
              </a:spcAft>
              <a:defRPr sz="1500" b="1">
                <a:solidFill>
                  <a:srgbClr val="AC1115"/>
                </a:solidFill>
                <a:latin typeface="Segoe UI"/>
              </a:defRPr>
            </a:pPr>
            <a:r>
              <a:t>React 19</a:t>
            </a:r>
          </a:p>
          <a:p>
            <a:pPr>
              <a:spcAft>
                <a:spcPts val="800"/>
              </a:spcAft>
              <a:defRPr sz="1200">
                <a:solidFill>
                  <a:srgbClr val="2D2D2D"/>
                </a:solidFill>
                <a:latin typeface="Segoe UI"/>
              </a:defRPr>
            </a:pPr>
            <a:r>
              <a:t>Bibliothèque JavaScript pour interfaces utilisateur réactives</a:t>
            </a:r>
          </a:p>
          <a:p>
            <a:pPr>
              <a:spcAft>
                <a:spcPts val="800"/>
              </a:spcAft>
              <a:defRPr sz="1200">
                <a:solidFill>
                  <a:srgbClr val="2D2D2D"/>
                </a:solidFill>
                <a:latin typeface="Segoe UI"/>
              </a:defRPr>
            </a:pPr>
            <a:r>
              <a:t>Composants fonctionnels avec hooks modernes</a:t>
            </a:r>
          </a:p>
          <a:p>
            <a:pPr>
              <a:spcAft>
                <a:spcPts val="800"/>
              </a:spcAft>
              <a:defRPr sz="1300">
                <a:solidFill>
                  <a:srgbClr val="2D2D2D"/>
                </a:solidFill>
                <a:latin typeface="Segoe UI"/>
              </a:defRPr>
            </a:pPr>
          </a:p>
          <a:p>
            <a:pPr>
              <a:spcAft>
                <a:spcPts val="800"/>
              </a:spcAft>
              <a:defRPr sz="1500" b="1">
                <a:solidFill>
                  <a:srgbClr val="AC1115"/>
                </a:solidFill>
                <a:latin typeface="Segoe UI"/>
              </a:defRPr>
            </a:pPr>
            <a:r>
              <a:t>TailwindCSS</a:t>
            </a:r>
          </a:p>
          <a:p>
            <a:pPr>
              <a:spcAft>
                <a:spcPts val="800"/>
              </a:spcAft>
              <a:defRPr sz="1200">
                <a:solidFill>
                  <a:srgbClr val="2D2D2D"/>
                </a:solidFill>
                <a:latin typeface="Segoe UI"/>
              </a:defRPr>
            </a:pPr>
            <a:r>
              <a:t>Framework CSS utility-first pour un développement rapide</a:t>
            </a:r>
          </a:p>
          <a:p>
            <a:pPr>
              <a:spcAft>
                <a:spcPts val="800"/>
              </a:spcAft>
              <a:defRPr sz="1200">
                <a:solidFill>
                  <a:srgbClr val="2D2D2D"/>
                </a:solidFill>
                <a:latin typeface="Segoe UI"/>
              </a:defRPr>
            </a:pPr>
            <a:r>
              <a:t>Design system cohérent et maintenable</a:t>
            </a:r>
          </a:p>
          <a:p>
            <a:pPr>
              <a:spcAft>
                <a:spcPts val="800"/>
              </a:spcAft>
              <a:defRPr sz="1300">
                <a:solidFill>
                  <a:srgbClr val="2D2D2D"/>
                </a:solidFill>
                <a:latin typeface="Segoe UI"/>
              </a:defRPr>
            </a:pPr>
          </a:p>
          <a:p>
            <a:pPr>
              <a:spcAft>
                <a:spcPts val="800"/>
              </a:spcAft>
              <a:defRPr sz="1500" b="1">
                <a:solidFill>
                  <a:srgbClr val="AC1115"/>
                </a:solidFill>
                <a:latin typeface="Segoe UI"/>
              </a:defRPr>
            </a:pPr>
            <a:r>
              <a:t>GSAP &amp; Lenis</a:t>
            </a:r>
          </a:p>
          <a:p>
            <a:pPr>
              <a:spcAft>
                <a:spcPts val="800"/>
              </a:spcAft>
              <a:defRPr sz="1200">
                <a:solidFill>
                  <a:srgbClr val="2D2D2D"/>
                </a:solidFill>
                <a:latin typeface="Segoe UI"/>
              </a:defRPr>
            </a:pPr>
            <a:r>
              <a:t>Bibliothèque d'animations performantes (GSAP)</a:t>
            </a:r>
          </a:p>
          <a:p>
            <a:pPr>
              <a:spcAft>
                <a:spcPts val="800"/>
              </a:spcAft>
              <a:defRPr sz="1200">
                <a:solidFill>
                  <a:srgbClr val="2D2D2D"/>
                </a:solidFill>
                <a:latin typeface="Segoe UI"/>
              </a:defRPr>
            </a:pPr>
            <a:r>
              <a:t>Smooth scroll pour une navigation fluide (Lenis)</a:t>
            </a:r>
          </a:p>
          <a:p>
            <a:pPr>
              <a:spcAft>
                <a:spcPts val="800"/>
              </a:spcAft>
              <a:defRPr sz="1300">
                <a:solidFill>
                  <a:srgbClr val="2D2D2D"/>
                </a:solidFill>
                <a:latin typeface="Segoe UI"/>
              </a:defRPr>
            </a:pPr>
          </a:p>
          <a:p>
            <a:pPr>
              <a:spcAft>
                <a:spcPts val="800"/>
              </a:spcAft>
              <a:defRPr sz="1500" b="1">
                <a:solidFill>
                  <a:srgbClr val="AC1115"/>
                </a:solidFill>
                <a:latin typeface="Segoe UI"/>
              </a:defRPr>
            </a:pPr>
            <a:r>
              <a:t>Cloudinary CDN</a:t>
            </a:r>
          </a:p>
          <a:p>
            <a:pPr>
              <a:spcAft>
                <a:spcPts val="800"/>
              </a:spcAft>
              <a:defRPr sz="1200">
                <a:solidFill>
                  <a:srgbClr val="2D2D2D"/>
                </a:solidFill>
                <a:latin typeface="Segoe UI"/>
              </a:defRPr>
            </a:pPr>
            <a:r>
              <a:t>Optimisation et diffusion des médias (images/vidéos)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Architecture Next.js App Router</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600" b="1">
                <a:solidFill>
                  <a:srgbClr val="2D2D2D"/>
                </a:solidFill>
                <a:latin typeface="Segoe UI"/>
              </a:defRPr>
            </a:pPr>
            <a:r>
              <a:t>📁 Organisation du projet frontend</a:t>
            </a:r>
          </a:p>
          <a:p>
            <a:pPr>
              <a:spcAft>
                <a:spcPts val="800"/>
              </a:spcAft>
              <a:defRPr sz="1300">
                <a:solidFill>
                  <a:srgbClr val="2D2D2D"/>
                </a:solidFill>
                <a:latin typeface="Segoe UI"/>
              </a:defRPr>
            </a:pPr>
            <a:r>
              <a:t>J'ai structuré le projet selon les conventions Next.js 15 App Router :</a:t>
            </a:r>
          </a:p>
          <a:p>
            <a:pPr>
              <a:spcAft>
                <a:spcPts val="800"/>
              </a:spcAft>
              <a:defRPr sz="1300">
                <a:solidFill>
                  <a:srgbClr val="2D2D2D"/>
                </a:solidFill>
                <a:latin typeface="Segoe UI"/>
              </a:defRPr>
            </a:pPr>
          </a:p>
          <a:p>
            <a:pPr>
              <a:spcAft>
                <a:spcPts val="800"/>
              </a:spcAft>
              <a:defRPr sz="1300" b="1">
                <a:solidFill>
                  <a:srgbClr val="2D2D2D"/>
                </a:solidFill>
                <a:latin typeface="Consolas"/>
              </a:defRPr>
            </a:pPr>
            <a:r>
              <a:t>frontend/src/app/</a:t>
            </a:r>
          </a:p>
          <a:p>
            <a:pPr lvl="1">
              <a:spcAft>
                <a:spcPts val="800"/>
              </a:spcAft>
              <a:defRPr sz="1100">
                <a:solidFill>
                  <a:srgbClr val="2D2D2D"/>
                </a:solidFill>
                <a:latin typeface="Consolas"/>
              </a:defRPr>
            </a:pPr>
            <a:r>
              <a:t>├── page.jsx         → Page d'accueil principale</a:t>
            </a:r>
          </a:p>
          <a:p>
            <a:pPr lvl="1">
              <a:spcAft>
                <a:spcPts val="800"/>
              </a:spcAft>
              <a:defRPr sz="1100">
                <a:solidFill>
                  <a:srgbClr val="2D2D2D"/>
                </a:solidFill>
                <a:latin typeface="Consolas"/>
              </a:defRPr>
            </a:pPr>
            <a:r>
              <a:t>├── layout.js        → Layout global de l'application</a:t>
            </a:r>
          </a:p>
          <a:p>
            <a:pPr lvl="1">
              <a:spcAft>
                <a:spcPts val="800"/>
              </a:spcAft>
              <a:defRPr sz="1100">
                <a:solidFill>
                  <a:srgbClr val="2D2D2D"/>
                </a:solidFill>
                <a:latin typeface="Consolas"/>
              </a:defRPr>
            </a:pPr>
            <a:r>
              <a:t>├── globals.css      → Styles globaux et variables CSS</a:t>
            </a:r>
          </a:p>
          <a:p>
            <a:pPr lvl="1">
              <a:spcAft>
                <a:spcPts val="800"/>
              </a:spcAft>
              <a:defRPr sz="1100">
                <a:solidFill>
                  <a:srgbClr val="2D2D2D"/>
                </a:solidFill>
                <a:latin typeface="Consolas"/>
              </a:defRPr>
            </a:pPr>
            <a:r>
              <a:t>├── blog/</a:t>
            </a:r>
          </a:p>
          <a:p>
            <a:pPr lvl="2">
              <a:spcAft>
                <a:spcPts val="800"/>
              </a:spcAft>
              <a:defRPr sz="1100">
                <a:solidFill>
                  <a:srgbClr val="2D2D2D"/>
                </a:solidFill>
                <a:latin typeface="Consolas"/>
              </a:defRPr>
            </a:pPr>
            <a:r>
              <a:t>│   ├── page.jsx     → Liste complète des articles</a:t>
            </a:r>
          </a:p>
          <a:p>
            <a:pPr lvl="2">
              <a:spcAft>
                <a:spcPts val="800"/>
              </a:spcAft>
              <a:defRPr sz="1100">
                <a:solidFill>
                  <a:srgbClr val="2D2D2D"/>
                </a:solidFill>
                <a:latin typeface="Consolas"/>
              </a:defRPr>
            </a:pPr>
            <a:r>
              <a:t>│   └── [slug]/      → Routing dynamique</a:t>
            </a:r>
          </a:p>
          <a:p>
            <a:pPr lvl="3">
              <a:spcAft>
                <a:spcPts val="800"/>
              </a:spcAft>
              <a:defRPr sz="1100">
                <a:solidFill>
                  <a:srgbClr val="2D2D2D"/>
                </a:solidFill>
                <a:latin typeface="Consolas"/>
              </a:defRPr>
            </a:pPr>
            <a:r>
              <a:t>│       └── page.jsx → Article individuel par slug</a:t>
            </a:r>
          </a:p>
          <a:p>
            <a:pPr lvl="1">
              <a:spcAft>
                <a:spcPts val="800"/>
              </a:spcAft>
              <a:defRPr sz="1100">
                <a:solidFill>
                  <a:srgbClr val="2D2D2D"/>
                </a:solidFill>
                <a:latin typeface="Consolas"/>
              </a:defRPr>
            </a:pPr>
            <a:r>
              <a:t>├── association/page.jsx</a:t>
            </a:r>
          </a:p>
          <a:p>
            <a:pPr lvl="1">
              <a:spcAft>
                <a:spcPts val="800"/>
              </a:spcAft>
              <a:defRPr sz="1100">
                <a:solidFill>
                  <a:srgbClr val="2D2D2D"/>
                </a:solidFill>
                <a:latin typeface="Consolas"/>
              </a:defRPr>
            </a:pPr>
            <a:r>
              <a:t>└── partners/page.jsx</a:t>
            </a:r>
          </a:p>
          <a:p>
            <a:pPr>
              <a:spcAft>
                <a:spcPts val="800"/>
              </a:spcAft>
              <a:defRPr sz="1300">
                <a:solidFill>
                  <a:srgbClr val="2D2D2D"/>
                </a:solidFill>
                <a:latin typeface="Segoe UI"/>
              </a:defRPr>
            </a:pPr>
          </a:p>
          <a:p>
            <a:pPr>
              <a:spcAft>
                <a:spcPts val="800"/>
              </a:spcAft>
              <a:defRPr sz="1300" b="1">
                <a:solidFill>
                  <a:srgbClr val="2D2D2D"/>
                </a:solidFill>
                <a:latin typeface="Consolas"/>
              </a:defRPr>
            </a:pPr>
            <a:r>
              <a:t>frontend/src/components/</a:t>
            </a:r>
          </a:p>
          <a:p>
            <a:pPr lvl="1">
              <a:spcAft>
                <a:spcPts val="800"/>
              </a:spcAft>
              <a:defRPr sz="1100">
                <a:solidFill>
                  <a:srgbClr val="2D2D2D"/>
                </a:solidFill>
                <a:latin typeface="Consolas"/>
              </a:defRPr>
            </a:pPr>
            <a:r>
              <a:t>├── Header.jsx</a:t>
            </a:r>
          </a:p>
          <a:p>
            <a:pPr lvl="1">
              <a:spcAft>
                <a:spcPts val="800"/>
              </a:spcAft>
              <a:defRPr sz="1100">
                <a:solidFill>
                  <a:srgbClr val="2D2D2D"/>
                </a:solidFill>
                <a:latin typeface="Consolas"/>
              </a:defRPr>
            </a:pPr>
            <a:r>
              <a:t>├── Footer.jsx</a:t>
            </a:r>
          </a:p>
          <a:p>
            <a:pPr lvl="1">
              <a:spcAft>
                <a:spcPts val="800"/>
              </a:spcAft>
              <a:defRPr sz="1100">
                <a:solidFill>
                  <a:srgbClr val="2D2D2D"/>
                </a:solidFill>
                <a:latin typeface="Consolas"/>
              </a:defRPr>
            </a:pPr>
            <a:r>
              <a:t>├── VideoBackground.jsx</a:t>
            </a:r>
          </a:p>
          <a:p>
            <a:pPr lvl="1">
              <a:spcAft>
                <a:spcPts val="800"/>
              </a:spcAft>
              <a:defRPr sz="1100">
                <a:solidFill>
                  <a:srgbClr val="2D2D2D"/>
                </a:solidFill>
                <a:latin typeface="Consolas"/>
              </a:defRPr>
            </a:pPr>
            <a:r>
              <a:t>├── BlogSection.jsx</a:t>
            </a:r>
          </a:p>
          <a:p>
            <a:pPr lvl="1">
              <a:spcAft>
                <a:spcPts val="800"/>
              </a:spcAft>
              <a:defRPr sz="1100">
                <a:solidFill>
                  <a:srgbClr val="2D2D2D"/>
                </a:solidFill>
                <a:latin typeface="Consolas"/>
              </a:defRPr>
            </a:pPr>
            <a:r>
              <a:t>├── PartnerSection.jsx</a:t>
            </a:r>
          </a:p>
          <a:p>
            <a:pPr lvl="1">
              <a:spcAft>
                <a:spcPts val="800"/>
              </a:spcAft>
              <a:defRPr sz="1100">
                <a:solidFill>
                  <a:srgbClr val="2D2D2D"/>
                </a:solidFill>
                <a:latin typeface="Consolas"/>
              </a:defRPr>
            </a:pPr>
            <a:r>
              <a:t>└── ContactModal.jsx</a:t>
            </a:r>
          </a:p>
          <a:p>
            <a:pPr>
              <a:spcAft>
                <a:spcPts val="800"/>
              </a:spcAft>
              <a:defRPr sz="1300">
                <a:solidFill>
                  <a:srgbClr val="2D2D2D"/>
                </a:solidFill>
                <a:latin typeface="Segoe UI"/>
              </a:defRPr>
            </a:pPr>
          </a:p>
          <a:p>
            <a:pPr>
              <a:spcAft>
                <a:spcPts val="800"/>
              </a:spcAft>
              <a:defRPr sz="1300" b="1">
                <a:solidFill>
                  <a:srgbClr val="2D2D2D"/>
                </a:solidFill>
                <a:latin typeface="Consolas"/>
              </a:defRPr>
            </a:pPr>
            <a:r>
              <a:t>frontend/src/hooks/</a:t>
            </a:r>
          </a:p>
          <a:p>
            <a:pPr lvl="1">
              <a:spcAft>
                <a:spcPts val="800"/>
              </a:spcAft>
              <a:defRPr sz="1100">
                <a:solidFill>
                  <a:srgbClr val="2D2D2D"/>
                </a:solidFill>
                <a:latin typeface="Consolas"/>
              </a:defRPr>
            </a:pPr>
            <a:r>
              <a:t>├── useSiteData.jsx  → Hook personnalisé pour API</a:t>
            </a:r>
          </a:p>
          <a:p>
            <a:pPr lvl="1">
              <a:spcAft>
                <a:spcPts val="800"/>
              </a:spcAft>
              <a:defRPr sz="1100">
                <a:solidFill>
                  <a:srgbClr val="2D2D2D"/>
                </a:solidFill>
                <a:latin typeface="Consolas"/>
              </a:defRPr>
            </a:pPr>
            <a:r>
              <a:t>└── useIsMobile.jsx  → Détection responsive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200">
                <a:solidFill>
                  <a:srgbClr val="FFFFFF"/>
                </a:solidFill>
                <a:latin typeface="Segoe UI Semibold"/>
              </a:defRPr>
            </a:pPr>
            <a:r>
              <a:t>Page d'accueil - page.jsx</a:t>
            </a:r>
          </a:p>
        </p:txBody>
      </p:sp>
      <p:sp>
        <p:nvSpPr>
          <p:cNvPr id="4" name="TextBox 3"/>
          <p:cNvSpPr txBox="1"/>
          <p:nvPr/>
        </p:nvSpPr>
        <p:spPr>
          <a:xfrm>
            <a:off x="548640" y="1005840"/>
            <a:ext cx="6464808" cy="822960"/>
          </a:xfrm>
          <a:prstGeom prst="rect">
            <a:avLst/>
          </a:prstGeom>
          <a:noFill/>
        </p:spPr>
        <p:txBody>
          <a:bodyPr wrap="none">
            <a:spAutoFit/>
          </a:bodyPr>
          <a:lstStyle/>
          <a:p>
            <a:pPr>
              <a:defRPr sz="1200" i="1">
                <a:solidFill>
                  <a:srgbClr val="787878"/>
                </a:solidFill>
                <a:latin typeface="Segoe UI"/>
              </a:defRPr>
            </a:pPr>
            <a:r>
              <a:t>J'ai structuré la page d'accueil avec des imports dynamiques pour optimiser les performances. Le composant VideoBackground charge en priorité la vidéo d'arrière-plan.</a:t>
            </a:r>
          </a:p>
        </p:txBody>
      </p:sp>
      <p:sp>
        <p:nvSpPr>
          <p:cNvPr id="5" name="Rounded Rectangle 4"/>
          <p:cNvSpPr/>
          <p:nvPr/>
        </p:nvSpPr>
        <p:spPr>
          <a:xfrm>
            <a:off x="548640" y="1783080"/>
            <a:ext cx="6464808" cy="8449055"/>
          </a:xfrm>
          <a:prstGeom prst="roundRect">
            <a:avLst/>
          </a:prstGeom>
          <a:solidFill>
            <a:srgbClr val="F5F5F5"/>
          </a:solidFill>
          <a:ln w="12700">
            <a:solidFill>
              <a:srgbClr val="AC111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6190488" cy="8174735"/>
          </a:xfrm>
          <a:prstGeom prst="rect">
            <a:avLst/>
          </a:prstGeom>
          <a:noFill/>
        </p:spPr>
        <p:txBody>
          <a:bodyPr wrap="square">
            <a:spAutoFit/>
          </a:bodyPr>
          <a:lstStyle/>
          <a:p>
            <a:pPr>
              <a:lnSpc>
                <a:spcPct val="115000"/>
              </a:lnSpc>
              <a:defRPr sz="950">
                <a:solidFill>
                  <a:srgbClr val="2D2D2D"/>
                </a:solidFill>
                <a:latin typeface="Consolas"/>
              </a:defRPr>
            </a:pPr>
            <a:r>
              <a:t>// frontend/src/app/page.jsx</a:t>
            </a:r>
            <a:br/>
            <a:r>
              <a:t>import VideoBackground from "@/components/VideoBackground";</a:t>
            </a:r>
            <a:br/>
            <a:r>
              <a:t>import dynamic from "next/dynamic";</a:t>
            </a:r>
            <a:br/>
            <a:r>
              <a:t>import useSiteData from "@/hooks/useSiteData";</a:t>
            </a:r>
            <a:br/>
            <a:br/>
            <a:r>
              <a:t>// Import dynamique pour optimiser le chargement</a:t>
            </a:r>
            <a:br/>
            <a:r>
              <a:t>const PartnerSection = dynamic(</a:t>
            </a:r>
            <a:br/>
            <a:r>
              <a:t>    () =&gt; import("@/components/PartnerSection"),</a:t>
            </a:r>
            <a:br/>
            <a:r>
              <a:t>    { ssr: false }</a:t>
            </a:r>
            <a:br/>
            <a:r>
              <a:t>);</a:t>
            </a:r>
            <a:br/>
            <a:br/>
            <a:r>
              <a:t>const BlogSection = dynamic(</a:t>
            </a:r>
            <a:br/>
            <a:r>
              <a:t>    () =&gt; import("@/components/BlogSection"),</a:t>
            </a:r>
            <a:br/>
            <a:r>
              <a:t>    { ssr: false }</a:t>
            </a:r>
            <a:br/>
            <a:r>
              <a:t>);</a:t>
            </a:r>
            <a:br/>
            <a:br/>
            <a:r>
              <a:t>export default function Home() {</a:t>
            </a:r>
            <a:br/>
            <a:r>
              <a:t>    const { data, loading, error } = useSiteData();</a:t>
            </a:r>
            <a:br/>
            <a:br/>
            <a:r>
              <a:t>    if (loading) return &lt;div&gt;Chargement...&lt;/div&gt;;</a:t>
            </a:r>
            <a:br/>
            <a:r>
              <a:t>    if (error) return &lt;div&gt;Erreur: {error}&lt;/div&gt;;</a:t>
            </a:r>
            <a:br/>
            <a:br/>
            <a:r>
              <a:t>    return (</a:t>
            </a:r>
            <a:br/>
            <a:r>
              <a:t>        &lt;main&gt;</a:t>
            </a:r>
            <a:br/>
            <a:r>
              <a:t>            &lt;VideoBackground videoUrl={data.accueil?.video} /&gt;</a:t>
            </a:r>
            <a:br/>
            <a:r>
              <a:t>            &lt;IntroSection /&gt;</a:t>
            </a:r>
            <a:br/>
            <a:r>
              <a:t>            &lt;DescriptionSection /&gt;</a:t>
            </a:r>
            <a:br/>
            <a:r>
              <a:t>            &lt;PartnerSection partners={data.partenaires} /&gt;</a:t>
            </a:r>
            <a:br/>
            <a:r>
              <a:t>            &lt;BlogSection articles={data.articles} limit={3} /&gt;</a:t>
            </a:r>
            <a:br/>
            <a:r>
              <a:t>        &lt;/main&gt;</a:t>
            </a:r>
            <a:br/>
            <a:r>
              <a:t>    );</a:t>
            </a:r>
            <a:b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200">
                <a:solidFill>
                  <a:srgbClr val="FFFFFF"/>
                </a:solidFill>
                <a:latin typeface="Segoe UI Semibold"/>
              </a:defRPr>
            </a:pPr>
            <a:r>
              <a:t>Composant VideoBackground</a:t>
            </a:r>
          </a:p>
        </p:txBody>
      </p:sp>
      <p:sp>
        <p:nvSpPr>
          <p:cNvPr id="4" name="TextBox 3"/>
          <p:cNvSpPr txBox="1"/>
          <p:nvPr/>
        </p:nvSpPr>
        <p:spPr>
          <a:xfrm>
            <a:off x="548640" y="1005840"/>
            <a:ext cx="6464808" cy="822960"/>
          </a:xfrm>
          <a:prstGeom prst="rect">
            <a:avLst/>
          </a:prstGeom>
          <a:noFill/>
        </p:spPr>
        <p:txBody>
          <a:bodyPr wrap="none">
            <a:spAutoFit/>
          </a:bodyPr>
          <a:lstStyle/>
          <a:p>
            <a:pPr>
              <a:defRPr sz="1200" i="1">
                <a:solidFill>
                  <a:srgbClr val="787878"/>
                </a:solidFill>
                <a:latin typeface="Segoe UI"/>
              </a:defRPr>
            </a:pPr>
            <a:r>
              <a:t>J'ai créé un composant qui gère l'affichage progressif de la vidéo avec une transition d'opacité pour améliorer l'expérience utilisateur.</a:t>
            </a:r>
          </a:p>
        </p:txBody>
      </p:sp>
      <p:sp>
        <p:nvSpPr>
          <p:cNvPr id="5" name="Rounded Rectangle 4"/>
          <p:cNvSpPr/>
          <p:nvPr/>
        </p:nvSpPr>
        <p:spPr>
          <a:xfrm>
            <a:off x="548640" y="1783080"/>
            <a:ext cx="6464808" cy="8449055"/>
          </a:xfrm>
          <a:prstGeom prst="roundRect">
            <a:avLst/>
          </a:prstGeom>
          <a:solidFill>
            <a:srgbClr val="F5F5F5"/>
          </a:solidFill>
          <a:ln w="12700">
            <a:solidFill>
              <a:srgbClr val="AC111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6190488" cy="8174735"/>
          </a:xfrm>
          <a:prstGeom prst="rect">
            <a:avLst/>
          </a:prstGeom>
          <a:noFill/>
        </p:spPr>
        <p:txBody>
          <a:bodyPr wrap="square">
            <a:spAutoFit/>
          </a:bodyPr>
          <a:lstStyle/>
          <a:p>
            <a:pPr>
              <a:lnSpc>
                <a:spcPct val="115000"/>
              </a:lnSpc>
              <a:defRPr sz="950">
                <a:solidFill>
                  <a:srgbClr val="2D2D2D"/>
                </a:solidFill>
                <a:latin typeface="Consolas"/>
              </a:defRPr>
            </a:pPr>
            <a:r>
              <a:t>// frontend/src/components/VideoBackground.jsx</a:t>
            </a:r>
            <a:br/>
            <a:r>
              <a:t>'use client';</a:t>
            </a:r>
            <a:br/>
            <a:r>
              <a:t>import { useState } from 'react';</a:t>
            </a:r>
            <a:br/>
            <a:br/>
            <a:r>
              <a:t>export default function VideoBackground({ videoUrl }) {</a:t>
            </a:r>
            <a:br/>
            <a:r>
              <a:t>    const [opacity, setOpacity] = useState(0);</a:t>
            </a:r>
            <a:br/>
            <a:br/>
            <a:r>
              <a:t>    const handleVideoReady = () =&gt; {</a:t>
            </a:r>
            <a:br/>
            <a:r>
              <a:t>        setOpacity(1); // Transition douce quand la vidéo est prête</a:t>
            </a:r>
            <a:br/>
            <a:r>
              <a:t>    };</a:t>
            </a:r>
            <a:br/>
            <a:br/>
            <a:r>
              <a:t>    return (</a:t>
            </a:r>
            <a:br/>
            <a:r>
              <a:t>        &lt;div className="video-container"&gt;</a:t>
            </a:r>
            <a:br/>
            <a:r>
              <a:t>            &lt;video</a:t>
            </a:r>
            <a:br/>
            <a:r>
              <a:t>                autoPlay</a:t>
            </a:r>
            <a:br/>
            <a:r>
              <a:t>                loop</a:t>
            </a:r>
            <a:br/>
            <a:r>
              <a:t>                muted</a:t>
            </a:r>
            <a:br/>
            <a:r>
              <a:t>                playsInline</a:t>
            </a:r>
            <a:br/>
            <a:r>
              <a:t>                preload="auto"</a:t>
            </a:r>
            <a:br/>
            <a:r>
              <a:t>                onLoadedData={handleVideoReady}</a:t>
            </a:r>
            <a:br/>
            <a:r>
              <a:t>                onCanPlayThrough={handleVideoReady}</a:t>
            </a:r>
            <a:br/>
            <a:r>
              <a:t>                style={{ opacity, transition: 'opacity 0.5s ease-in' }}</a:t>
            </a:r>
            <a:br/>
            <a:r>
              <a:t>            &gt;</a:t>
            </a:r>
            <a:br/>
            <a:r>
              <a:t>                &lt;source src={videoUrl} type="video/mp4" /&gt;</a:t>
            </a:r>
            <a:br/>
            <a:r>
              <a:t>            &lt;/video&gt;</a:t>
            </a:r>
            <a:br/>
            <a:r>
              <a:t>        &lt;/div&gt;</a:t>
            </a:r>
            <a:br/>
            <a:r>
              <a:t>    );</a:t>
            </a:r>
            <a:b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200">
                <a:solidFill>
                  <a:srgbClr val="FFFFFF"/>
                </a:solidFill>
                <a:latin typeface="Segoe UI Semibold"/>
              </a:defRPr>
            </a:pPr>
            <a:r>
              <a:t>Hook personnalisé - useSiteData</a:t>
            </a:r>
          </a:p>
        </p:txBody>
      </p:sp>
      <p:sp>
        <p:nvSpPr>
          <p:cNvPr id="4" name="TextBox 3"/>
          <p:cNvSpPr txBox="1"/>
          <p:nvPr/>
        </p:nvSpPr>
        <p:spPr>
          <a:xfrm>
            <a:off x="548640" y="1005840"/>
            <a:ext cx="6464808" cy="822960"/>
          </a:xfrm>
          <a:prstGeom prst="rect">
            <a:avLst/>
          </a:prstGeom>
          <a:noFill/>
        </p:spPr>
        <p:txBody>
          <a:bodyPr wrap="none">
            <a:spAutoFit/>
          </a:bodyPr>
          <a:lstStyle/>
          <a:p>
            <a:pPr>
              <a:defRPr sz="1200" i="1">
                <a:solidFill>
                  <a:srgbClr val="787878"/>
                </a:solidFill>
                <a:latin typeface="Segoe UI"/>
              </a:defRPr>
            </a:pPr>
            <a:r>
              <a:t>Hook personnalisé pour centraliser les appels API. J'ai implémenté un chargement prioritaire pour la vidéo et parallélisé les autres requêtes.</a:t>
            </a:r>
          </a:p>
        </p:txBody>
      </p:sp>
      <p:sp>
        <p:nvSpPr>
          <p:cNvPr id="5" name="Rounded Rectangle 4"/>
          <p:cNvSpPr/>
          <p:nvPr/>
        </p:nvSpPr>
        <p:spPr>
          <a:xfrm>
            <a:off x="548640" y="1783080"/>
            <a:ext cx="6464808" cy="8449055"/>
          </a:xfrm>
          <a:prstGeom prst="roundRect">
            <a:avLst/>
          </a:prstGeom>
          <a:solidFill>
            <a:srgbClr val="F5F5F5"/>
          </a:solidFill>
          <a:ln w="12700">
            <a:solidFill>
              <a:srgbClr val="AC111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6190488" cy="8174735"/>
          </a:xfrm>
          <a:prstGeom prst="rect">
            <a:avLst/>
          </a:prstGeom>
          <a:noFill/>
        </p:spPr>
        <p:txBody>
          <a:bodyPr wrap="square">
            <a:spAutoFit/>
          </a:bodyPr>
          <a:lstStyle/>
          <a:p>
            <a:pPr>
              <a:lnSpc>
                <a:spcPct val="115000"/>
              </a:lnSpc>
              <a:defRPr sz="950">
                <a:solidFill>
                  <a:srgbClr val="2D2D2D"/>
                </a:solidFill>
                <a:latin typeface="Consolas"/>
              </a:defRPr>
            </a:pPr>
            <a:r>
              <a:t>// frontend/src/hooks/useSiteData.jsx</a:t>
            </a:r>
            <a:br/>
            <a:r>
              <a:t>'use client';</a:t>
            </a:r>
            <a:br/>
            <a:r>
              <a:t>import { useState, useEffect } from 'react';</a:t>
            </a:r>
            <a:br/>
            <a:br/>
            <a:r>
              <a:t>export default function useSiteData() {</a:t>
            </a:r>
            <a:br/>
            <a:r>
              <a:t>    const [data, setData] = useState({});</a:t>
            </a:r>
            <a:br/>
            <a:r>
              <a:t>    const [loading, setLoading] = useState(true);</a:t>
            </a:r>
            <a:br/>
            <a:r>
              <a:t>    const [error, setError] = useState(null);</a:t>
            </a:r>
            <a:br/>
            <a:br/>
            <a:r>
              <a:t>    useEffect(() =&gt; {</a:t>
            </a:r>
            <a:br/>
            <a:r>
              <a:t>        async function fetchData() {</a:t>
            </a:r>
            <a:br/>
            <a:r>
              <a:t>            try {</a:t>
            </a:r>
            <a:br/>
            <a:r>
              <a:t>                // Chargement prioritaire de l'accueil (vidéo)</a:t>
            </a:r>
            <a:br/>
            <a:r>
              <a:t>                const accueilRes = await fetch(</a:t>
            </a:r>
            <a:br/>
            <a:r>
              <a:t>                    `${process.env.NEXT_PUBLIC_STRAPI_URL}/api/accueil?populate=*`</a:t>
            </a:r>
            <a:br/>
            <a:r>
              <a:t>                );</a:t>
            </a:r>
            <a:br/>
            <a:r>
              <a:t>                const accueilData = await accueilRes.json();</a:t>
            </a:r>
            <a:br/>
            <a:r>
              <a:t>        </a:t>
            </a:r>
            <a:br/>
            <a:r>
              <a:t>                // Chargement parallèle des autres endpoints</a:t>
            </a:r>
            <a:br/>
            <a:r>
              <a:t>                const [articlesRes, partenairesRes, interviewsRes] = </a:t>
            </a:r>
            <a:br/>
            <a:r>
              <a:t>                    await Promise.all([</a:t>
            </a:r>
            <a:br/>
            <a:r>
              <a:t>                        fetch(`${process.env.NEXT_PUBLIC_STRAPI_URL}/api/articles?populate=*`),</a:t>
            </a:r>
            <a:br/>
            <a:r>
              <a:t>                        fetch(`${process.env.NEXT_PUBLIC_STRAPI_URL}/api/partenaires?populate=*`),</a:t>
            </a:r>
            <a:br/>
            <a:r>
              <a:t>                        fetch(`${process.env.NEXT_PUBLIC_STRAPI_URL}/api/interviews?populate=*`)</a:t>
            </a:r>
            <a:br/>
            <a:r>
              <a:t>                    ]);</a:t>
            </a:r>
            <a:br/>
            <a:br/>
            <a:r>
              <a:t>                const articles = await articlesRes.json();</a:t>
            </a:r>
            <a:br/>
            <a:r>
              <a:t>        </a:t>
            </a:r>
            <a:br/>
            <a:r>
              <a:t>                setData({</a:t>
            </a:r>
            <a:br/>
            <a:r>
              <a:t>                    accueil: accueilData.data,</a:t>
            </a:r>
            <a:br/>
            <a:r>
              <a:t>                    articles: articles.data.sort((a,b) =&gt; </a:t>
            </a:r>
            <a:br/>
            <a:r>
              <a:t>                        new Date(b.attributes.date) - new Date(a.attributes.date)</a:t>
            </a:r>
            <a:br/>
            <a:r>
              <a:t>                    ),</a:t>
            </a:r>
            <a:br/>
            <a:r>
              <a:t>                    partenaires: partenaires.data,</a:t>
            </a:r>
            <a:br/>
            <a:r>
              <a:t>                    interviews: interviews.data,</a:t>
            </a:r>
            <a:br/>
            <a:r>
              <a:t>                });</a:t>
            </a:r>
            <a:br/>
            <a:r>
              <a:t>            } catch (err) {</a:t>
            </a:r>
            <a:br/>
            <a:r>
              <a:t>                setError(err.message);</a:t>
            </a:r>
            <a:br/>
            <a:r>
              <a:t>            } finally {</a:t>
            </a:r>
            <a:br/>
            <a:r>
              <a:t>                setLoading(false);</a:t>
            </a:r>
            <a:br/>
            <a:r>
              <a:t>            }</a:t>
            </a:r>
            <a:br/>
            <a:r>
              <a:t>        }</a:t>
            </a:r>
            <a:br/>
            <a:r>
              <a:t>        fetchData();</a:t>
            </a:r>
            <a:br/>
            <a:r>
              <a:t>    }, []);</a:t>
            </a:r>
            <a:br/>
            <a:br/>
            <a:r>
              <a:t>    return { data, loading, error };</a:t>
            </a: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200">
                <a:solidFill>
                  <a:srgbClr val="FFFFFF"/>
                </a:solidFill>
                <a:latin typeface="Segoe UI Semibold"/>
              </a:defRPr>
            </a:pPr>
            <a:r>
              <a:t>Routing Dynamique - Article</a:t>
            </a:r>
          </a:p>
        </p:txBody>
      </p:sp>
      <p:sp>
        <p:nvSpPr>
          <p:cNvPr id="4" name="TextBox 3"/>
          <p:cNvSpPr txBox="1"/>
          <p:nvPr/>
        </p:nvSpPr>
        <p:spPr>
          <a:xfrm>
            <a:off x="548640" y="1005840"/>
            <a:ext cx="6464808" cy="822960"/>
          </a:xfrm>
          <a:prstGeom prst="rect">
            <a:avLst/>
          </a:prstGeom>
          <a:noFill/>
        </p:spPr>
        <p:txBody>
          <a:bodyPr wrap="none">
            <a:spAutoFit/>
          </a:bodyPr>
          <a:lstStyle/>
          <a:p>
            <a:pPr>
              <a:defRPr sz="1200" i="1">
                <a:solidFill>
                  <a:srgbClr val="787878"/>
                </a:solidFill>
                <a:latin typeface="Segoe UI"/>
              </a:defRPr>
            </a:pPr>
            <a:r>
              <a:t>Page dynamique pour afficher un article à partir de son slug. J'utilise generateMetadata pour le SEO et la revalidation incrémentale (ISR).</a:t>
            </a:r>
          </a:p>
        </p:txBody>
      </p:sp>
      <p:sp>
        <p:nvSpPr>
          <p:cNvPr id="5" name="Rounded Rectangle 4"/>
          <p:cNvSpPr/>
          <p:nvPr/>
        </p:nvSpPr>
        <p:spPr>
          <a:xfrm>
            <a:off x="548640" y="1783080"/>
            <a:ext cx="6464808" cy="8449055"/>
          </a:xfrm>
          <a:prstGeom prst="roundRect">
            <a:avLst/>
          </a:prstGeom>
          <a:solidFill>
            <a:srgbClr val="F5F5F5"/>
          </a:solidFill>
          <a:ln w="12700">
            <a:solidFill>
              <a:srgbClr val="AC111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6190488" cy="8174735"/>
          </a:xfrm>
          <a:prstGeom prst="rect">
            <a:avLst/>
          </a:prstGeom>
          <a:noFill/>
        </p:spPr>
        <p:txBody>
          <a:bodyPr wrap="square">
            <a:spAutoFit/>
          </a:bodyPr>
          <a:lstStyle/>
          <a:p>
            <a:pPr>
              <a:lnSpc>
                <a:spcPct val="115000"/>
              </a:lnSpc>
              <a:defRPr sz="950">
                <a:solidFill>
                  <a:srgbClr val="2D2D2D"/>
                </a:solidFill>
                <a:latin typeface="Consolas"/>
              </a:defRPr>
            </a:pPr>
            <a:r>
              <a:t>// frontend/src/app/blog/[slug]/page.jsx</a:t>
            </a:r>
            <a:br/>
            <a:r>
              <a:t>export const revalidate = 60; // Revalidation toutes les 60s</a:t>
            </a:r>
            <a:br/>
            <a:br/>
            <a:r>
              <a:t>export async function generateMetadata({ params }) {</a:t>
            </a:r>
            <a:br/>
            <a:r>
              <a:t>    const { slug } = params;</a:t>
            </a:r>
            <a:br/>
            <a:r>
              <a:t>    const res = await fetch(</a:t>
            </a:r>
            <a:br/>
            <a:r>
              <a:t>        `${process.env.NEXT_PUBLIC_STRAPI_URL}/api/articles?` +</a:t>
            </a:r>
            <a:br/>
            <a:r>
              <a:t>        `filters[slug][$eq]=${slug}&amp;populate=*`</a:t>
            </a:r>
            <a:br/>
            <a:r>
              <a:t>    );</a:t>
            </a:r>
            <a:br/>
            <a:r>
              <a:t>    const data = await res.json();</a:t>
            </a:r>
            <a:br/>
            <a:r>
              <a:t>    const article = data.data[0];</a:t>
            </a:r>
            <a:br/>
            <a:r>
              <a:t>  </a:t>
            </a:r>
            <a:br/>
            <a:r>
              <a:t>    return {</a:t>
            </a:r>
            <a:br/>
            <a:r>
              <a:t>        title: article.attributes.titre,</a:t>
            </a:r>
            <a:br/>
            <a:r>
              <a:t>        description: article.attributes.extrait,</a:t>
            </a:r>
            <a:br/>
            <a:r>
              <a:t>    };</a:t>
            </a:r>
            <a:br/>
            <a:r>
              <a:t>}</a:t>
            </a:r>
            <a:br/>
            <a:br/>
            <a:r>
              <a:t>export default async function ArticlePage({ params }) {</a:t>
            </a:r>
            <a:br/>
            <a:r>
              <a:t>    const { slug } = params;</a:t>
            </a:r>
            <a:br/>
            <a:r>
              <a:t>    const res = await fetch(</a:t>
            </a:r>
            <a:br/>
            <a:r>
              <a:t>        `${process.env.NEXT_PUBLIC_STRAPI_URL}/api/articles?` +</a:t>
            </a:r>
            <a:br/>
            <a:r>
              <a:t>        `filters[slug][$eq]=${slug}&amp;populate=*`,</a:t>
            </a:r>
            <a:br/>
            <a:r>
              <a:t>        { next: { revalidate: 60 } }</a:t>
            </a:r>
            <a:br/>
            <a:r>
              <a:t>    );</a:t>
            </a:r>
            <a:br/>
            <a:r>
              <a:t>  </a:t>
            </a:r>
            <a:br/>
            <a:r>
              <a:t>    const data = await res.json();</a:t>
            </a:r>
            <a:br/>
            <a:r>
              <a:t>    const article = data.data[0]?.attributes;</a:t>
            </a:r>
            <a:br/>
            <a:br/>
            <a:r>
              <a:t>    if (!article) return &lt;div&gt;Article non trouvé&lt;/div&gt;;</a:t>
            </a:r>
            <a:br/>
            <a:br/>
            <a:r>
              <a:t>    return (</a:t>
            </a:r>
            <a:br/>
            <a:r>
              <a:t>        &lt;article&gt;</a:t>
            </a:r>
            <a:br/>
            <a:r>
              <a:t>            &lt;h1&gt;{article.titre}&lt;/h1&gt;</a:t>
            </a:r>
            <a:br/>
            <a:r>
              <a:t>            &lt;time&gt;{new Date(article.date).toLocaleDateString('fr-FR')}&lt;/time&gt;</a:t>
            </a:r>
            <a:br/>
            <a:r>
              <a:t>            &lt;p&gt;Par {article.auteur}&lt;/p&gt;</a:t>
            </a:r>
            <a:br/>
            <a:r>
              <a:t>            &lt;div dangerouslySetInnerHTML={{ __html: article.contenu }} /&gt;</a:t>
            </a:r>
            <a:br/>
            <a:r>
              <a:t>        &lt;/article&gt;</a:t>
            </a:r>
            <a:br/>
            <a:r>
              <a:t>    );</a:t>
            </a:r>
            <a:b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Strapi CMS - Pourquoi ?</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500" b="1">
                <a:solidFill>
                  <a:srgbClr val="2D2D2D"/>
                </a:solidFill>
                <a:latin typeface="Segoe UI"/>
              </a:defRPr>
            </a:pPr>
            <a:r>
              <a:t>🎯 Contexte de choix</a:t>
            </a:r>
          </a:p>
          <a:p>
            <a:pPr>
              <a:spcAft>
                <a:spcPts val="800"/>
              </a:spcAft>
              <a:defRPr sz="1300">
                <a:solidFill>
                  <a:srgbClr val="2D2D2D"/>
                </a:solidFill>
                <a:latin typeface="Segoe UI"/>
              </a:defRPr>
            </a:pPr>
            <a:r>
              <a:t>L'agence UFO Agency a choisi Strapi pour ce projet afin de fournir une interface simple de gestion de contenu à l'association.</a:t>
            </a:r>
          </a:p>
          <a:p>
            <a:pPr>
              <a:spcAft>
                <a:spcPts val="800"/>
              </a:spcAft>
              <a:defRPr sz="1300">
                <a:solidFill>
                  <a:srgbClr val="2D2D2D"/>
                </a:solidFill>
                <a:latin typeface="Segoe UI"/>
              </a:defRPr>
            </a:pPr>
          </a:p>
          <a:p>
            <a:pPr>
              <a:spcAft>
                <a:spcPts val="800"/>
              </a:spcAft>
              <a:defRPr sz="1500" b="1">
                <a:solidFill>
                  <a:srgbClr val="2D2D2D"/>
                </a:solidFill>
                <a:latin typeface="Segoe UI"/>
              </a:defRPr>
            </a:pPr>
            <a:r>
              <a:t>✅ Avantages de Strapi</a:t>
            </a:r>
          </a:p>
          <a:p>
            <a:pPr>
              <a:spcAft>
                <a:spcPts val="800"/>
              </a:spcAft>
              <a:defRPr sz="1300">
                <a:solidFill>
                  <a:srgbClr val="2D2D2D"/>
                </a:solidFill>
                <a:latin typeface="Segoe UI"/>
              </a:defRPr>
            </a:pPr>
            <a:r>
              <a:t>Interface d'administration clé en main</a:t>
            </a:r>
          </a:p>
          <a:p>
            <a:pPr lvl="1">
              <a:spcAft>
                <a:spcPts val="800"/>
              </a:spcAft>
              <a:defRPr sz="1200">
                <a:solidFill>
                  <a:srgbClr val="2D2D2D"/>
                </a:solidFill>
                <a:latin typeface="Segoe UI"/>
              </a:defRPr>
            </a:pPr>
            <a:r>
              <a:t>→ L'association peut gérer articles, interviews et partenaires sans compétences techniques</a:t>
            </a:r>
          </a:p>
          <a:p>
            <a:pPr>
              <a:spcAft>
                <a:spcPts val="800"/>
              </a:spcAft>
              <a:defRPr sz="1300">
                <a:solidFill>
                  <a:srgbClr val="2D2D2D"/>
                </a:solidFill>
                <a:latin typeface="Segoe UI"/>
              </a:defRPr>
            </a:pPr>
          </a:p>
          <a:p>
            <a:pPr>
              <a:spcAft>
                <a:spcPts val="800"/>
              </a:spcAft>
              <a:defRPr sz="1300">
                <a:solidFill>
                  <a:srgbClr val="2D2D2D"/>
                </a:solidFill>
                <a:latin typeface="Segoe UI"/>
              </a:defRPr>
            </a:pPr>
            <a:r>
              <a:t>API REST générée automatiquement</a:t>
            </a:r>
          </a:p>
          <a:p>
            <a:pPr lvl="1">
              <a:spcAft>
                <a:spcPts val="800"/>
              </a:spcAft>
              <a:defRPr sz="1200">
                <a:solidFill>
                  <a:srgbClr val="2D2D2D"/>
                </a:solidFill>
                <a:latin typeface="Segoe UI"/>
              </a:defRPr>
            </a:pPr>
            <a:r>
              <a:t>→ Gain de temps sur le développement backend</a:t>
            </a:r>
          </a:p>
          <a:p>
            <a:pPr>
              <a:spcAft>
                <a:spcPts val="800"/>
              </a:spcAft>
              <a:defRPr sz="1300">
                <a:solidFill>
                  <a:srgbClr val="2D2D2D"/>
                </a:solidFill>
                <a:latin typeface="Segoe UI"/>
              </a:defRPr>
            </a:pPr>
          </a:p>
          <a:p>
            <a:pPr>
              <a:spcAft>
                <a:spcPts val="800"/>
              </a:spcAft>
              <a:defRPr sz="1300">
                <a:solidFill>
                  <a:srgbClr val="2D2D2D"/>
                </a:solidFill>
                <a:latin typeface="Segoe UI"/>
              </a:defRPr>
            </a:pPr>
            <a:r>
              <a:t>Gestion des médias intégrée</a:t>
            </a:r>
          </a:p>
          <a:p>
            <a:pPr lvl="1">
              <a:spcAft>
                <a:spcPts val="800"/>
              </a:spcAft>
              <a:defRPr sz="1200">
                <a:solidFill>
                  <a:srgbClr val="2D2D2D"/>
                </a:solidFill>
                <a:latin typeface="Segoe UI"/>
              </a:defRPr>
            </a:pPr>
            <a:r>
              <a:t>→ Upload d'images et vidéos directement dans l'interface</a:t>
            </a:r>
          </a:p>
          <a:p>
            <a:pPr>
              <a:spcAft>
                <a:spcPts val="800"/>
              </a:spcAft>
              <a:defRPr sz="1300">
                <a:solidFill>
                  <a:srgbClr val="2D2D2D"/>
                </a:solidFill>
                <a:latin typeface="Segoe UI"/>
              </a:defRPr>
            </a:pPr>
          </a:p>
          <a:p>
            <a:pPr>
              <a:spcAft>
                <a:spcPts val="800"/>
              </a:spcAft>
              <a:defRPr sz="1300">
                <a:solidFill>
                  <a:srgbClr val="2D2D2D"/>
                </a:solidFill>
                <a:latin typeface="Segoe UI"/>
              </a:defRPr>
            </a:pPr>
            <a:r>
              <a:t>Extensible avec des routes personnalisées</a:t>
            </a:r>
          </a:p>
          <a:p>
            <a:pPr lvl="1">
              <a:spcAft>
                <a:spcPts val="800"/>
              </a:spcAft>
              <a:defRPr sz="1200">
                <a:solidFill>
                  <a:srgbClr val="2D2D2D"/>
                </a:solidFill>
                <a:latin typeface="Segoe UI"/>
              </a:defRPr>
            </a:pPr>
            <a:r>
              <a:t>→ J'ai pu ajouter une route d'envoi d'email pour le formulaire de contact</a:t>
            </a:r>
          </a:p>
          <a:p>
            <a:pPr>
              <a:spcAft>
                <a:spcPts val="800"/>
              </a:spcAft>
              <a:defRPr sz="1300">
                <a:solidFill>
                  <a:srgbClr val="2D2D2D"/>
                </a:solidFill>
                <a:latin typeface="Segoe UI"/>
              </a:defRPr>
            </a:pPr>
          </a:p>
          <a:p>
            <a:pPr>
              <a:spcAft>
                <a:spcPts val="800"/>
              </a:spcAft>
              <a:defRPr sz="1300">
                <a:solidFill>
                  <a:srgbClr val="2D2D2D"/>
                </a:solidFill>
                <a:latin typeface="Segoe UI"/>
              </a:defRPr>
            </a:pPr>
            <a:r>
              <a:t>Open source et bien documenté</a:t>
            </a:r>
          </a:p>
          <a:p>
            <a:pPr lvl="1">
              <a:spcAft>
                <a:spcPts val="800"/>
              </a:spcAft>
              <a:defRPr sz="1200">
                <a:solidFill>
                  <a:srgbClr val="2D2D2D"/>
                </a:solidFill>
                <a:latin typeface="Segoe UI"/>
              </a:defRPr>
            </a:pPr>
            <a:r>
              <a:t>→ Large communauté et ressources disponibles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Optimisations Performance - APD</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500" b="1">
                <a:solidFill>
                  <a:srgbClr val="2D2D2D"/>
                </a:solidFill>
                <a:latin typeface="Segoe UI"/>
              </a:defRPr>
            </a:pPr>
            <a:r>
              <a:t>⚡ Stratégies d'optimisation mises en place</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1. Images optimisées avec next/image</a:t>
            </a:r>
          </a:p>
          <a:p>
            <a:pPr>
              <a:spcAft>
                <a:spcPts val="800"/>
              </a:spcAft>
              <a:defRPr sz="1200">
                <a:solidFill>
                  <a:srgbClr val="2D2D2D"/>
                </a:solidFill>
                <a:latin typeface="Segoe UI"/>
              </a:defRPr>
            </a:pPr>
            <a:r>
              <a:t>Redimensionnement automatique et lazy loading</a:t>
            </a:r>
          </a:p>
          <a:p>
            <a:pPr>
              <a:spcAft>
                <a:spcPts val="800"/>
              </a:spcAft>
              <a:defRPr sz="1200">
                <a:solidFill>
                  <a:srgbClr val="2D2D2D"/>
                </a:solidFill>
                <a:latin typeface="Segoe UI"/>
              </a:defRPr>
            </a:pPr>
            <a:r>
              <a:t>Format WebP pour réduire la taille des fichiers</a:t>
            </a:r>
          </a:p>
          <a:p>
            <a:pPr>
              <a:spcAft>
                <a:spcPts val="800"/>
              </a:spcAft>
              <a:defRPr sz="1200">
                <a:solidFill>
                  <a:srgbClr val="2D2D2D"/>
                </a:solidFill>
                <a:latin typeface="Segoe UI"/>
              </a:defRPr>
            </a:pPr>
            <a:r>
              <a:t>CDN Cloudinary pour un chargement rapide</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2. Code splitting avec dynamic imports</a:t>
            </a:r>
          </a:p>
          <a:p>
            <a:pPr>
              <a:spcAft>
                <a:spcPts val="800"/>
              </a:spcAft>
              <a:defRPr sz="1200">
                <a:solidFill>
                  <a:srgbClr val="2D2D2D"/>
                </a:solidFill>
                <a:latin typeface="Segoe UI"/>
              </a:defRPr>
            </a:pPr>
            <a:r>
              <a:t>Chargement différé des composants non critiques</a:t>
            </a:r>
          </a:p>
          <a:p>
            <a:pPr>
              <a:spcAft>
                <a:spcPts val="800"/>
              </a:spcAft>
              <a:defRPr sz="1200">
                <a:solidFill>
                  <a:srgbClr val="2D2D2D"/>
                </a:solidFill>
                <a:latin typeface="Segoe UI"/>
              </a:defRPr>
            </a:pPr>
            <a:r>
              <a:t>Réduction du bundle JavaScript initial</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3. Chargement prioritaire</a:t>
            </a:r>
          </a:p>
          <a:p>
            <a:pPr>
              <a:spcAft>
                <a:spcPts val="800"/>
              </a:spcAft>
              <a:defRPr sz="1200">
                <a:solidFill>
                  <a:srgbClr val="2D2D2D"/>
                </a:solidFill>
                <a:latin typeface="Segoe UI"/>
              </a:defRPr>
            </a:pPr>
            <a:r>
              <a:t>Vidéo d'accueil chargée en priorité avec preload="auto"</a:t>
            </a:r>
          </a:p>
          <a:p>
            <a:pPr>
              <a:spcAft>
                <a:spcPts val="800"/>
              </a:spcAft>
              <a:defRPr sz="1200">
                <a:solidFill>
                  <a:srgbClr val="2D2D2D"/>
                </a:solidFill>
                <a:latin typeface="Segoe UI"/>
              </a:defRPr>
            </a:pPr>
            <a:r>
              <a:t>Hook useSiteData qui charge l'accueil en premier</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4. Server-Side Rendering (SSR)</a:t>
            </a:r>
          </a:p>
          <a:p>
            <a:pPr>
              <a:spcAft>
                <a:spcPts val="800"/>
              </a:spcAft>
              <a:defRPr sz="1200">
                <a:solidFill>
                  <a:srgbClr val="2D2D2D"/>
                </a:solidFill>
                <a:latin typeface="Segoe UI"/>
              </a:defRPr>
            </a:pPr>
            <a:r>
              <a:t>Pages générées côté serveur pour un meilleur SEO</a:t>
            </a:r>
          </a:p>
          <a:p>
            <a:pPr>
              <a:spcAft>
                <a:spcPts val="800"/>
              </a:spcAft>
              <a:defRPr sz="1200">
                <a:solidFill>
                  <a:srgbClr val="2D2D2D"/>
                </a:solidFill>
                <a:latin typeface="Segoe UI"/>
              </a:defRPr>
            </a:pPr>
            <a:r>
              <a:t>Incremental Static Regeneration (revalidate: 60s)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Responsive Design &amp; Accessibilité</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500" b="1">
                <a:solidFill>
                  <a:srgbClr val="2D2D2D"/>
                </a:solidFill>
                <a:latin typeface="Segoe UI"/>
              </a:defRPr>
            </a:pPr>
            <a:r>
              <a:t>📱 Approche Mobile-First</a:t>
            </a:r>
          </a:p>
          <a:p>
            <a:pPr>
              <a:spcAft>
                <a:spcPts val="800"/>
              </a:spcAft>
              <a:defRPr sz="1300">
                <a:solidFill>
                  <a:srgbClr val="2D2D2D"/>
                </a:solidFill>
                <a:latin typeface="Segoe UI"/>
              </a:defRPr>
            </a:pPr>
            <a:r>
              <a:t>J'ai développé le site en commençant par la version mobile, puis adapté progressivement pour les écrans plus larges.</a:t>
            </a:r>
          </a:p>
          <a:p>
            <a:pPr>
              <a:spcAft>
                <a:spcPts val="800"/>
              </a:spcAft>
              <a:defRPr sz="1300">
                <a:solidFill>
                  <a:srgbClr val="2D2D2D"/>
                </a:solidFill>
                <a:latin typeface="Segoe UI"/>
              </a:defRPr>
            </a:pPr>
          </a:p>
          <a:p>
            <a:pPr>
              <a:spcAft>
                <a:spcPts val="800"/>
              </a:spcAft>
              <a:defRPr sz="1400" b="1">
                <a:solidFill>
                  <a:srgbClr val="2D2D2D"/>
                </a:solidFill>
                <a:latin typeface="Segoe UI"/>
              </a:defRPr>
            </a:pPr>
            <a:r>
              <a:t>TailwindCSS - Breakpoints utilisés :</a:t>
            </a:r>
          </a:p>
          <a:p>
            <a:pPr lvl="1">
              <a:spcAft>
                <a:spcPts val="800"/>
              </a:spcAft>
              <a:defRPr sz="1200">
                <a:solidFill>
                  <a:srgbClr val="2D2D2D"/>
                </a:solidFill>
                <a:latin typeface="Consolas"/>
              </a:defRPr>
            </a:pPr>
            <a:r>
              <a:t>sm: (640px)  → Petits écrans</a:t>
            </a:r>
          </a:p>
          <a:p>
            <a:pPr lvl="1">
              <a:spcAft>
                <a:spcPts val="800"/>
              </a:spcAft>
              <a:defRPr sz="1200">
                <a:solidFill>
                  <a:srgbClr val="2D2D2D"/>
                </a:solidFill>
                <a:latin typeface="Consolas"/>
              </a:defRPr>
            </a:pPr>
            <a:r>
              <a:t>md: (768px)  → Tablettes</a:t>
            </a:r>
          </a:p>
          <a:p>
            <a:pPr lvl="1">
              <a:spcAft>
                <a:spcPts val="800"/>
              </a:spcAft>
              <a:defRPr sz="1200">
                <a:solidFill>
                  <a:srgbClr val="2D2D2D"/>
                </a:solidFill>
                <a:latin typeface="Consolas"/>
              </a:defRPr>
            </a:pPr>
            <a:r>
              <a:t>lg: (1024px) → Desktop</a:t>
            </a:r>
          </a:p>
          <a:p>
            <a:pPr lvl="1">
              <a:spcAft>
                <a:spcPts val="800"/>
              </a:spcAft>
              <a:defRPr sz="1200">
                <a:solidFill>
                  <a:srgbClr val="2D2D2D"/>
                </a:solidFill>
                <a:latin typeface="Consolas"/>
              </a:defRPr>
            </a:pPr>
            <a:r>
              <a:t>xl: (1280px) → Large desktop</a:t>
            </a:r>
          </a:p>
          <a:p>
            <a:pPr>
              <a:spcAft>
                <a:spcPts val="800"/>
              </a:spcAft>
              <a:defRPr sz="1300">
                <a:solidFill>
                  <a:srgbClr val="2D2D2D"/>
                </a:solidFill>
                <a:latin typeface="Segoe UI"/>
              </a:defRPr>
            </a:pPr>
          </a:p>
          <a:p>
            <a:pPr>
              <a:spcAft>
                <a:spcPts val="800"/>
              </a:spcAft>
              <a:defRPr sz="1500" b="1">
                <a:solidFill>
                  <a:srgbClr val="2D2D2D"/>
                </a:solidFill>
                <a:latin typeface="Segoe UI"/>
              </a:defRPr>
            </a:pPr>
            <a:r>
              <a:t>♿ Accessibilité (WCAG)</a:t>
            </a:r>
          </a:p>
          <a:p>
            <a:pPr>
              <a:spcAft>
                <a:spcPts val="800"/>
              </a:spcAft>
              <a:defRPr sz="1200">
                <a:solidFill>
                  <a:srgbClr val="2D2D2D"/>
                </a:solidFill>
                <a:latin typeface="Segoe UI"/>
              </a:defRPr>
            </a:pPr>
            <a:r>
              <a:t>Balises sémantiques HTML5 (header, nav, main, article, section)</a:t>
            </a:r>
          </a:p>
          <a:p>
            <a:pPr>
              <a:spcAft>
                <a:spcPts val="800"/>
              </a:spcAft>
              <a:defRPr sz="1200">
                <a:solidFill>
                  <a:srgbClr val="2D2D2D"/>
                </a:solidFill>
                <a:latin typeface="Segoe UI"/>
              </a:defRPr>
            </a:pPr>
            <a:r>
              <a:t>Attributs alt sur toutes les images</a:t>
            </a:r>
          </a:p>
          <a:p>
            <a:pPr>
              <a:spcAft>
                <a:spcPts val="800"/>
              </a:spcAft>
              <a:defRPr sz="1200">
                <a:solidFill>
                  <a:srgbClr val="2D2D2D"/>
                </a:solidFill>
                <a:latin typeface="Segoe UI"/>
              </a:defRPr>
            </a:pPr>
            <a:r>
              <a:t>Contraste de couleurs conforme aux normes AA</a:t>
            </a:r>
          </a:p>
          <a:p>
            <a:pPr>
              <a:spcAft>
                <a:spcPts val="800"/>
              </a:spcAft>
              <a:defRPr sz="1200">
                <a:solidFill>
                  <a:srgbClr val="2D2D2D"/>
                </a:solidFill>
                <a:latin typeface="Segoe UI"/>
              </a:defRPr>
            </a:pPr>
            <a:r>
              <a:t>Navigation au clavier fonctionnelle</a:t>
            </a:r>
          </a:p>
          <a:p>
            <a:pPr>
              <a:spcAft>
                <a:spcPts val="800"/>
              </a:spcAft>
              <a:defRPr sz="1200">
                <a:solidFill>
                  <a:srgbClr val="2D2D2D"/>
                </a:solidFill>
                <a:latin typeface="Segoe UI"/>
              </a:defRPr>
            </a:pPr>
            <a:r>
              <a:t>Attributs ARIA pour les éléments interactifs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Compétences Frontend Démontrées - APD</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700" b="1">
                <a:solidFill>
                  <a:srgbClr val="2D2D2D"/>
                </a:solidFill>
                <a:latin typeface="Segoe UI"/>
              </a:defRPr>
            </a:pPr>
            <a:r>
              <a:t>✅ Attendus TP DWWM - Frontend (Projet APD)</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2. Réaliser une interface utilisateur web statique et adaptable</a:t>
            </a:r>
          </a:p>
          <a:p>
            <a:pPr>
              <a:spcAft>
                <a:spcPts val="800"/>
              </a:spcAft>
              <a:defRPr sz="1200">
                <a:solidFill>
                  <a:srgbClr val="2D2D2D"/>
                </a:solidFill>
                <a:latin typeface="Segoe UI"/>
              </a:defRPr>
            </a:pPr>
            <a:r>
              <a:t>✓ HTML5 sémantique avec Next.js/React</a:t>
            </a:r>
          </a:p>
          <a:p>
            <a:pPr>
              <a:spcAft>
                <a:spcPts val="800"/>
              </a:spcAft>
              <a:defRPr sz="1200">
                <a:solidFill>
                  <a:srgbClr val="2D2D2D"/>
                </a:solidFill>
                <a:latin typeface="Segoe UI"/>
              </a:defRPr>
            </a:pPr>
            <a:r>
              <a:t>✓ CSS moderne avec TailwindCSS</a:t>
            </a:r>
          </a:p>
          <a:p>
            <a:pPr>
              <a:spcAft>
                <a:spcPts val="800"/>
              </a:spcAft>
              <a:defRPr sz="1200">
                <a:solidFill>
                  <a:srgbClr val="2D2D2D"/>
                </a:solidFill>
                <a:latin typeface="Segoe UI"/>
              </a:defRPr>
            </a:pPr>
            <a:r>
              <a:t>✓ Design responsive mobile-first</a:t>
            </a:r>
          </a:p>
          <a:p>
            <a:pPr>
              <a:spcAft>
                <a:spcPts val="800"/>
              </a:spcAft>
              <a:defRPr sz="1200">
                <a:solidFill>
                  <a:srgbClr val="2D2D2D"/>
                </a:solidFill>
                <a:latin typeface="Segoe UI"/>
              </a:defRPr>
            </a:pPr>
            <a:r>
              <a:t>✓ Accessibilité WCAG 2.1 niveau AA</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3. Développer une interface utilisateur web dynamique</a:t>
            </a:r>
          </a:p>
          <a:p>
            <a:pPr>
              <a:spcAft>
                <a:spcPts val="800"/>
              </a:spcAft>
              <a:defRPr sz="1200">
                <a:solidFill>
                  <a:srgbClr val="2D2D2D"/>
                </a:solidFill>
                <a:latin typeface="Segoe UI"/>
              </a:defRPr>
            </a:pPr>
            <a:r>
              <a:t>✓ React 19 avec composants fonctionnels et hooks</a:t>
            </a:r>
          </a:p>
          <a:p>
            <a:pPr>
              <a:spcAft>
                <a:spcPts val="800"/>
              </a:spcAft>
              <a:defRPr sz="1200">
                <a:solidFill>
                  <a:srgbClr val="2D2D2D"/>
                </a:solidFill>
                <a:latin typeface="Segoe UI"/>
              </a:defRPr>
            </a:pPr>
            <a:r>
              <a:t>✓ Gestion d'état avec useState/useEffect</a:t>
            </a:r>
          </a:p>
          <a:p>
            <a:pPr>
              <a:spcAft>
                <a:spcPts val="800"/>
              </a:spcAft>
              <a:defRPr sz="1200">
                <a:solidFill>
                  <a:srgbClr val="2D2D2D"/>
                </a:solidFill>
                <a:latin typeface="Segoe UI"/>
              </a:defRPr>
            </a:pPr>
            <a:r>
              <a:t>✓ Hooks personnalisés réutilisables</a:t>
            </a:r>
          </a:p>
          <a:p>
            <a:pPr>
              <a:spcAft>
                <a:spcPts val="800"/>
              </a:spcAft>
              <a:defRPr sz="1200">
                <a:solidFill>
                  <a:srgbClr val="2D2D2D"/>
                </a:solidFill>
                <a:latin typeface="Segoe UI"/>
              </a:defRPr>
            </a:pPr>
            <a:r>
              <a:t>✓ Animations et interactions fluides (GSAP, Lenis)</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4. Réaliser une interface avec solution de gestion de contenu</a:t>
            </a:r>
          </a:p>
          <a:p>
            <a:pPr>
              <a:spcAft>
                <a:spcPts val="800"/>
              </a:spcAft>
              <a:defRPr sz="1200">
                <a:solidFill>
                  <a:srgbClr val="2D2D2D"/>
                </a:solidFill>
                <a:latin typeface="Segoe UI"/>
              </a:defRPr>
            </a:pPr>
            <a:r>
              <a:t>✓ Intégration complète avec Strapi CMS headless</a:t>
            </a:r>
          </a:p>
          <a:p>
            <a:pPr>
              <a:spcAft>
                <a:spcPts val="800"/>
              </a:spcAft>
              <a:defRPr sz="1200">
                <a:solidFill>
                  <a:srgbClr val="2D2D2D"/>
                </a:solidFill>
                <a:latin typeface="Segoe UI"/>
              </a:defRPr>
            </a:pPr>
            <a:r>
              <a:t>✓ Consommation API REST avec fetch</a:t>
            </a:r>
          </a:p>
          <a:p>
            <a:pPr>
              <a:spcAft>
                <a:spcPts val="800"/>
              </a:spcAft>
              <a:defRPr sz="1200">
                <a:solidFill>
                  <a:srgbClr val="2D2D2D"/>
                </a:solidFill>
                <a:latin typeface="Segoe UI"/>
              </a:defRPr>
            </a:pPr>
            <a:r>
              <a:t>✓ Optimisation cache et revalidation Next.js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7562088" cy="91440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0"/>
            <a:ext cx="6647688" cy="1371600"/>
          </a:xfrm>
          <a:prstGeom prst="rect">
            <a:avLst/>
          </a:prstGeom>
          <a:noFill/>
        </p:spPr>
        <p:txBody>
          <a:bodyPr wrap="none">
            <a:spAutoFit/>
          </a:bodyPr>
          <a:lstStyle/>
          <a:p>
            <a:pPr algn="ctr">
              <a:defRPr sz="11000">
                <a:solidFill>
                  <a:srgbClr val="E6E6E6"/>
                </a:solidFill>
                <a:latin typeface="Segoe UI Light"/>
              </a:defRPr>
            </a:pPr>
            <a:r>
              <a:t>02</a:t>
            </a:r>
          </a:p>
        </p:txBody>
      </p:sp>
      <p:sp>
        <p:nvSpPr>
          <p:cNvPr id="5" name="TextBox 4"/>
          <p:cNvSpPr txBox="1"/>
          <p:nvPr/>
        </p:nvSpPr>
        <p:spPr>
          <a:xfrm>
            <a:off x="457200" y="4572000"/>
            <a:ext cx="6647688" cy="822960"/>
          </a:xfrm>
          <a:prstGeom prst="rect">
            <a:avLst/>
          </a:prstGeom>
          <a:noFill/>
        </p:spPr>
        <p:txBody>
          <a:bodyPr wrap="none" anchor="t">
            <a:spAutoFit/>
          </a:bodyPr>
          <a:lstStyle/>
          <a:p>
            <a:pPr algn="ctr">
              <a:defRPr sz="3000">
                <a:solidFill>
                  <a:srgbClr val="FFFFFF"/>
                </a:solidFill>
                <a:latin typeface="Segoe UI Semibold"/>
              </a:defRPr>
            </a:pPr>
            <a:r>
              <a:t>MAQUETTAGE - PROJET COOLBOOKING (Front)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Projet CoolBooking - Contexte</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600" b="1">
                <a:solidFill>
                  <a:srgbClr val="AC1115"/>
                </a:solidFill>
                <a:latin typeface="Segoe UI"/>
              </a:defRPr>
            </a:pPr>
            <a:r>
              <a:t>📋 Présentation du projet fil-rouge</a:t>
            </a:r>
          </a:p>
          <a:p>
            <a:pPr>
              <a:spcAft>
                <a:spcPts val="800"/>
              </a:spcAft>
              <a:defRPr sz="1300">
                <a:solidFill>
                  <a:srgbClr val="2D2D2D"/>
                </a:solidFill>
                <a:latin typeface="Segoe UI"/>
              </a:defRPr>
            </a:pPr>
            <a:r>
              <a:t>CoolBooking est mon projet personnel (fil-rouge) développé parallèlement au stage.</a:t>
            </a:r>
          </a:p>
          <a:p>
            <a:pPr>
              <a:spcAft>
                <a:spcPts val="800"/>
              </a:spcAft>
              <a:defRPr sz="1300">
                <a:solidFill>
                  <a:srgbClr val="2D2D2D"/>
                </a:solidFill>
                <a:latin typeface="Segoe UI"/>
              </a:defRPr>
            </a:pPr>
            <a:r>
              <a:t>Plateforme de mise en relation entre propriétaires et locataires de biens immobiliers.</a:t>
            </a:r>
          </a:p>
          <a:p>
            <a:pPr>
              <a:spcAft>
                <a:spcPts val="800"/>
              </a:spcAft>
              <a:defRPr sz="1300">
                <a:solidFill>
                  <a:srgbClr val="2D2D2D"/>
                </a:solidFill>
                <a:latin typeface="Segoe UI"/>
              </a:defRPr>
            </a:pPr>
          </a:p>
          <a:p>
            <a:pPr>
              <a:spcAft>
                <a:spcPts val="800"/>
              </a:spcAft>
              <a:defRPr sz="1600" b="1">
                <a:solidFill>
                  <a:srgbClr val="AC1115"/>
                </a:solidFill>
                <a:latin typeface="Segoe UI"/>
              </a:defRPr>
            </a:pPr>
            <a:r>
              <a:t>🎯 Objectif pédagogique</a:t>
            </a:r>
          </a:p>
          <a:p>
            <a:pPr>
              <a:spcAft>
                <a:spcPts val="800"/>
              </a:spcAft>
              <a:defRPr sz="1300">
                <a:solidFill>
                  <a:srgbClr val="2D2D2D"/>
                </a:solidFill>
                <a:latin typeface="Segoe UI"/>
              </a:defRPr>
            </a:pPr>
            <a:r>
              <a:t>Ce projet me permet d'expérimenter des technologies complémentaires à celles utilisées en stage :</a:t>
            </a:r>
          </a:p>
          <a:p>
            <a:pPr lvl="1">
              <a:spcAft>
                <a:spcPts val="800"/>
              </a:spcAft>
              <a:defRPr sz="1200">
                <a:solidFill>
                  <a:srgbClr val="2D2D2D"/>
                </a:solidFill>
                <a:latin typeface="Segoe UI"/>
              </a:defRPr>
            </a:pPr>
            <a:r>
              <a:t>→ Base de données relationnelle MariaDB (vs PostgreSQL de Strapi)</a:t>
            </a:r>
          </a:p>
          <a:p>
            <a:pPr lvl="1">
              <a:spcAft>
                <a:spcPts val="800"/>
              </a:spcAft>
              <a:defRPr sz="1200">
                <a:solidFill>
                  <a:srgbClr val="2D2D2D"/>
                </a:solidFill>
                <a:latin typeface="Segoe UI"/>
              </a:defRPr>
            </a:pPr>
            <a:r>
              <a:t>→ Backend Express custom (vs Strapi auto-généré)</a:t>
            </a:r>
          </a:p>
          <a:p>
            <a:pPr lvl="1">
              <a:spcAft>
                <a:spcPts val="800"/>
              </a:spcAft>
              <a:defRPr sz="1200">
                <a:solidFill>
                  <a:srgbClr val="2D2D2D"/>
                </a:solidFill>
                <a:latin typeface="Segoe UI"/>
              </a:defRPr>
            </a:pPr>
            <a:r>
              <a:t>→ Authentification JWT personnalisée</a:t>
            </a:r>
          </a:p>
          <a:p>
            <a:pPr lvl="1">
              <a:spcAft>
                <a:spcPts val="800"/>
              </a:spcAft>
              <a:defRPr sz="1200">
                <a:solidFill>
                  <a:srgbClr val="2D2D2D"/>
                </a:solidFill>
                <a:latin typeface="Segoe UI"/>
              </a:defRPr>
            </a:pPr>
            <a:r>
              <a:t>→ Architecture complète de A à Z</a:t>
            </a:r>
          </a:p>
          <a:p>
            <a:pPr>
              <a:spcAft>
                <a:spcPts val="800"/>
              </a:spcAft>
              <a:defRPr sz="1300">
                <a:solidFill>
                  <a:srgbClr val="2D2D2D"/>
                </a:solidFill>
                <a:latin typeface="Segoe UI"/>
              </a:defRPr>
            </a:pPr>
          </a:p>
          <a:p>
            <a:pPr>
              <a:spcAft>
                <a:spcPts val="800"/>
              </a:spcAft>
              <a:defRPr sz="1600" b="1">
                <a:solidFill>
                  <a:srgbClr val="AC1115"/>
                </a:solidFill>
                <a:latin typeface="Segoe UI"/>
              </a:defRPr>
            </a:pPr>
            <a:r>
              <a:t>💡 Pourquoi deux projets ?</a:t>
            </a:r>
          </a:p>
          <a:p>
            <a:pPr>
              <a:spcAft>
                <a:spcPts val="800"/>
              </a:spcAft>
              <a:defRPr sz="1300">
                <a:solidFill>
                  <a:srgbClr val="2D2D2D"/>
                </a:solidFill>
                <a:latin typeface="Segoe UI"/>
              </a:defRPr>
            </a:pPr>
            <a:r>
              <a:t>Le projet APD (stage) utilise Strapi imposé par l'agence. Pour démontrer ma maîtrise complète d'une base de données relationnelle et d'un backend custom, j'ai choisi de présenter CoolBooking pour la partie backend du dossier.</a:t>
            </a:r>
          </a:p>
          <a:p>
            <a:pPr>
              <a:spcAft>
                <a:spcPts val="800"/>
              </a:spcAft>
              <a:defRPr sz="1300">
                <a:solidFill>
                  <a:srgbClr val="2D2D2D"/>
                </a:solidFill>
                <a:latin typeface="Segoe UI"/>
              </a:defRPr>
            </a:pPr>
          </a:p>
          <a:p>
            <a:pPr>
              <a:spcAft>
                <a:spcPts val="800"/>
              </a:spcAft>
              <a:defRPr sz="1300" b="1">
                <a:solidFill>
                  <a:srgbClr val="2D2D2D"/>
                </a:solidFill>
                <a:latin typeface="Segoe UI"/>
              </a:defRPr>
            </a:pPr>
            <a:r>
              <a:t>J'ai également expérimenté MongoDB sur ce projet, démontrant ma polyvalence entre bases relationnelles et NoSQL.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CoolBooking - Cahier des Charges</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600" b="1">
                <a:solidFill>
                  <a:srgbClr val="2D2D2D"/>
                </a:solidFill>
                <a:latin typeface="Segoe UI"/>
              </a:defRPr>
            </a:pPr>
            <a:r>
              <a:t>📝 Fonctionnalités principales</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Pour les propriétaires :</a:t>
            </a:r>
          </a:p>
          <a:p>
            <a:pPr>
              <a:spcAft>
                <a:spcPts val="800"/>
              </a:spcAft>
              <a:defRPr sz="1200">
                <a:solidFill>
                  <a:srgbClr val="2D2D2D"/>
                </a:solidFill>
                <a:latin typeface="Segoe UI"/>
              </a:defRPr>
            </a:pPr>
            <a:r>
              <a:t>✓ Inscription et création de profil</a:t>
            </a:r>
          </a:p>
          <a:p>
            <a:pPr>
              <a:spcAft>
                <a:spcPts val="800"/>
              </a:spcAft>
              <a:defRPr sz="1200">
                <a:solidFill>
                  <a:srgbClr val="2D2D2D"/>
                </a:solidFill>
                <a:latin typeface="Segoe UI"/>
              </a:defRPr>
            </a:pPr>
            <a:r>
              <a:t>✓ Publication d'annonces de location avec photos</a:t>
            </a:r>
          </a:p>
          <a:p>
            <a:pPr>
              <a:spcAft>
                <a:spcPts val="800"/>
              </a:spcAft>
              <a:defRPr sz="1200">
                <a:solidFill>
                  <a:srgbClr val="2D2D2D"/>
                </a:solidFill>
                <a:latin typeface="Segoe UI"/>
              </a:defRPr>
            </a:pPr>
            <a:r>
              <a:t>✓ Gestion de leurs annonces (CRUD complet)</a:t>
            </a:r>
          </a:p>
          <a:p>
            <a:pPr>
              <a:spcAft>
                <a:spcPts val="800"/>
              </a:spcAft>
              <a:defRPr sz="1200">
                <a:solidFill>
                  <a:srgbClr val="2D2D2D"/>
                </a:solidFill>
                <a:latin typeface="Segoe UI"/>
              </a:defRPr>
            </a:pPr>
            <a:r>
              <a:t>✓ Messagerie pour échanger avec les locataires</a:t>
            </a:r>
          </a:p>
          <a:p>
            <a:pPr>
              <a:spcAft>
                <a:spcPts val="800"/>
              </a:spcAft>
              <a:defRPr sz="1200">
                <a:solidFill>
                  <a:srgbClr val="2D2D2D"/>
                </a:solidFill>
                <a:latin typeface="Segoe UI"/>
              </a:defRPr>
            </a:pPr>
            <a:r>
              <a:t>✓ Consulter les biens disponibles en tant que locataire</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Pour les locataires :</a:t>
            </a:r>
          </a:p>
          <a:p>
            <a:pPr>
              <a:spcAft>
                <a:spcPts val="800"/>
              </a:spcAft>
              <a:defRPr sz="1200">
                <a:solidFill>
                  <a:srgbClr val="2D2D2D"/>
                </a:solidFill>
                <a:latin typeface="Segoe UI"/>
              </a:defRPr>
            </a:pPr>
            <a:r>
              <a:t>✓ Inscription et profil</a:t>
            </a:r>
          </a:p>
          <a:p>
            <a:pPr>
              <a:spcAft>
                <a:spcPts val="800"/>
              </a:spcAft>
              <a:defRPr sz="1200">
                <a:solidFill>
                  <a:srgbClr val="2D2D2D"/>
                </a:solidFill>
                <a:latin typeface="Segoe UI"/>
              </a:defRPr>
            </a:pPr>
            <a:r>
              <a:t>✓ Recherche et consultation des annonces</a:t>
            </a:r>
          </a:p>
          <a:p>
            <a:pPr>
              <a:spcAft>
                <a:spcPts val="800"/>
              </a:spcAft>
              <a:defRPr sz="1200">
                <a:solidFill>
                  <a:srgbClr val="2D2D2D"/>
                </a:solidFill>
                <a:latin typeface="Segoe UI"/>
              </a:defRPr>
            </a:pPr>
            <a:r>
              <a:t>✓ Mise en favoris des annonces</a:t>
            </a:r>
          </a:p>
          <a:p>
            <a:pPr>
              <a:spcAft>
                <a:spcPts val="800"/>
              </a:spcAft>
              <a:defRPr sz="1200">
                <a:solidFill>
                  <a:srgbClr val="2D2D2D"/>
                </a:solidFill>
                <a:latin typeface="Segoe UI"/>
              </a:defRPr>
            </a:pPr>
            <a:r>
              <a:t>✓ Messagerie avec les propriétaires</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Fonctionnalités transverses :</a:t>
            </a:r>
          </a:p>
          <a:p>
            <a:pPr>
              <a:spcAft>
                <a:spcPts val="800"/>
              </a:spcAft>
              <a:defRPr sz="1200">
                <a:solidFill>
                  <a:srgbClr val="2D2D2D"/>
                </a:solidFill>
                <a:latin typeface="Segoe UI"/>
              </a:defRPr>
            </a:pPr>
            <a:r>
              <a:t>✓ Authentification sécurisée (JWT + cookies HttpOnly)</a:t>
            </a:r>
          </a:p>
          <a:p>
            <a:pPr>
              <a:spcAft>
                <a:spcPts val="800"/>
              </a:spcAft>
              <a:defRPr sz="1200">
                <a:solidFill>
                  <a:srgbClr val="2D2D2D"/>
                </a:solidFill>
                <a:latin typeface="Segoe UI"/>
              </a:defRPr>
            </a:pPr>
            <a:r>
              <a:t>✓ Upload et stockage d'images (Cloudinary)</a:t>
            </a:r>
          </a:p>
          <a:p>
            <a:pPr>
              <a:spcAft>
                <a:spcPts val="800"/>
              </a:spcAft>
              <a:defRPr sz="1200">
                <a:solidFill>
                  <a:srgbClr val="2D2D2D"/>
                </a:solidFill>
                <a:latin typeface="Segoe UI"/>
              </a:defRPr>
            </a:pPr>
            <a:r>
              <a:t>✓ Gestion de compte (modification profil, avatar)</a:t>
            </a:r>
          </a:p>
          <a:p>
            <a:pPr>
              <a:spcAft>
                <a:spcPts val="800"/>
              </a:spcAft>
              <a:defRPr sz="1200">
                <a:solidFill>
                  <a:srgbClr val="2D2D2D"/>
                </a:solidFill>
                <a:latin typeface="Segoe UI"/>
              </a:defRPr>
            </a:pPr>
            <a:r>
              <a:t>✓ Responsive design mobile-first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Maquettage Figma - Démarche</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600" b="1">
                <a:solidFill>
                  <a:srgbClr val="2D2D2D"/>
                </a:solidFill>
                <a:latin typeface="Segoe UI"/>
              </a:defRPr>
            </a:pPr>
            <a:r>
              <a:t>🎨 Processus de maquettage</a:t>
            </a:r>
          </a:p>
          <a:p>
            <a:pPr>
              <a:spcAft>
                <a:spcPts val="800"/>
              </a:spcAft>
              <a:defRPr sz="1300">
                <a:solidFill>
                  <a:srgbClr val="2D2D2D"/>
                </a:solidFill>
                <a:latin typeface="Segoe UI"/>
              </a:defRPr>
            </a:pPr>
          </a:p>
          <a:p>
            <a:pPr>
              <a:spcAft>
                <a:spcPts val="800"/>
              </a:spcAft>
              <a:defRPr sz="1300">
                <a:solidFill>
                  <a:srgbClr val="2D2D2D"/>
                </a:solidFill>
                <a:latin typeface="Segoe UI"/>
              </a:defRPr>
            </a:pPr>
            <a:r>
              <a:t>Pour CoolBooking, j'ai réalisé l'ensemble du maquettage sur Figma avant de développer l'application.</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1. Analyse des besoins utilisateurs</a:t>
            </a:r>
          </a:p>
          <a:p>
            <a:pPr>
              <a:spcAft>
                <a:spcPts val="800"/>
              </a:spcAft>
              <a:defRPr sz="1200">
                <a:solidFill>
                  <a:srgbClr val="2D2D2D"/>
                </a:solidFill>
                <a:latin typeface="Segoe UI"/>
              </a:defRPr>
            </a:pPr>
            <a:r>
              <a:t>Identification des parcours utilisateurs (propriétaire vs locataire)</a:t>
            </a:r>
          </a:p>
          <a:p>
            <a:pPr>
              <a:spcAft>
                <a:spcPts val="800"/>
              </a:spcAft>
              <a:defRPr sz="1200">
                <a:solidFill>
                  <a:srgbClr val="2D2D2D"/>
                </a:solidFill>
                <a:latin typeface="Segoe UI"/>
              </a:defRPr>
            </a:pPr>
            <a:r>
              <a:t>Définition des fonctionnalités essentielles (MVP)</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2. Wireframes basse fidélité</a:t>
            </a:r>
          </a:p>
          <a:p>
            <a:pPr>
              <a:spcAft>
                <a:spcPts val="800"/>
              </a:spcAft>
              <a:defRPr sz="1200">
                <a:solidFill>
                  <a:srgbClr val="2D2D2D"/>
                </a:solidFill>
                <a:latin typeface="Segoe UI"/>
              </a:defRPr>
            </a:pPr>
            <a:r>
              <a:t>Esquisse de la structure des pages principales</a:t>
            </a:r>
          </a:p>
          <a:p>
            <a:pPr>
              <a:spcAft>
                <a:spcPts val="800"/>
              </a:spcAft>
              <a:defRPr sz="1200">
                <a:solidFill>
                  <a:srgbClr val="2D2D2D"/>
                </a:solidFill>
                <a:latin typeface="Segoe UI"/>
              </a:defRPr>
            </a:pPr>
            <a:r>
              <a:t>Organisation de l'information et hiérarchie visuelle</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3. Maquettes haute fidélité</a:t>
            </a:r>
          </a:p>
          <a:p>
            <a:pPr>
              <a:spcAft>
                <a:spcPts val="800"/>
              </a:spcAft>
              <a:defRPr sz="1200">
                <a:solidFill>
                  <a:srgbClr val="2D2D2D"/>
                </a:solidFill>
                <a:latin typeface="Segoe UI"/>
              </a:defRPr>
            </a:pPr>
            <a:r>
              <a:t>Design des écrans desktop et mobile</a:t>
            </a:r>
          </a:p>
          <a:p>
            <a:pPr>
              <a:spcAft>
                <a:spcPts val="800"/>
              </a:spcAft>
              <a:defRPr sz="1200">
                <a:solidFill>
                  <a:srgbClr val="2D2D2D"/>
                </a:solidFill>
                <a:latin typeface="Segoe UI"/>
              </a:defRPr>
            </a:pPr>
            <a:r>
              <a:t>Choix de la charte graphique (couleurs, typographie)</a:t>
            </a:r>
          </a:p>
          <a:p>
            <a:pPr>
              <a:spcAft>
                <a:spcPts val="800"/>
              </a:spcAft>
              <a:defRPr sz="1200">
                <a:solidFill>
                  <a:srgbClr val="2D2D2D"/>
                </a:solidFill>
                <a:latin typeface="Segoe UI"/>
              </a:defRPr>
            </a:pPr>
            <a:r>
              <a:t>Création des composants réutilisables</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4. Prototypage interactif</a:t>
            </a:r>
          </a:p>
          <a:p>
            <a:pPr>
              <a:spcAft>
                <a:spcPts val="800"/>
              </a:spcAft>
              <a:defRPr sz="1200">
                <a:solidFill>
                  <a:srgbClr val="2D2D2D"/>
                </a:solidFill>
                <a:latin typeface="Segoe UI"/>
              </a:defRPr>
            </a:pPr>
            <a:r>
              <a:t>Liens entre les pages pour simuler la navigation</a:t>
            </a:r>
          </a:p>
          <a:p>
            <a:pPr>
              <a:spcAft>
                <a:spcPts val="800"/>
              </a:spcAft>
              <a:defRPr sz="1200">
                <a:solidFill>
                  <a:srgbClr val="2D2D2D"/>
                </a:solidFill>
                <a:latin typeface="Segoe UI"/>
              </a:defRPr>
            </a:pPr>
            <a:r>
              <a:t>Test du parcours utilisateur</a:t>
            </a:r>
          </a:p>
          <a:p>
            <a:pPr>
              <a:spcAft>
                <a:spcPts val="800"/>
              </a:spcAft>
              <a:defRPr sz="1300">
                <a:solidFill>
                  <a:srgbClr val="2D2D2D"/>
                </a:solidFill>
                <a:latin typeface="Segoe UI"/>
              </a:defRPr>
            </a:pPr>
          </a:p>
          <a:p>
            <a:pPr>
              <a:spcAft>
                <a:spcPts val="800"/>
              </a:spcAft>
              <a:defRPr sz="1400" b="1">
                <a:solidFill>
                  <a:srgbClr val="2D2D2D"/>
                </a:solidFill>
                <a:latin typeface="Segoe UI"/>
              </a:defRPr>
            </a:pPr>
            <a:r>
              <a:t>🔗 Lien Figma :</a:t>
            </a:r>
          </a:p>
          <a:p>
            <a:pPr>
              <a:spcAft>
                <a:spcPts val="800"/>
              </a:spcAft>
              <a:defRPr sz="1000">
                <a:solidFill>
                  <a:srgbClr val="2D2D2D"/>
                </a:solidFill>
                <a:latin typeface="Consolas"/>
              </a:defRPr>
            </a:pPr>
            <a:r>
              <a:t>https://www.figma.com/design/zY3c9cuy1BIWtWpgnjX2Sd/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Charte Graphique CoolBooking</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600" b="1">
                <a:solidFill>
                  <a:srgbClr val="2D2D2D"/>
                </a:solidFill>
                <a:latin typeface="Segoe UI"/>
              </a:defRPr>
            </a:pPr>
            <a:r>
              <a:t>🎨 Identité visuelle</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Palette de couleurs :</a:t>
            </a:r>
          </a:p>
          <a:p>
            <a:pPr>
              <a:spcAft>
                <a:spcPts val="800"/>
              </a:spcAft>
              <a:defRPr sz="1200">
                <a:solidFill>
                  <a:srgbClr val="2D2D2D"/>
                </a:solidFill>
                <a:latin typeface="Segoe UI"/>
              </a:defRPr>
            </a:pPr>
            <a:r>
              <a:t>• Couleur principale : Bleu (#2563EB) - Confiance et professionnalisme</a:t>
            </a:r>
          </a:p>
          <a:p>
            <a:pPr>
              <a:spcAft>
                <a:spcPts val="800"/>
              </a:spcAft>
              <a:defRPr sz="1200">
                <a:solidFill>
                  <a:srgbClr val="2D2D2D"/>
                </a:solidFill>
                <a:latin typeface="Segoe UI"/>
              </a:defRPr>
            </a:pPr>
            <a:r>
              <a:t>• Couleur secondaire : Orange (#F97316) - Chaleur et convivialité</a:t>
            </a:r>
          </a:p>
          <a:p>
            <a:pPr>
              <a:spcAft>
                <a:spcPts val="800"/>
              </a:spcAft>
              <a:defRPr sz="1200">
                <a:solidFill>
                  <a:srgbClr val="2D2D2D"/>
                </a:solidFill>
                <a:latin typeface="Segoe UI"/>
              </a:defRPr>
            </a:pPr>
            <a:r>
              <a:t>• Couleur accent : Vert (#10B981) - Validation et succès</a:t>
            </a:r>
          </a:p>
          <a:p>
            <a:pPr>
              <a:spcAft>
                <a:spcPts val="800"/>
              </a:spcAft>
              <a:defRPr sz="1200">
                <a:solidFill>
                  <a:srgbClr val="2D2D2D"/>
                </a:solidFill>
                <a:latin typeface="Segoe UI"/>
              </a:defRPr>
            </a:pPr>
            <a:r>
              <a:t>• Tons neutres : Gris (#64748B) - Équilibre et sobriété</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Typographie :</a:t>
            </a:r>
          </a:p>
          <a:p>
            <a:pPr>
              <a:spcAft>
                <a:spcPts val="800"/>
              </a:spcAft>
              <a:defRPr sz="1200">
                <a:solidFill>
                  <a:srgbClr val="2D2D2D"/>
                </a:solidFill>
                <a:latin typeface="Segoe UI"/>
              </a:defRPr>
            </a:pPr>
            <a:r>
              <a:t>• Titres : Jockey One (caractère distinctif, mémorabilité)</a:t>
            </a:r>
          </a:p>
          <a:p>
            <a:pPr>
              <a:spcAft>
                <a:spcPts val="800"/>
              </a:spcAft>
              <a:defRPr sz="1200">
                <a:solidFill>
                  <a:srgbClr val="2D2D2D"/>
                </a:solidFill>
                <a:latin typeface="Segoe UI"/>
              </a:defRPr>
            </a:pPr>
            <a:r>
              <a:t>• Corps de texte : Quicksand (lisibilité, modernité)</a:t>
            </a:r>
          </a:p>
          <a:p>
            <a:pPr>
              <a:spcAft>
                <a:spcPts val="800"/>
              </a:spcAft>
              <a:defRPr sz="1200">
                <a:solidFill>
                  <a:srgbClr val="2D2D2D"/>
                </a:solidFill>
                <a:latin typeface="Segoe UI"/>
              </a:defRPr>
            </a:pPr>
            <a:r>
              <a:t>• Hiérarchie claire : H1 (32px), H2 (24px), Body (16px)</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Principes de design :</a:t>
            </a:r>
          </a:p>
          <a:p>
            <a:pPr>
              <a:spcAft>
                <a:spcPts val="800"/>
              </a:spcAft>
              <a:defRPr sz="1200">
                <a:solidFill>
                  <a:srgbClr val="2D2D2D"/>
                </a:solidFill>
                <a:latin typeface="Segoe UI"/>
              </a:defRPr>
            </a:pPr>
            <a:r>
              <a:t>• Espacements généreux pour une lecture confortable</a:t>
            </a:r>
          </a:p>
          <a:p>
            <a:pPr>
              <a:spcAft>
                <a:spcPts val="800"/>
              </a:spcAft>
              <a:defRPr sz="1200">
                <a:solidFill>
                  <a:srgbClr val="2D2D2D"/>
                </a:solidFill>
                <a:latin typeface="Segoe UI"/>
              </a:defRPr>
            </a:pPr>
            <a:r>
              <a:t>• Coins arrondis pour une apparence moderne et douce</a:t>
            </a:r>
          </a:p>
          <a:p>
            <a:pPr>
              <a:spcAft>
                <a:spcPts val="800"/>
              </a:spcAft>
              <a:defRPr sz="1200">
                <a:solidFill>
                  <a:srgbClr val="2D2D2D"/>
                </a:solidFill>
                <a:latin typeface="Segoe UI"/>
              </a:defRPr>
            </a:pPr>
            <a:r>
              <a:t>• Ombres subtiles pour la profondeur et la hiérarchie</a:t>
            </a:r>
          </a:p>
          <a:p>
            <a:pPr>
              <a:spcAft>
                <a:spcPts val="800"/>
              </a:spcAft>
              <a:defRPr sz="1200">
                <a:solidFill>
                  <a:srgbClr val="2D2D2D"/>
                </a:solidFill>
                <a:latin typeface="Segoe UI"/>
              </a:defRPr>
            </a:pPr>
            <a:r>
              <a:t>• Boutons CTA bien visibles avec hover effects</a:t>
            </a:r>
          </a:p>
          <a:p>
            <a:pPr>
              <a:spcAft>
                <a:spcPts val="800"/>
              </a:spcAft>
              <a:defRPr sz="1200">
                <a:solidFill>
                  <a:srgbClr val="2D2D2D"/>
                </a:solidFill>
                <a:latin typeface="Segoe UI"/>
              </a:defRPr>
            </a:pPr>
            <a:r>
              <a:t>• Images en pleine largeur pour valoriser les biens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Maquettes Figma - Pages d'Authentification</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600" b="1">
                <a:solidFill>
                  <a:srgbClr val="2D2D2D"/>
                </a:solidFill>
                <a:latin typeface="Segoe UI"/>
              </a:defRPr>
            </a:pPr>
            <a:r>
              <a:t>🔐 Écrans d'inscription et connexion</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Page Inscription :</a:t>
            </a:r>
          </a:p>
          <a:p>
            <a:pPr>
              <a:spcAft>
                <a:spcPts val="800"/>
              </a:spcAft>
              <a:defRPr sz="1200">
                <a:solidFill>
                  <a:srgbClr val="2D2D2D"/>
                </a:solidFill>
                <a:latin typeface="Segoe UI"/>
              </a:defRPr>
            </a:pPr>
            <a:r>
              <a:t>• Formulaire en deux colonnes : infos personnelles + photo profil</a:t>
            </a:r>
          </a:p>
          <a:p>
            <a:pPr>
              <a:spcAft>
                <a:spcPts val="800"/>
              </a:spcAft>
              <a:defRPr sz="1200">
                <a:solidFill>
                  <a:srgbClr val="2D2D2D"/>
                </a:solidFill>
                <a:latin typeface="Segoe UI"/>
              </a:defRPr>
            </a:pPr>
            <a:r>
              <a:t>• Choix du rôle (propriétaire/locataire) avec explications</a:t>
            </a:r>
          </a:p>
          <a:p>
            <a:pPr>
              <a:spcAft>
                <a:spcPts val="800"/>
              </a:spcAft>
              <a:defRPr sz="1200">
                <a:solidFill>
                  <a:srgbClr val="2D2D2D"/>
                </a:solidFill>
                <a:latin typeface="Segoe UI"/>
              </a:defRPr>
            </a:pPr>
            <a:r>
              <a:t>• Upload d'avatar avec prévisualisation en temps réel</a:t>
            </a:r>
          </a:p>
          <a:p>
            <a:pPr>
              <a:spcAft>
                <a:spcPts val="800"/>
              </a:spcAft>
              <a:defRPr sz="1200">
                <a:solidFill>
                  <a:srgbClr val="2D2D2D"/>
                </a:solidFill>
                <a:latin typeface="Segoe UI"/>
              </a:defRPr>
            </a:pPr>
            <a:r>
              <a:t>• Validation côté client avec messages d'erreur clairs</a:t>
            </a:r>
          </a:p>
          <a:p>
            <a:pPr>
              <a:spcAft>
                <a:spcPts val="800"/>
              </a:spcAft>
              <a:defRPr sz="1200">
                <a:solidFill>
                  <a:srgbClr val="2D2D2D"/>
                </a:solidFill>
                <a:latin typeface="Segoe UI"/>
              </a:defRPr>
            </a:pPr>
            <a:r>
              <a:t>• Design épuré pour faciliter la conversion</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Page Connexion :</a:t>
            </a:r>
          </a:p>
          <a:p>
            <a:pPr>
              <a:spcAft>
                <a:spcPts val="800"/>
              </a:spcAft>
              <a:defRPr sz="1200">
                <a:solidFill>
                  <a:srgbClr val="2D2D2D"/>
                </a:solidFill>
                <a:latin typeface="Segoe UI"/>
              </a:defRPr>
            </a:pPr>
            <a:r>
              <a:t>• Formulaire minimaliste (email + mot de passe)</a:t>
            </a:r>
          </a:p>
          <a:p>
            <a:pPr>
              <a:spcAft>
                <a:spcPts val="800"/>
              </a:spcAft>
              <a:defRPr sz="1200">
                <a:solidFill>
                  <a:srgbClr val="2D2D2D"/>
                </a:solidFill>
                <a:latin typeface="Segoe UI"/>
              </a:defRPr>
            </a:pPr>
            <a:r>
              <a:t>• Bouton CTA bien visible</a:t>
            </a:r>
          </a:p>
          <a:p>
            <a:pPr>
              <a:spcAft>
                <a:spcPts val="800"/>
              </a:spcAft>
              <a:defRPr sz="1200">
                <a:solidFill>
                  <a:srgbClr val="2D2D2D"/>
                </a:solidFill>
                <a:latin typeface="Segoe UI"/>
              </a:defRPr>
            </a:pPr>
            <a:r>
              <a:t>• Lien vers inscription pour les nouveaux utilisateurs</a:t>
            </a:r>
          </a:p>
          <a:p>
            <a:pPr>
              <a:spcAft>
                <a:spcPts val="800"/>
              </a:spcAft>
              <a:defRPr sz="1300">
                <a:solidFill>
                  <a:srgbClr val="2D2D2D"/>
                </a:solidFill>
                <a:latin typeface="Segoe UI"/>
              </a:defRPr>
            </a:pPr>
          </a:p>
          <a:p>
            <a:pPr>
              <a:spcAft>
                <a:spcPts val="800"/>
              </a:spcAft>
              <a:defRPr sz="1400" b="1">
                <a:solidFill>
                  <a:srgbClr val="2D2D2D"/>
                </a:solidFill>
                <a:latin typeface="Segoe UI"/>
              </a:defRPr>
            </a:pPr>
            <a:r>
              <a:t>💡 Choix UX :</a:t>
            </a:r>
          </a:p>
          <a:p>
            <a:pPr>
              <a:spcAft>
                <a:spcPts val="800"/>
              </a:spcAft>
              <a:defRPr sz="1200">
                <a:solidFill>
                  <a:srgbClr val="2D2D2D"/>
                </a:solidFill>
                <a:latin typeface="Segoe UI"/>
              </a:defRPr>
            </a:pPr>
            <a:r>
              <a:t>J'ai opté pour un processus d'inscription en une seule étape pour limiter la friction. Le choix du rôle déclenche une modal explicative pour guider l'utilisateur.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Compétences Maquettage Démontrées</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600" b="1">
                <a:solidFill>
                  <a:srgbClr val="2D2D2D"/>
                </a:solidFill>
                <a:latin typeface="Segoe UI"/>
              </a:defRPr>
            </a:pPr>
            <a:r>
              <a:t>✅ Attendus TP DWWM - Maquettage (Projet CoolBooking)</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1. Maquetter une application</a:t>
            </a:r>
          </a:p>
          <a:p>
            <a:pPr>
              <a:spcAft>
                <a:spcPts val="800"/>
              </a:spcAft>
              <a:defRPr sz="1200">
                <a:solidFill>
                  <a:srgbClr val="2D2D2D"/>
                </a:solidFill>
                <a:latin typeface="Segoe UI"/>
              </a:defRPr>
            </a:pPr>
            <a:r>
              <a:t>✓ Utilisation professionnelle de Figma</a:t>
            </a:r>
          </a:p>
          <a:p>
            <a:pPr>
              <a:spcAft>
                <a:spcPts val="800"/>
              </a:spcAft>
              <a:defRPr sz="1200">
                <a:solidFill>
                  <a:srgbClr val="2D2D2D"/>
                </a:solidFill>
                <a:latin typeface="Segoe UI"/>
              </a:defRPr>
            </a:pPr>
            <a:r>
              <a:t>✓ Création de wireframes et maquettes haute fidélité</a:t>
            </a:r>
          </a:p>
          <a:p>
            <a:pPr>
              <a:spcAft>
                <a:spcPts val="800"/>
              </a:spcAft>
              <a:defRPr sz="1200">
                <a:solidFill>
                  <a:srgbClr val="2D2D2D"/>
                </a:solidFill>
                <a:latin typeface="Segoe UI"/>
              </a:defRPr>
            </a:pPr>
            <a:r>
              <a:t>✓ Prototypage interactif avec navigation</a:t>
            </a:r>
          </a:p>
          <a:p>
            <a:pPr>
              <a:spcAft>
                <a:spcPts val="800"/>
              </a:spcAft>
              <a:defRPr sz="1200">
                <a:solidFill>
                  <a:srgbClr val="2D2D2D"/>
                </a:solidFill>
                <a:latin typeface="Segoe UI"/>
              </a:defRPr>
            </a:pPr>
            <a:r>
              <a:t>✓ Design system avec composants réutilisables</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2. Conception centrée utilisateur</a:t>
            </a:r>
          </a:p>
          <a:p>
            <a:pPr>
              <a:spcAft>
                <a:spcPts val="800"/>
              </a:spcAft>
              <a:defRPr sz="1200">
                <a:solidFill>
                  <a:srgbClr val="2D2D2D"/>
                </a:solidFill>
                <a:latin typeface="Segoe UI"/>
              </a:defRPr>
            </a:pPr>
            <a:r>
              <a:t>✓ Analyse des besoins et personas (propriétaire/locataire)</a:t>
            </a:r>
          </a:p>
          <a:p>
            <a:pPr>
              <a:spcAft>
                <a:spcPts val="800"/>
              </a:spcAft>
              <a:defRPr sz="1200">
                <a:solidFill>
                  <a:srgbClr val="2D2D2D"/>
                </a:solidFill>
                <a:latin typeface="Segoe UI"/>
              </a:defRPr>
            </a:pPr>
            <a:r>
              <a:t>✓ Définition des parcours utilisateurs (user flows)</a:t>
            </a:r>
          </a:p>
          <a:p>
            <a:pPr>
              <a:spcAft>
                <a:spcPts val="800"/>
              </a:spcAft>
              <a:defRPr sz="1200">
                <a:solidFill>
                  <a:srgbClr val="2D2D2D"/>
                </a:solidFill>
                <a:latin typeface="Segoe UI"/>
              </a:defRPr>
            </a:pPr>
            <a:r>
              <a:t>✓ Hiérarchie de l'information claire et intuitive</a:t>
            </a:r>
          </a:p>
          <a:p>
            <a:pPr>
              <a:spcAft>
                <a:spcPts val="800"/>
              </a:spcAft>
              <a:defRPr sz="1200">
                <a:solidFill>
                  <a:srgbClr val="2D2D2D"/>
                </a:solidFill>
                <a:latin typeface="Segoe UI"/>
              </a:defRPr>
            </a:pPr>
            <a:r>
              <a:t>✓ Accessibilité et utilisabilité au cœur du design</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3. Responsive design</a:t>
            </a:r>
          </a:p>
          <a:p>
            <a:pPr>
              <a:spcAft>
                <a:spcPts val="800"/>
              </a:spcAft>
              <a:defRPr sz="1200">
                <a:solidFill>
                  <a:srgbClr val="2D2D2D"/>
                </a:solidFill>
                <a:latin typeface="Segoe UI"/>
              </a:defRPr>
            </a:pPr>
            <a:r>
              <a:t>✓ Maquettes desktop (1920px) et mobile (375px)</a:t>
            </a:r>
          </a:p>
          <a:p>
            <a:pPr>
              <a:spcAft>
                <a:spcPts val="800"/>
              </a:spcAft>
              <a:defRPr sz="1200">
                <a:solidFill>
                  <a:srgbClr val="2D2D2D"/>
                </a:solidFill>
                <a:latin typeface="Segoe UI"/>
              </a:defRPr>
            </a:pPr>
            <a:r>
              <a:t>✓ Adaptation des layouts et composants</a:t>
            </a:r>
          </a:p>
          <a:p>
            <a:pPr>
              <a:spcAft>
                <a:spcPts val="800"/>
              </a:spcAft>
              <a:defRPr sz="1200">
                <a:solidFill>
                  <a:srgbClr val="2D2D2D"/>
                </a:solidFill>
                <a:latin typeface="Segoe UI"/>
              </a:defRPr>
            </a:pPr>
            <a:r>
              <a:t>✓ Interactions tactiles optimisées</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4. Charte graphique cohérente</a:t>
            </a:r>
          </a:p>
          <a:p>
            <a:pPr>
              <a:spcAft>
                <a:spcPts val="800"/>
              </a:spcAft>
              <a:defRPr sz="1200">
                <a:solidFill>
                  <a:srgbClr val="2D2D2D"/>
                </a:solidFill>
                <a:latin typeface="Segoe UI"/>
              </a:defRPr>
            </a:pPr>
            <a:r>
              <a:t>✓ Palette de couleurs réfléchie et harmonieuse</a:t>
            </a:r>
          </a:p>
          <a:p>
            <a:pPr>
              <a:spcAft>
                <a:spcPts val="800"/>
              </a:spcAft>
              <a:defRPr sz="1200">
                <a:solidFill>
                  <a:srgbClr val="2D2D2D"/>
                </a:solidFill>
                <a:latin typeface="Segoe UI"/>
              </a:defRPr>
            </a:pPr>
            <a:r>
              <a:t>✓ Typographie lisible et hiérarchisée</a:t>
            </a:r>
          </a:p>
          <a:p>
            <a:pPr>
              <a:spcAft>
                <a:spcPts val="800"/>
              </a:spcAft>
              <a:defRPr sz="1200">
                <a:solidFill>
                  <a:srgbClr val="2D2D2D"/>
                </a:solidFill>
                <a:latin typeface="Segoe UI"/>
              </a:defRPr>
            </a:pPr>
            <a:r>
              <a:t>✓ Cohérence visuelle sur toutes les pages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Bilan - Partie Frontend &amp; Maquettage</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700" b="1">
                <a:solidFill>
                  <a:srgbClr val="2D2D2D"/>
                </a:solidFill>
                <a:latin typeface="Segoe UI"/>
              </a:defRPr>
            </a:pPr>
            <a:r>
              <a:t>🎯 Objectifs atteints</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Projet APD (Stage UFO Agency) :</a:t>
            </a:r>
          </a:p>
          <a:p>
            <a:pPr>
              <a:spcAft>
                <a:spcPts val="800"/>
              </a:spcAft>
              <a:defRPr sz="1200">
                <a:solidFill>
                  <a:srgbClr val="2D2D2D"/>
                </a:solidFill>
                <a:latin typeface="Segoe UI"/>
              </a:defRPr>
            </a:pPr>
            <a:r>
              <a:t>✓ Site vitrine moderne et performant pour l'association</a:t>
            </a:r>
          </a:p>
          <a:p>
            <a:pPr>
              <a:spcAft>
                <a:spcPts val="800"/>
              </a:spcAft>
              <a:defRPr sz="1200">
                <a:solidFill>
                  <a:srgbClr val="2D2D2D"/>
                </a:solidFill>
                <a:latin typeface="Segoe UI"/>
              </a:defRPr>
            </a:pPr>
            <a:r>
              <a:t>✓ Interface d'administration Strapi opérationnelle</a:t>
            </a:r>
          </a:p>
          <a:p>
            <a:pPr>
              <a:spcAft>
                <a:spcPts val="800"/>
              </a:spcAft>
              <a:defRPr sz="1200">
                <a:solidFill>
                  <a:srgbClr val="2D2D2D"/>
                </a:solidFill>
                <a:latin typeface="Segoe UI"/>
              </a:defRPr>
            </a:pPr>
            <a:r>
              <a:t>✓ Optimisations performance (images, code splitting, SSR)</a:t>
            </a:r>
          </a:p>
          <a:p>
            <a:pPr>
              <a:spcAft>
                <a:spcPts val="800"/>
              </a:spcAft>
              <a:defRPr sz="1200">
                <a:solidFill>
                  <a:srgbClr val="2D2D2D"/>
                </a:solidFill>
                <a:latin typeface="Segoe UI"/>
              </a:defRPr>
            </a:pPr>
            <a:r>
              <a:t>✓ Design responsive et accessible</a:t>
            </a:r>
          </a:p>
          <a:p>
            <a:pPr>
              <a:spcAft>
                <a:spcPts val="800"/>
              </a:spcAft>
              <a:defRPr sz="1300">
                <a:solidFill>
                  <a:srgbClr val="2D2D2D"/>
                </a:solidFill>
                <a:latin typeface="Segoe UI"/>
              </a:defRPr>
            </a:pPr>
          </a:p>
          <a:p>
            <a:pPr>
              <a:spcAft>
                <a:spcPts val="800"/>
              </a:spcAft>
              <a:defRPr sz="1400" b="1">
                <a:solidFill>
                  <a:srgbClr val="AC1115"/>
                </a:solidFill>
                <a:latin typeface="Segoe UI"/>
              </a:defRPr>
            </a:pPr>
            <a:r>
              <a:t>Projet CoolBooking (Fil-rouge) :</a:t>
            </a:r>
          </a:p>
          <a:p>
            <a:pPr>
              <a:spcAft>
                <a:spcPts val="800"/>
              </a:spcAft>
              <a:defRPr sz="1200">
                <a:solidFill>
                  <a:srgbClr val="2D2D2D"/>
                </a:solidFill>
                <a:latin typeface="Segoe UI"/>
              </a:defRPr>
            </a:pPr>
            <a:r>
              <a:t>✓ Maquettage complet sur Figma (desktop + mobile)</a:t>
            </a:r>
          </a:p>
          <a:p>
            <a:pPr>
              <a:spcAft>
                <a:spcPts val="800"/>
              </a:spcAft>
              <a:defRPr sz="1200">
                <a:solidFill>
                  <a:srgbClr val="2D2D2D"/>
                </a:solidFill>
                <a:latin typeface="Segoe UI"/>
              </a:defRPr>
            </a:pPr>
            <a:r>
              <a:t>✓ Design system avec composants réutilisables</a:t>
            </a:r>
          </a:p>
          <a:p>
            <a:pPr>
              <a:spcAft>
                <a:spcPts val="800"/>
              </a:spcAft>
              <a:defRPr sz="1200">
                <a:solidFill>
                  <a:srgbClr val="2D2D2D"/>
                </a:solidFill>
                <a:latin typeface="Segoe UI"/>
              </a:defRPr>
            </a:pPr>
            <a:r>
              <a:t>✓ Parcours utilisateurs optimisés</a:t>
            </a:r>
          </a:p>
          <a:p>
            <a:pPr>
              <a:spcAft>
                <a:spcPts val="800"/>
              </a:spcAft>
              <a:defRPr sz="1300">
                <a:solidFill>
                  <a:srgbClr val="2D2D2D"/>
                </a:solidFill>
                <a:latin typeface="Segoe UI"/>
              </a:defRPr>
            </a:pPr>
          </a:p>
          <a:p>
            <a:pPr>
              <a:spcAft>
                <a:spcPts val="800"/>
              </a:spcAft>
              <a:defRPr sz="1700" b="1">
                <a:solidFill>
                  <a:srgbClr val="2D2D2D"/>
                </a:solidFill>
                <a:latin typeface="Segoe UI"/>
              </a:defRPr>
            </a:pPr>
            <a:r>
              <a:t>💪 Points forts démontrés</a:t>
            </a:r>
          </a:p>
          <a:p>
            <a:pPr>
              <a:spcAft>
                <a:spcPts val="800"/>
              </a:spcAft>
              <a:defRPr sz="1200">
                <a:solidFill>
                  <a:srgbClr val="2D2D2D"/>
                </a:solidFill>
                <a:latin typeface="Segoe UI"/>
              </a:defRPr>
            </a:pPr>
            <a:r>
              <a:t>• Maîtrise de Next.js 15 (App Router, SSR, ISR)</a:t>
            </a:r>
          </a:p>
          <a:p>
            <a:pPr>
              <a:spcAft>
                <a:spcPts val="800"/>
              </a:spcAft>
              <a:defRPr sz="1200">
                <a:solidFill>
                  <a:srgbClr val="2D2D2D"/>
                </a:solidFill>
                <a:latin typeface="Segoe UI"/>
              </a:defRPr>
            </a:pPr>
            <a:r>
              <a:t>• Utilisation avancée des hooks React</a:t>
            </a:r>
          </a:p>
          <a:p>
            <a:pPr>
              <a:spcAft>
                <a:spcPts val="800"/>
              </a:spcAft>
              <a:defRPr sz="1200">
                <a:solidFill>
                  <a:srgbClr val="2D2D2D"/>
                </a:solidFill>
                <a:latin typeface="Segoe UI"/>
              </a:defRPr>
            </a:pPr>
            <a:r>
              <a:t>• Compétences en maquettage Figma professionnel</a:t>
            </a:r>
          </a:p>
          <a:p>
            <a:pPr>
              <a:spcAft>
                <a:spcPts val="800"/>
              </a:spcAft>
              <a:defRPr sz="1200">
                <a:solidFill>
                  <a:srgbClr val="2D2D2D"/>
                </a:solidFill>
                <a:latin typeface="Segoe UI"/>
              </a:defRPr>
            </a:pPr>
            <a:r>
              <a:t>• Approche UX réfléchie et centrée utilisateur</a:t>
            </a:r>
          </a:p>
          <a:p>
            <a:pPr>
              <a:spcAft>
                <a:spcPts val="800"/>
              </a:spcAft>
              <a:defRPr sz="1200">
                <a:solidFill>
                  <a:srgbClr val="2D2D2D"/>
                </a:solidFill>
                <a:latin typeface="Segoe UI"/>
              </a:defRPr>
            </a:pPr>
            <a:r>
              <a:t>• Code propre, maintenable et documenté</a:t>
            </a:r>
          </a:p>
          <a:p>
            <a:pPr>
              <a:spcAft>
                <a:spcPts val="800"/>
              </a:spcAft>
              <a:defRPr sz="1300">
                <a:solidFill>
                  <a:srgbClr val="2D2D2D"/>
                </a:solidFill>
                <a:latin typeface="Segoe UI"/>
              </a:defRPr>
            </a:pPr>
          </a:p>
          <a:p>
            <a:pPr>
              <a:spcAft>
                <a:spcPts val="800"/>
              </a:spcAft>
              <a:defRPr sz="1700" b="1">
                <a:solidFill>
                  <a:srgbClr val="2D2D2D"/>
                </a:solidFill>
                <a:latin typeface="Segoe UI"/>
              </a:defRPr>
            </a:pPr>
            <a:r>
              <a:t>📚 Apprentissages clés</a:t>
            </a:r>
          </a:p>
          <a:p>
            <a:pPr>
              <a:spcAft>
                <a:spcPts val="800"/>
              </a:spcAft>
              <a:defRPr sz="1200">
                <a:solidFill>
                  <a:srgbClr val="2D2D2D"/>
                </a:solidFill>
                <a:latin typeface="Segoe UI"/>
              </a:defRPr>
            </a:pPr>
            <a:r>
              <a:t>• Architecture headless CMS avec Strapi</a:t>
            </a:r>
          </a:p>
          <a:p>
            <a:pPr>
              <a:spcAft>
                <a:spcPts val="800"/>
              </a:spcAft>
              <a:defRPr sz="1200">
                <a:solidFill>
                  <a:srgbClr val="2D2D2D"/>
                </a:solidFill>
                <a:latin typeface="Segoe UI"/>
              </a:defRPr>
            </a:pPr>
            <a:r>
              <a:t>• Optimisations performance web</a:t>
            </a:r>
          </a:p>
          <a:p>
            <a:pPr>
              <a:spcAft>
                <a:spcPts val="800"/>
              </a:spcAft>
              <a:defRPr sz="1200">
                <a:solidFill>
                  <a:srgbClr val="2D2D2D"/>
                </a:solidFill>
                <a:latin typeface="Segoe UI"/>
              </a:defRPr>
            </a:pPr>
            <a:r>
              <a:t>• Design thinking et méthodologie de maquettage</a:t>
            </a:r>
          </a:p>
          <a:p>
            <a:pPr>
              <a:spcAft>
                <a:spcPts val="800"/>
              </a:spcAft>
              <a:defRPr sz="1200">
                <a:solidFill>
                  <a:srgbClr val="2D2D2D"/>
                </a:solidFill>
                <a:latin typeface="Segoe UI"/>
              </a:defRPr>
            </a:pPr>
            <a:r>
              <a:t>• Gestion de projet en contexte professionnel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7562088" cy="91440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0"/>
            <a:ext cx="6647688" cy="1371600"/>
          </a:xfrm>
          <a:prstGeom prst="rect">
            <a:avLst/>
          </a:prstGeom>
          <a:noFill/>
        </p:spPr>
        <p:txBody>
          <a:bodyPr wrap="none">
            <a:spAutoFit/>
          </a:bodyPr>
          <a:lstStyle/>
          <a:p>
            <a:pPr algn="ctr">
              <a:defRPr sz="11000">
                <a:solidFill>
                  <a:srgbClr val="E6E6E6"/>
                </a:solidFill>
                <a:latin typeface="Segoe UI Light"/>
              </a:defRPr>
            </a:pPr>
            <a:r>
              <a:t>03</a:t>
            </a:r>
          </a:p>
        </p:txBody>
      </p:sp>
      <p:sp>
        <p:nvSpPr>
          <p:cNvPr id="5" name="TextBox 4"/>
          <p:cNvSpPr txBox="1"/>
          <p:nvPr/>
        </p:nvSpPr>
        <p:spPr>
          <a:xfrm>
            <a:off x="457200" y="4572000"/>
            <a:ext cx="6647688" cy="822960"/>
          </a:xfrm>
          <a:prstGeom prst="rect">
            <a:avLst/>
          </a:prstGeom>
          <a:noFill/>
        </p:spPr>
        <p:txBody>
          <a:bodyPr wrap="none" anchor="t">
            <a:spAutoFit/>
          </a:bodyPr>
          <a:lstStyle/>
          <a:p>
            <a:pPr algn="ctr">
              <a:defRPr sz="3000">
                <a:solidFill>
                  <a:srgbClr val="FFFFFF"/>
                </a:solidFill>
                <a:latin typeface="Segoe UI Semibold"/>
              </a:defRPr>
            </a:pPr>
            <a:r>
              <a:t>PARTIE COOLBOOKING — Backend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Développement Backend - CoolBooking</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600" b="1">
                <a:solidFill>
                  <a:srgbClr val="A47764"/>
                </a:solidFill>
                <a:latin typeface="Segoe UI"/>
              </a:defRPr>
            </a:pPr>
            <a:r>
              <a:t>🎯 Contexte du projet backend</a:t>
            </a:r>
          </a:p>
          <a:p>
            <a:pPr>
              <a:spcAft>
                <a:spcPts val="800"/>
              </a:spcAft>
              <a:defRPr sz="1300">
                <a:solidFill>
                  <a:srgbClr val="2D2D2D"/>
                </a:solidFill>
                <a:latin typeface="Segoe UI"/>
              </a:defRPr>
            </a:pPr>
            <a:r>
              <a:t>Pour la partie backend de ce dossier, j'utilise le projet CoolBooking avec une base de données relationnelle MariaDB.</a:t>
            </a:r>
          </a:p>
          <a:p>
            <a:pPr>
              <a:spcAft>
                <a:spcPts val="800"/>
              </a:spcAft>
              <a:defRPr sz="1300">
                <a:solidFill>
                  <a:srgbClr val="2D2D2D"/>
                </a:solidFill>
                <a:latin typeface="Segoe UI"/>
              </a:defRPr>
            </a:pPr>
          </a:p>
          <a:p>
            <a:pPr>
              <a:spcAft>
                <a:spcPts val="800"/>
              </a:spcAft>
              <a:defRPr sz="1600" b="1">
                <a:solidFill>
                  <a:srgbClr val="A47764"/>
                </a:solidFill>
                <a:latin typeface="Segoe UI"/>
              </a:defRPr>
            </a:pPr>
            <a:r>
              <a:t>💡 Pourquoi CoolBooking pour le backend ?</a:t>
            </a:r>
          </a:p>
          <a:p>
            <a:pPr>
              <a:spcAft>
                <a:spcPts val="800"/>
              </a:spcAft>
              <a:defRPr sz="1300">
                <a:solidFill>
                  <a:srgbClr val="2D2D2D"/>
                </a:solidFill>
                <a:latin typeface="Segoe UI"/>
              </a:defRPr>
            </a:pPr>
            <a:r>
              <a:t>Le projet APD (stage) utilise Strapi qui génère automatiquement l'API REST. Pour démontrer ma capacité à développer un backend complet de A à Z, j'ai choisi de présenter CoolBooking où j'ai implémenté :</a:t>
            </a:r>
          </a:p>
          <a:p>
            <a:pPr lvl="1">
              <a:spcAft>
                <a:spcPts val="800"/>
              </a:spcAft>
              <a:defRPr sz="1200">
                <a:solidFill>
                  <a:srgbClr val="2D2D2D"/>
                </a:solidFill>
                <a:latin typeface="Segoe UI"/>
              </a:defRPr>
            </a:pPr>
            <a:r>
              <a:t>→ Architecture backend Express personnalisée</a:t>
            </a:r>
          </a:p>
          <a:p>
            <a:pPr lvl="1">
              <a:spcAft>
                <a:spcPts val="800"/>
              </a:spcAft>
              <a:defRPr sz="1200">
                <a:solidFill>
                  <a:srgbClr val="2D2D2D"/>
                </a:solidFill>
                <a:latin typeface="Segoe UI"/>
              </a:defRPr>
            </a:pPr>
            <a:r>
              <a:t>→ Base de données relationnelle MariaDB avec modélisation</a:t>
            </a:r>
          </a:p>
          <a:p>
            <a:pPr lvl="1">
              <a:spcAft>
                <a:spcPts val="800"/>
              </a:spcAft>
              <a:defRPr sz="1200">
                <a:solidFill>
                  <a:srgbClr val="2D2D2D"/>
                </a:solidFill>
                <a:latin typeface="Segoe UI"/>
              </a:defRPr>
            </a:pPr>
            <a:r>
              <a:t>→ Système d'authentification JWT complet</a:t>
            </a:r>
          </a:p>
          <a:p>
            <a:pPr lvl="1">
              <a:spcAft>
                <a:spcPts val="800"/>
              </a:spcAft>
              <a:defRPr sz="1200">
                <a:solidFill>
                  <a:srgbClr val="2D2D2D"/>
                </a:solidFill>
                <a:latin typeface="Segoe UI"/>
              </a:defRPr>
            </a:pPr>
            <a:r>
              <a:t>→ Repository pattern pour l'abstraction des données</a:t>
            </a:r>
          </a:p>
          <a:p>
            <a:pPr lvl="1">
              <a:spcAft>
                <a:spcPts val="800"/>
              </a:spcAft>
              <a:defRPr sz="1200">
                <a:solidFill>
                  <a:srgbClr val="2D2D2D"/>
                </a:solidFill>
                <a:latin typeface="Segoe UI"/>
              </a:defRPr>
            </a:pPr>
            <a:r>
              <a:t>→ Validation des données avec Joi</a:t>
            </a:r>
          </a:p>
          <a:p>
            <a:pPr lvl="1">
              <a:spcAft>
                <a:spcPts val="800"/>
              </a:spcAft>
              <a:defRPr sz="1200">
                <a:solidFill>
                  <a:srgbClr val="2D2D2D"/>
                </a:solidFill>
                <a:latin typeface="Segoe UI"/>
              </a:defRPr>
            </a:pPr>
            <a:r>
              <a:t>→ Upload de fichiers avec Cloudinary</a:t>
            </a:r>
          </a:p>
          <a:p>
            <a:pPr>
              <a:spcAft>
                <a:spcPts val="800"/>
              </a:spcAft>
              <a:defRPr sz="1300">
                <a:solidFill>
                  <a:srgbClr val="2D2D2D"/>
                </a:solidFill>
                <a:latin typeface="Segoe UI"/>
              </a:defRPr>
            </a:pPr>
          </a:p>
          <a:p>
            <a:pPr>
              <a:spcAft>
                <a:spcPts val="800"/>
              </a:spcAft>
              <a:defRPr sz="1600" b="1">
                <a:solidFill>
                  <a:srgbClr val="A47764"/>
                </a:solidFill>
                <a:latin typeface="Segoe UI"/>
              </a:defRPr>
            </a:pPr>
            <a:r>
              <a:t>📋 Rappel du projet</a:t>
            </a:r>
          </a:p>
          <a:p>
            <a:pPr>
              <a:spcAft>
                <a:spcPts val="800"/>
              </a:spcAft>
              <a:defRPr sz="1300">
                <a:solidFill>
                  <a:srgbClr val="2D2D2D"/>
                </a:solidFill>
                <a:latin typeface="Segoe UI"/>
              </a:defRPr>
            </a:pPr>
            <a:r>
              <a:t>Plateforme de location immobilière mettant en relation propriétaires et locataires.</a:t>
            </a:r>
          </a:p>
          <a:p>
            <a:pPr>
              <a:spcAft>
                <a:spcPts val="800"/>
              </a:spcAft>
              <a:defRPr sz="1300">
                <a:solidFill>
                  <a:srgbClr val="2D2D2D"/>
                </a:solidFill>
                <a:latin typeface="Segoe UI"/>
              </a:defRPr>
            </a:pPr>
            <a:r>
              <a:t>Fonctionnalités : Authentification, Gestion annonces, Upload images, Messagerie, Favoris.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Stack Technique Backend</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700" b="1">
                <a:solidFill>
                  <a:srgbClr val="2D2D2D"/>
                </a:solidFill>
                <a:latin typeface="Segoe UI"/>
              </a:defRPr>
            </a:pPr>
            <a:r>
              <a:t>🛠️ Technologies et outils utilisés</a:t>
            </a:r>
          </a:p>
          <a:p>
            <a:pPr>
              <a:spcAft>
                <a:spcPts val="800"/>
              </a:spcAft>
              <a:defRPr sz="1300">
                <a:solidFill>
                  <a:srgbClr val="2D2D2D"/>
                </a:solidFill>
                <a:latin typeface="Segoe UI"/>
              </a:defRPr>
            </a:pPr>
          </a:p>
          <a:p>
            <a:pPr>
              <a:spcAft>
                <a:spcPts val="800"/>
              </a:spcAft>
              <a:defRPr sz="1500" b="1">
                <a:solidFill>
                  <a:srgbClr val="A47764"/>
                </a:solidFill>
                <a:latin typeface="Segoe UI"/>
              </a:defRPr>
            </a:pPr>
            <a:r>
              <a:t>Express.js 5</a:t>
            </a:r>
          </a:p>
          <a:p>
            <a:pPr>
              <a:spcAft>
                <a:spcPts val="800"/>
              </a:spcAft>
              <a:defRPr sz="1200">
                <a:solidFill>
                  <a:srgbClr val="2D2D2D"/>
                </a:solidFill>
                <a:latin typeface="Segoe UI"/>
              </a:defRPr>
            </a:pPr>
            <a:r>
              <a:t>Framework Node.js minimaliste et flexible</a:t>
            </a:r>
          </a:p>
          <a:p>
            <a:pPr>
              <a:spcAft>
                <a:spcPts val="800"/>
              </a:spcAft>
              <a:defRPr sz="1200">
                <a:solidFill>
                  <a:srgbClr val="2D2D2D"/>
                </a:solidFill>
                <a:latin typeface="Segoe UI"/>
              </a:defRPr>
            </a:pPr>
            <a:r>
              <a:t>Gestion des routes, middlewares et controllers</a:t>
            </a:r>
          </a:p>
          <a:p>
            <a:pPr>
              <a:spcAft>
                <a:spcPts val="800"/>
              </a:spcAft>
              <a:defRPr sz="1300">
                <a:solidFill>
                  <a:srgbClr val="2D2D2D"/>
                </a:solidFill>
                <a:latin typeface="Segoe UI"/>
              </a:defRPr>
            </a:pPr>
          </a:p>
          <a:p>
            <a:pPr>
              <a:spcAft>
                <a:spcPts val="800"/>
              </a:spcAft>
              <a:defRPr sz="1500" b="1">
                <a:solidFill>
                  <a:srgbClr val="A47764"/>
                </a:solidFill>
                <a:latin typeface="Segoe UI"/>
              </a:defRPr>
            </a:pPr>
            <a:r>
              <a:t>MariaDB</a:t>
            </a:r>
          </a:p>
          <a:p>
            <a:pPr>
              <a:spcAft>
                <a:spcPts val="800"/>
              </a:spcAft>
              <a:defRPr sz="1200">
                <a:solidFill>
                  <a:srgbClr val="2D2D2D"/>
                </a:solidFill>
                <a:latin typeface="Segoe UI"/>
              </a:defRPr>
            </a:pPr>
            <a:r>
              <a:t>Base de données relationnelle (fork de MySQL)</a:t>
            </a:r>
          </a:p>
          <a:p>
            <a:pPr>
              <a:spcAft>
                <a:spcPts val="800"/>
              </a:spcAft>
              <a:defRPr sz="1200">
                <a:solidFill>
                  <a:srgbClr val="2D2D2D"/>
                </a:solidFill>
                <a:latin typeface="Segoe UI"/>
              </a:defRPr>
            </a:pPr>
            <a:r>
              <a:t>Pilote mysql2 pour Node.js avec Promises</a:t>
            </a:r>
          </a:p>
          <a:p>
            <a:pPr>
              <a:spcAft>
                <a:spcPts val="800"/>
              </a:spcAft>
              <a:defRPr sz="1200">
                <a:solidFill>
                  <a:srgbClr val="2D2D2D"/>
                </a:solidFill>
                <a:latin typeface="Segoe UI"/>
              </a:defRPr>
            </a:pPr>
            <a:r>
              <a:t>Connection pooling pour les performances</a:t>
            </a:r>
          </a:p>
          <a:p>
            <a:pPr>
              <a:spcAft>
                <a:spcPts val="800"/>
              </a:spcAft>
              <a:defRPr sz="1300">
                <a:solidFill>
                  <a:srgbClr val="2D2D2D"/>
                </a:solidFill>
                <a:latin typeface="Segoe UI"/>
              </a:defRPr>
            </a:pPr>
          </a:p>
          <a:p>
            <a:pPr>
              <a:spcAft>
                <a:spcPts val="800"/>
              </a:spcAft>
              <a:defRPr sz="1500" b="1">
                <a:solidFill>
                  <a:srgbClr val="A47764"/>
                </a:solidFill>
                <a:latin typeface="Segoe UI"/>
              </a:defRPr>
            </a:pPr>
            <a:r>
              <a:t>JWT (JSON Web Tokens)</a:t>
            </a:r>
          </a:p>
          <a:p>
            <a:pPr>
              <a:spcAft>
                <a:spcPts val="800"/>
              </a:spcAft>
              <a:defRPr sz="1200">
                <a:solidFill>
                  <a:srgbClr val="2D2D2D"/>
                </a:solidFill>
                <a:latin typeface="Segoe UI"/>
              </a:defRPr>
            </a:pPr>
            <a:r>
              <a:t>Authentification stateless avec tokens</a:t>
            </a:r>
          </a:p>
          <a:p>
            <a:pPr>
              <a:spcAft>
                <a:spcPts val="800"/>
              </a:spcAft>
              <a:defRPr sz="1200">
                <a:solidFill>
                  <a:srgbClr val="2D2D2D"/>
                </a:solidFill>
                <a:latin typeface="Segoe UI"/>
              </a:defRPr>
            </a:pPr>
            <a:r>
              <a:t>Stockage sécurisé dans cookies HttpOnly</a:t>
            </a:r>
          </a:p>
          <a:p>
            <a:pPr>
              <a:spcAft>
                <a:spcPts val="800"/>
              </a:spcAft>
              <a:defRPr sz="1300">
                <a:solidFill>
                  <a:srgbClr val="2D2D2D"/>
                </a:solidFill>
                <a:latin typeface="Segoe UI"/>
              </a:defRPr>
            </a:pPr>
          </a:p>
          <a:p>
            <a:pPr>
              <a:spcAft>
                <a:spcPts val="800"/>
              </a:spcAft>
              <a:defRPr sz="1500" b="1">
                <a:solidFill>
                  <a:srgbClr val="A47764"/>
                </a:solidFill>
                <a:latin typeface="Segoe UI"/>
              </a:defRPr>
            </a:pPr>
            <a:r>
              <a:t>Argon2</a:t>
            </a:r>
          </a:p>
          <a:p>
            <a:pPr>
              <a:spcAft>
                <a:spcPts val="800"/>
              </a:spcAft>
              <a:defRPr sz="1200">
                <a:solidFill>
                  <a:srgbClr val="2D2D2D"/>
                </a:solidFill>
                <a:latin typeface="Segoe UI"/>
              </a:defRPr>
            </a:pPr>
            <a:r>
              <a:t>Algorithme de hachage moderne pour les mots de passe</a:t>
            </a:r>
          </a:p>
          <a:p>
            <a:pPr>
              <a:spcAft>
                <a:spcPts val="800"/>
              </a:spcAft>
              <a:defRPr sz="1200">
                <a:solidFill>
                  <a:srgbClr val="2D2D2D"/>
                </a:solidFill>
                <a:latin typeface="Segoe UI"/>
              </a:defRPr>
            </a:pPr>
            <a:r>
              <a:t>Plus sécurisé que bcrypt (vainqueur Password Hashing Competition)</a:t>
            </a:r>
          </a:p>
          <a:p>
            <a:pPr>
              <a:spcAft>
                <a:spcPts val="800"/>
              </a:spcAft>
              <a:defRPr sz="1300">
                <a:solidFill>
                  <a:srgbClr val="2D2D2D"/>
                </a:solidFill>
                <a:latin typeface="Segoe UI"/>
              </a:defRPr>
            </a:pPr>
          </a:p>
          <a:p>
            <a:pPr>
              <a:spcAft>
                <a:spcPts val="800"/>
              </a:spcAft>
              <a:defRPr sz="1500" b="1">
                <a:solidFill>
                  <a:srgbClr val="A47764"/>
                </a:solidFill>
                <a:latin typeface="Segoe UI"/>
              </a:defRPr>
            </a:pPr>
            <a:r>
              <a:t>Joi</a:t>
            </a:r>
          </a:p>
          <a:p>
            <a:pPr>
              <a:spcAft>
                <a:spcPts val="800"/>
              </a:spcAft>
              <a:defRPr sz="1200">
                <a:solidFill>
                  <a:srgbClr val="2D2D2D"/>
                </a:solidFill>
                <a:latin typeface="Segoe UI"/>
              </a:defRPr>
            </a:pPr>
            <a:r>
              <a:t>Validation des données côté serveur</a:t>
            </a:r>
          </a:p>
          <a:p>
            <a:pPr>
              <a:spcAft>
                <a:spcPts val="800"/>
              </a:spcAft>
              <a:defRPr sz="1200">
                <a:solidFill>
                  <a:srgbClr val="2D2D2D"/>
                </a:solidFill>
                <a:latin typeface="Segoe UI"/>
              </a:defRPr>
            </a:pPr>
            <a:r>
              <a:t>Schemas de validation réutilisables</a:t>
            </a:r>
          </a:p>
          <a:p>
            <a:pPr>
              <a:spcAft>
                <a:spcPts val="800"/>
              </a:spcAft>
              <a:defRPr sz="1300">
                <a:solidFill>
                  <a:srgbClr val="2D2D2D"/>
                </a:solidFill>
                <a:latin typeface="Segoe UI"/>
              </a:defRPr>
            </a:pPr>
          </a:p>
          <a:p>
            <a:pPr>
              <a:spcAft>
                <a:spcPts val="800"/>
              </a:spcAft>
              <a:defRPr sz="1500" b="1">
                <a:solidFill>
                  <a:srgbClr val="A47764"/>
                </a:solidFill>
                <a:latin typeface="Segoe UI"/>
              </a:defRPr>
            </a:pPr>
            <a:r>
              <a:t>Cloudinary + Multer</a:t>
            </a:r>
          </a:p>
          <a:p>
            <a:pPr>
              <a:spcAft>
                <a:spcPts val="800"/>
              </a:spcAft>
              <a:defRPr sz="1200">
                <a:solidFill>
                  <a:srgbClr val="2D2D2D"/>
                </a:solidFill>
                <a:latin typeface="Segoe UI"/>
              </a:defRPr>
            </a:pPr>
            <a:r>
              <a:t>Upload et stockage d'images dans le cloud</a:t>
            </a:r>
          </a:p>
          <a:p>
            <a:pPr>
              <a:spcAft>
                <a:spcPts val="800"/>
              </a:spcAft>
              <a:defRPr sz="1200">
                <a:solidFill>
                  <a:srgbClr val="2D2D2D"/>
                </a:solidFill>
                <a:latin typeface="Segoe UI"/>
              </a:defRPr>
            </a:pPr>
            <a:r>
              <a:t>Multer pour la gestion multipart/form-data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Architecture Backend - Organisation</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600" b="1">
                <a:solidFill>
                  <a:srgbClr val="2D2D2D"/>
                </a:solidFill>
                <a:latin typeface="Segoe UI"/>
              </a:defRPr>
            </a:pPr>
            <a:r>
              <a:t>📁 Structure du projet backend</a:t>
            </a:r>
          </a:p>
          <a:p>
            <a:pPr>
              <a:spcAft>
                <a:spcPts val="800"/>
              </a:spcAft>
              <a:defRPr sz="1300">
                <a:solidFill>
                  <a:srgbClr val="2D2D2D"/>
                </a:solidFill>
                <a:latin typeface="Segoe UI"/>
              </a:defRPr>
            </a:pPr>
            <a:r>
              <a:t>J'ai organisé le backend selon le pattern MVC + Repository :</a:t>
            </a:r>
          </a:p>
          <a:p>
            <a:pPr>
              <a:spcAft>
                <a:spcPts val="800"/>
              </a:spcAft>
              <a:defRPr sz="1300">
                <a:solidFill>
                  <a:srgbClr val="2D2D2D"/>
                </a:solidFill>
                <a:latin typeface="Segoe UI"/>
              </a:defRPr>
            </a:pPr>
          </a:p>
          <a:p>
            <a:pPr>
              <a:spcAft>
                <a:spcPts val="800"/>
              </a:spcAft>
              <a:defRPr sz="1300" b="1">
                <a:solidFill>
                  <a:srgbClr val="2D2D2D"/>
                </a:solidFill>
                <a:latin typeface="Consolas"/>
              </a:defRPr>
            </a:pPr>
            <a:r>
              <a:t>back-coolbooking-mariaDB/</a:t>
            </a:r>
          </a:p>
          <a:p>
            <a:pPr lvl="1">
              <a:spcAft>
                <a:spcPts val="800"/>
              </a:spcAft>
              <a:defRPr sz="1100">
                <a:solidFill>
                  <a:srgbClr val="2D2D2D"/>
                </a:solidFill>
                <a:latin typeface="Consolas"/>
              </a:defRPr>
            </a:pPr>
            <a:r>
              <a:t>├── app.js                    → Point d'entrée</a:t>
            </a:r>
          </a:p>
          <a:p>
            <a:pPr lvl="1">
              <a:spcAft>
                <a:spcPts val="800"/>
              </a:spcAft>
              <a:defRPr sz="1100">
                <a:solidFill>
                  <a:srgbClr val="2D2D2D"/>
                </a:solidFill>
                <a:latin typeface="Consolas"/>
              </a:defRPr>
            </a:pPr>
            <a:r>
              <a:t>├── routes/</a:t>
            </a:r>
          </a:p>
          <a:p>
            <a:pPr lvl="2">
              <a:spcAft>
                <a:spcPts val="800"/>
              </a:spcAft>
              <a:defRPr sz="1100">
                <a:solidFill>
                  <a:srgbClr val="2D2D2D"/>
                </a:solidFill>
                <a:latin typeface="Consolas"/>
              </a:defRPr>
            </a:pPr>
            <a:r>
              <a:t>│   ├── users.router.js       → Routes utilisateurs</a:t>
            </a:r>
          </a:p>
          <a:p>
            <a:pPr lvl="2">
              <a:spcAft>
                <a:spcPts val="800"/>
              </a:spcAft>
              <a:defRPr sz="1100">
                <a:solidFill>
                  <a:srgbClr val="2D2D2D"/>
                </a:solidFill>
                <a:latin typeface="Consolas"/>
              </a:defRPr>
            </a:pPr>
            <a:r>
              <a:t>│   └── rentals.router.js     → Routes annonces</a:t>
            </a:r>
          </a:p>
          <a:p>
            <a:pPr lvl="1">
              <a:spcAft>
                <a:spcPts val="800"/>
              </a:spcAft>
              <a:defRPr sz="1100">
                <a:solidFill>
                  <a:srgbClr val="2D2D2D"/>
                </a:solidFill>
                <a:latin typeface="Consolas"/>
              </a:defRPr>
            </a:pPr>
            <a:r>
              <a:t>├── users/</a:t>
            </a:r>
          </a:p>
          <a:p>
            <a:pPr lvl="2">
              <a:spcAft>
                <a:spcPts val="800"/>
              </a:spcAft>
              <a:defRPr sz="1100">
                <a:solidFill>
                  <a:srgbClr val="2D2D2D"/>
                </a:solidFill>
                <a:latin typeface="Consolas"/>
              </a:defRPr>
            </a:pPr>
            <a:r>
              <a:t>│   ├── users.controller.js   → Logique métier</a:t>
            </a:r>
          </a:p>
          <a:p>
            <a:pPr lvl="2">
              <a:spcAft>
                <a:spcPts val="800"/>
              </a:spcAft>
              <a:defRPr sz="1100">
                <a:solidFill>
                  <a:srgbClr val="2D2D2D"/>
                </a:solidFill>
                <a:latin typeface="Consolas"/>
              </a:defRPr>
            </a:pPr>
            <a:r>
              <a:t>│   ├── users.service.js      → Services métier</a:t>
            </a:r>
          </a:p>
          <a:p>
            <a:pPr lvl="2">
              <a:spcAft>
                <a:spcPts val="800"/>
              </a:spcAft>
              <a:defRPr sz="1100">
                <a:solidFill>
                  <a:srgbClr val="2D2D2D"/>
                </a:solidFill>
                <a:latin typeface="Consolas"/>
              </a:defRPr>
            </a:pPr>
            <a:r>
              <a:t>│   └── users.repository.js   → Accès base de données</a:t>
            </a:r>
          </a:p>
          <a:p>
            <a:pPr lvl="1">
              <a:spcAft>
                <a:spcPts val="800"/>
              </a:spcAft>
              <a:defRPr sz="1100">
                <a:solidFill>
                  <a:srgbClr val="2D2D2D"/>
                </a:solidFill>
                <a:latin typeface="Consolas"/>
              </a:defRPr>
            </a:pPr>
            <a:r>
              <a:t>├── rentals/</a:t>
            </a:r>
          </a:p>
          <a:p>
            <a:pPr lvl="2">
              <a:spcAft>
                <a:spcPts val="800"/>
              </a:spcAft>
              <a:defRPr sz="1100">
                <a:solidFill>
                  <a:srgbClr val="2D2D2D"/>
                </a:solidFill>
                <a:latin typeface="Consolas"/>
              </a:defRPr>
            </a:pPr>
            <a:r>
              <a:t>│   ├── rentals.controller.js</a:t>
            </a:r>
          </a:p>
          <a:p>
            <a:pPr lvl="2">
              <a:spcAft>
                <a:spcPts val="800"/>
              </a:spcAft>
              <a:defRPr sz="1100">
                <a:solidFill>
                  <a:srgbClr val="2D2D2D"/>
                </a:solidFill>
                <a:latin typeface="Consolas"/>
              </a:defRPr>
            </a:pPr>
            <a:r>
              <a:t>│   ├── rentals.service.js</a:t>
            </a:r>
          </a:p>
          <a:p>
            <a:pPr lvl="2">
              <a:spcAft>
                <a:spcPts val="800"/>
              </a:spcAft>
              <a:defRPr sz="1100">
                <a:solidFill>
                  <a:srgbClr val="2D2D2D"/>
                </a:solidFill>
                <a:latin typeface="Consolas"/>
              </a:defRPr>
            </a:pPr>
            <a:r>
              <a:t>│   └── rentals.repository.js</a:t>
            </a:r>
          </a:p>
          <a:p>
            <a:pPr lvl="1">
              <a:spcAft>
                <a:spcPts val="800"/>
              </a:spcAft>
              <a:defRPr sz="1100">
                <a:solidFill>
                  <a:srgbClr val="2D2D2D"/>
                </a:solidFill>
                <a:latin typeface="Consolas"/>
              </a:defRPr>
            </a:pPr>
            <a:r>
              <a:t>├── authentication/</a:t>
            </a:r>
          </a:p>
          <a:p>
            <a:pPr lvl="2">
              <a:spcAft>
                <a:spcPts val="800"/>
              </a:spcAft>
              <a:defRPr sz="1100">
                <a:solidFill>
                  <a:srgbClr val="2D2D2D"/>
                </a:solidFill>
                <a:latin typeface="Consolas"/>
              </a:defRPr>
            </a:pPr>
            <a:r>
              <a:t>│   └── authentication.js     → JWT &amp; Argon2</a:t>
            </a:r>
          </a:p>
          <a:p>
            <a:pPr lvl="1">
              <a:spcAft>
                <a:spcPts val="800"/>
              </a:spcAft>
              <a:defRPr sz="1100">
                <a:solidFill>
                  <a:srgbClr val="2D2D2D"/>
                </a:solidFill>
                <a:latin typeface="Consolas"/>
              </a:defRPr>
            </a:pPr>
            <a:r>
              <a:t>├── validation/</a:t>
            </a:r>
          </a:p>
          <a:p>
            <a:pPr lvl="2">
              <a:spcAft>
                <a:spcPts val="800"/>
              </a:spcAft>
              <a:defRPr sz="1100">
                <a:solidFill>
                  <a:srgbClr val="2D2D2D"/>
                </a:solidFill>
                <a:latin typeface="Consolas"/>
              </a:defRPr>
            </a:pPr>
            <a:r>
              <a:t>│   └── users.validation.js   → Schemas Joi</a:t>
            </a:r>
          </a:p>
          <a:p>
            <a:pPr lvl="1">
              <a:spcAft>
                <a:spcPts val="800"/>
              </a:spcAft>
              <a:defRPr sz="1100">
                <a:solidFill>
                  <a:srgbClr val="2D2D2D"/>
                </a:solidFill>
                <a:latin typeface="Consolas"/>
              </a:defRPr>
            </a:pPr>
            <a:r>
              <a:t>└── config/</a:t>
            </a:r>
          </a:p>
          <a:p>
            <a:pPr lvl="2">
              <a:spcAft>
                <a:spcPts val="800"/>
              </a:spcAft>
              <a:defRPr sz="1100">
                <a:solidFill>
                  <a:srgbClr val="2D2D2D"/>
                </a:solidFill>
                <a:latin typeface="Consolas"/>
              </a:defRPr>
            </a:pPr>
            <a:r>
              <a:t>    ├── db.js                 → Connexion MariaDB</a:t>
            </a:r>
          </a:p>
          <a:p>
            <a:pPr lvl="2">
              <a:spcAft>
                <a:spcPts val="800"/>
              </a:spcAft>
              <a:defRPr sz="1100">
                <a:solidFill>
                  <a:srgbClr val="2D2D2D"/>
                </a:solidFill>
                <a:latin typeface="Consolas"/>
              </a:defRPr>
            </a:pPr>
            <a:r>
              <a:t>    └── cloudinary.js         → Config Cloudinary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200">
                <a:solidFill>
                  <a:srgbClr val="FFFFFF"/>
                </a:solidFill>
                <a:latin typeface="Segoe UI Semibold"/>
              </a:defRPr>
            </a:pPr>
            <a:r>
              <a:t>Point d'Entrée - app.js</a:t>
            </a:r>
          </a:p>
        </p:txBody>
      </p:sp>
      <p:sp>
        <p:nvSpPr>
          <p:cNvPr id="4" name="TextBox 3"/>
          <p:cNvSpPr txBox="1"/>
          <p:nvPr/>
        </p:nvSpPr>
        <p:spPr>
          <a:xfrm>
            <a:off x="548640" y="1005840"/>
            <a:ext cx="6464808" cy="822960"/>
          </a:xfrm>
          <a:prstGeom prst="rect">
            <a:avLst/>
          </a:prstGeom>
          <a:noFill/>
        </p:spPr>
        <p:txBody>
          <a:bodyPr wrap="none">
            <a:spAutoFit/>
          </a:bodyPr>
          <a:lstStyle/>
          <a:p>
            <a:pPr>
              <a:defRPr sz="1200" i="1">
                <a:solidFill>
                  <a:srgbClr val="787878"/>
                </a:solidFill>
                <a:latin typeface="Segoe UI"/>
              </a:defRPr>
            </a:pPr>
            <a:r>
              <a:t>Serveur Express structuré avec middlewares globaux, routes modulaires et gestion d'erreurs centralisée.</a:t>
            </a:r>
          </a:p>
        </p:txBody>
      </p:sp>
      <p:sp>
        <p:nvSpPr>
          <p:cNvPr id="5" name="Rounded Rectangle 4"/>
          <p:cNvSpPr/>
          <p:nvPr/>
        </p:nvSpPr>
        <p:spPr>
          <a:xfrm>
            <a:off x="548640" y="1783080"/>
            <a:ext cx="6464808" cy="8449055"/>
          </a:xfrm>
          <a:prstGeom prst="roundRect">
            <a:avLst/>
          </a:prstGeom>
          <a:solidFill>
            <a:srgbClr val="F5F5F5"/>
          </a:solidFill>
          <a:ln w="12700">
            <a:solidFill>
              <a:srgbClr val="A477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6190488" cy="8174735"/>
          </a:xfrm>
          <a:prstGeom prst="rect">
            <a:avLst/>
          </a:prstGeom>
          <a:noFill/>
        </p:spPr>
        <p:txBody>
          <a:bodyPr wrap="square">
            <a:spAutoFit/>
          </a:bodyPr>
          <a:lstStyle/>
          <a:p>
            <a:pPr>
              <a:lnSpc>
                <a:spcPct val="115000"/>
              </a:lnSpc>
              <a:defRPr sz="950">
                <a:solidFill>
                  <a:srgbClr val="2D2D2D"/>
                </a:solidFill>
                <a:latin typeface="Consolas"/>
              </a:defRPr>
            </a:pPr>
            <a:r>
              <a:t>// app.js</a:t>
            </a:r>
            <a:br/>
            <a:r>
              <a:t>import dotenv from "dotenv";</a:t>
            </a:r>
            <a:br/>
            <a:r>
              <a:t>import express from "express";</a:t>
            </a:r>
            <a:br/>
            <a:r>
              <a:t>import users_router from "./routes/users.router.js";</a:t>
            </a:r>
            <a:br/>
            <a:r>
              <a:t>import rentals_router from "./routes/rentals.router.js";</a:t>
            </a:r>
            <a:br/>
            <a:r>
              <a:t>import cookieParser from "cookie-parser";</a:t>
            </a:r>
            <a:br/>
            <a:r>
              <a:t>import cors from "cors";</a:t>
            </a:r>
            <a:br/>
            <a:br/>
            <a:r>
              <a:t>dotenv.config();</a:t>
            </a:r>
            <a:br/>
            <a:br/>
            <a:r>
              <a:t>const app = express();</a:t>
            </a:r>
            <a:br/>
            <a:r>
              <a:t>const port = 3000;</a:t>
            </a:r>
            <a:br/>
            <a:br/>
            <a:r>
              <a:t>// Middlewares globaux</a:t>
            </a:r>
            <a:br/>
            <a:r>
              <a:t>app.use(cors());</a:t>
            </a:r>
            <a:br/>
            <a:r>
              <a:t>app.use(express.json());</a:t>
            </a:r>
            <a:br/>
            <a:r>
              <a:t>app.use(cookieParser());</a:t>
            </a:r>
            <a:br/>
            <a:br/>
            <a:r>
              <a:t>// Routes</a:t>
            </a:r>
            <a:br/>
            <a:r>
              <a:t>app.use("/users", users_router);</a:t>
            </a:r>
            <a:br/>
            <a:r>
              <a:t>app.use("/rentals", rentals_router);</a:t>
            </a:r>
            <a:br/>
            <a:br/>
            <a:r>
              <a:t>// Middleware de gestion d'erreurs global</a:t>
            </a:r>
            <a:br/>
            <a:r>
              <a:t>app.use((err, req, res, next) =&gt; {</a:t>
            </a:r>
            <a:br/>
            <a:r>
              <a:t>    console.error("Erreur attrapée :", err.message);</a:t>
            </a:r>
            <a:br/>
            <a:r>
              <a:t>    res.status(400).json({ message: err.message });</a:t>
            </a:r>
            <a:br/>
            <a:r>
              <a:t>});</a:t>
            </a:r>
            <a:br/>
            <a:br/>
            <a:r>
              <a:t>app.listen(port, () =&gt; {</a:t>
            </a:r>
            <a:br/>
            <a:r>
              <a:t>    console.log("localhost connected");</a:t>
            </a:r>
            <a:br/>
            <a: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7562088" cy="91440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0"/>
            <a:ext cx="6647688" cy="1371600"/>
          </a:xfrm>
          <a:prstGeom prst="rect">
            <a:avLst/>
          </a:prstGeom>
          <a:noFill/>
        </p:spPr>
        <p:txBody>
          <a:bodyPr wrap="none">
            <a:spAutoFit/>
          </a:bodyPr>
          <a:lstStyle/>
          <a:p>
            <a:pPr algn="ctr">
              <a:defRPr sz="11000">
                <a:solidFill>
                  <a:srgbClr val="E6E6E6"/>
                </a:solidFill>
                <a:latin typeface="Segoe UI Light"/>
              </a:defRPr>
            </a:pPr>
            <a:r>
              <a:t>04</a:t>
            </a:r>
          </a:p>
        </p:txBody>
      </p:sp>
      <p:sp>
        <p:nvSpPr>
          <p:cNvPr id="5" name="TextBox 4"/>
          <p:cNvSpPr txBox="1"/>
          <p:nvPr/>
        </p:nvSpPr>
        <p:spPr>
          <a:xfrm>
            <a:off x="457200" y="4572000"/>
            <a:ext cx="6647688" cy="822960"/>
          </a:xfrm>
          <a:prstGeom prst="rect">
            <a:avLst/>
          </a:prstGeom>
          <a:noFill/>
        </p:spPr>
        <p:txBody>
          <a:bodyPr wrap="none" anchor="t">
            <a:spAutoFit/>
          </a:bodyPr>
          <a:lstStyle/>
          <a:p>
            <a:pPr algn="ctr">
              <a:defRPr sz="3000">
                <a:solidFill>
                  <a:srgbClr val="FFFFFF"/>
                </a:solidFill>
                <a:latin typeface="Segoe UI Semibold"/>
              </a:defRPr>
            </a:pPr>
            <a:r>
              <a:t>BASE DE DONNÉES MARIADB</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200">
                <a:solidFill>
                  <a:srgbClr val="FFFFFF"/>
                </a:solidFill>
                <a:latin typeface="Segoe UI Semibold"/>
              </a:defRPr>
            </a:pPr>
            <a:r>
              <a:t>Configuration Base de Données</a:t>
            </a:r>
          </a:p>
        </p:txBody>
      </p:sp>
      <p:sp>
        <p:nvSpPr>
          <p:cNvPr id="4" name="TextBox 3"/>
          <p:cNvSpPr txBox="1"/>
          <p:nvPr/>
        </p:nvSpPr>
        <p:spPr>
          <a:xfrm>
            <a:off x="548640" y="1005840"/>
            <a:ext cx="6464808" cy="822960"/>
          </a:xfrm>
          <a:prstGeom prst="rect">
            <a:avLst/>
          </a:prstGeom>
          <a:noFill/>
        </p:spPr>
        <p:txBody>
          <a:bodyPr wrap="none">
            <a:spAutoFit/>
          </a:bodyPr>
          <a:lstStyle/>
          <a:p>
            <a:pPr>
              <a:defRPr sz="1200" i="1">
                <a:solidFill>
                  <a:srgbClr val="787878"/>
                </a:solidFill>
                <a:latin typeface="Segoe UI"/>
              </a:defRPr>
            </a:pPr>
            <a:r>
              <a:t>Pool de connexions et fonction query() réutilisable pour toutes les opérations SQL.</a:t>
            </a:r>
          </a:p>
        </p:txBody>
      </p:sp>
      <p:sp>
        <p:nvSpPr>
          <p:cNvPr id="5" name="Rounded Rectangle 4"/>
          <p:cNvSpPr/>
          <p:nvPr/>
        </p:nvSpPr>
        <p:spPr>
          <a:xfrm>
            <a:off x="548640" y="1783080"/>
            <a:ext cx="6464808" cy="8449055"/>
          </a:xfrm>
          <a:prstGeom prst="roundRect">
            <a:avLst/>
          </a:prstGeom>
          <a:solidFill>
            <a:srgbClr val="F5F5F5"/>
          </a:solidFill>
          <a:ln w="12700">
            <a:solidFill>
              <a:srgbClr val="A477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6190488" cy="8174735"/>
          </a:xfrm>
          <a:prstGeom prst="rect">
            <a:avLst/>
          </a:prstGeom>
          <a:noFill/>
        </p:spPr>
        <p:txBody>
          <a:bodyPr wrap="square">
            <a:spAutoFit/>
          </a:bodyPr>
          <a:lstStyle/>
          <a:p>
            <a:pPr>
              <a:lnSpc>
                <a:spcPct val="115000"/>
              </a:lnSpc>
              <a:defRPr sz="950">
                <a:solidFill>
                  <a:srgbClr val="2D2D2D"/>
                </a:solidFill>
                <a:latin typeface="Consolas"/>
              </a:defRPr>
            </a:pPr>
            <a:r>
              <a:t>// config/db.js</a:t>
            </a:r>
            <a:br/>
            <a:r>
              <a:t>import mysql from "mysql2/promise";</a:t>
            </a:r>
            <a:br/>
            <a:r>
              <a:t>import dotenv from "dotenv";</a:t>
            </a:r>
            <a:br/>
            <a:r>
              <a:t>dotenv.config();</a:t>
            </a:r>
            <a:br/>
            <a:br/>
            <a:r>
              <a:t>// Connection pool pour optimiser les performances</a:t>
            </a:r>
            <a:br/>
            <a:r>
              <a:t>const pool = mysql.createPool({</a:t>
            </a:r>
            <a:br/>
            <a:r>
              <a:t>    host: process.env.DB_HOST,</a:t>
            </a:r>
            <a:br/>
            <a:r>
              <a:t>    user: process.env.DB_USER,</a:t>
            </a:r>
            <a:br/>
            <a:r>
              <a:t>    password: process.env.DB_PASS,</a:t>
            </a:r>
            <a:br/>
            <a:r>
              <a:t>    database: process.env.DB_NAME,</a:t>
            </a:r>
            <a:br/>
            <a:r>
              <a:t>    connectionLimit: 10,</a:t>
            </a:r>
            <a:br/>
            <a:r>
              <a:t>});</a:t>
            </a:r>
            <a:br/>
            <a:br/>
            <a:r>
              <a:t>// Fonction utilitaire pour toutes les requêtes SQL</a:t>
            </a:r>
            <a:br/>
            <a:r>
              <a:t>export async function query(sql, params = []) {</a:t>
            </a:r>
            <a:br/>
            <a:r>
              <a:t>    let conn;</a:t>
            </a:r>
            <a:br/>
            <a:r>
              <a:t>    try {</a:t>
            </a:r>
            <a:br/>
            <a:r>
              <a:t>        conn = await pool.getConnection();</a:t>
            </a:r>
            <a:br/>
            <a:r>
              <a:t>        console.log("Connexion à la base établie avec succès");</a:t>
            </a:r>
            <a:br/>
            <a:br/>
            <a:r>
              <a:t>        const [rows] = await conn.query(sql, params);</a:t>
            </a:r>
            <a:br/>
            <a:r>
              <a:t>        return [rows];</a:t>
            </a:r>
            <a:br/>
            <a:r>
              <a:t>    } catch (err) {</a:t>
            </a:r>
            <a:br/>
            <a:r>
              <a:t>        console.error(</a:t>
            </a:r>
            <a:br/>
            <a:r>
              <a:t>            "Erreur lors de la connexion ou de la requête :",</a:t>
            </a:r>
            <a:br/>
            <a:r>
              <a:t>            err.message</a:t>
            </a:r>
            <a:br/>
            <a:r>
              <a:t>        );</a:t>
            </a:r>
            <a:br/>
            <a:r>
              <a:t>        throw err;</a:t>
            </a:r>
            <a:br/>
            <a:r>
              <a:t>    } finally {</a:t>
            </a:r>
            <a:br/>
            <a:r>
              <a:t>        if (conn) conn.release();</a:t>
            </a:r>
            <a:br/>
            <a:r>
              <a:t>    }</a:t>
            </a:r>
            <a:br/>
            <a: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Modélisation Base de Données</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600" b="1">
                <a:solidFill>
                  <a:srgbClr val="2D2D2D"/>
                </a:solidFill>
                <a:latin typeface="Segoe UI"/>
              </a:defRPr>
            </a:pPr>
            <a:r>
              <a:t>📊 Schéma de la base de données</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Table users :</a:t>
            </a:r>
          </a:p>
          <a:p>
            <a:pPr lvl="1">
              <a:spcAft>
                <a:spcPts val="800"/>
              </a:spcAft>
              <a:defRPr sz="1100">
                <a:solidFill>
                  <a:srgbClr val="2D2D2D"/>
                </a:solidFill>
                <a:latin typeface="Consolas"/>
              </a:defRPr>
            </a:pPr>
            <a:r>
              <a:t>id (INT, AUTO_INCREMENT, PRIMARY KEY)</a:t>
            </a:r>
          </a:p>
          <a:p>
            <a:pPr lvl="1">
              <a:spcAft>
                <a:spcPts val="800"/>
              </a:spcAft>
              <a:defRPr sz="1100">
                <a:solidFill>
                  <a:srgbClr val="2D2D2D"/>
                </a:solidFill>
                <a:latin typeface="Consolas"/>
              </a:defRPr>
            </a:pPr>
            <a:r>
              <a:t>avatar (VARCHAR) - URL Cloudinary</a:t>
            </a:r>
          </a:p>
          <a:p>
            <a:pPr lvl="1">
              <a:spcAft>
                <a:spcPts val="800"/>
              </a:spcAft>
              <a:defRPr sz="1100">
                <a:solidFill>
                  <a:srgbClr val="2D2D2D"/>
                </a:solidFill>
                <a:latin typeface="Consolas"/>
              </a:defRPr>
            </a:pPr>
            <a:r>
              <a:t>role (ENUM: owner, tenant)</a:t>
            </a:r>
          </a:p>
          <a:p>
            <a:pPr lvl="1">
              <a:spcAft>
                <a:spcPts val="800"/>
              </a:spcAft>
              <a:defRPr sz="1100">
                <a:solidFill>
                  <a:srgbClr val="2D2D2D"/>
                </a:solidFill>
                <a:latin typeface="Consolas"/>
              </a:defRPr>
            </a:pPr>
            <a:r>
              <a:t>name (VARCHAR)</a:t>
            </a:r>
          </a:p>
          <a:p>
            <a:pPr lvl="1">
              <a:spcAft>
                <a:spcPts val="800"/>
              </a:spcAft>
              <a:defRPr sz="1100">
                <a:solidFill>
                  <a:srgbClr val="2D2D2D"/>
                </a:solidFill>
                <a:latin typeface="Consolas"/>
              </a:defRPr>
            </a:pPr>
            <a:r>
              <a:t>firstname (VARCHAR)</a:t>
            </a:r>
          </a:p>
          <a:p>
            <a:pPr lvl="1">
              <a:spcAft>
                <a:spcPts val="800"/>
              </a:spcAft>
              <a:defRPr sz="1100">
                <a:solidFill>
                  <a:srgbClr val="2D2D2D"/>
                </a:solidFill>
                <a:latin typeface="Consolas"/>
              </a:defRPr>
            </a:pPr>
            <a:r>
              <a:t>phone (VARCHAR)</a:t>
            </a:r>
          </a:p>
          <a:p>
            <a:pPr lvl="1">
              <a:spcAft>
                <a:spcPts val="800"/>
              </a:spcAft>
              <a:defRPr sz="1100">
                <a:solidFill>
                  <a:srgbClr val="2D2D2D"/>
                </a:solidFill>
                <a:latin typeface="Consolas"/>
              </a:defRPr>
            </a:pPr>
            <a:r>
              <a:t>email (VARCHAR, UNIQUE)</a:t>
            </a:r>
          </a:p>
          <a:p>
            <a:pPr lvl="1">
              <a:spcAft>
                <a:spcPts val="800"/>
              </a:spcAft>
              <a:defRPr sz="1100">
                <a:solidFill>
                  <a:srgbClr val="2D2D2D"/>
                </a:solidFill>
                <a:latin typeface="Consolas"/>
              </a:defRPr>
            </a:pPr>
            <a:r>
              <a:t>password (VARCHAR) - Hash Argon2</a:t>
            </a:r>
          </a:p>
          <a:p>
            <a:pPr lvl="1">
              <a:spcAft>
                <a:spcPts val="800"/>
              </a:spcAft>
              <a:defRPr sz="1100">
                <a:solidFill>
                  <a:srgbClr val="2D2D2D"/>
                </a:solidFill>
                <a:latin typeface="Consolas"/>
              </a:defRPr>
            </a:pPr>
            <a:r>
              <a:t>created_at (TIMESTAMP)</a:t>
            </a:r>
          </a:p>
          <a:p>
            <a:pPr lvl="1">
              <a:spcAft>
                <a:spcPts val="800"/>
              </a:spcAft>
              <a:defRPr sz="1100">
                <a:solidFill>
                  <a:srgbClr val="2D2D2D"/>
                </a:solidFill>
                <a:latin typeface="Consolas"/>
              </a:defRPr>
            </a:pPr>
            <a:r>
              <a:t>updated_at (TIMESTAMP)</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Table rentals :</a:t>
            </a:r>
          </a:p>
          <a:p>
            <a:pPr lvl="1">
              <a:spcAft>
                <a:spcPts val="800"/>
              </a:spcAft>
              <a:defRPr sz="1100">
                <a:solidFill>
                  <a:srgbClr val="2D2D2D"/>
                </a:solidFill>
                <a:latin typeface="Consolas"/>
              </a:defRPr>
            </a:pPr>
            <a:r>
              <a:t>id (INT, AUTO_INCREMENT, PRIMARY KEY)</a:t>
            </a:r>
          </a:p>
          <a:p>
            <a:pPr lvl="1">
              <a:spcAft>
                <a:spcPts val="800"/>
              </a:spcAft>
              <a:defRPr sz="1100">
                <a:solidFill>
                  <a:srgbClr val="2D2D2D"/>
                </a:solidFill>
                <a:latin typeface="Consolas"/>
              </a:defRPr>
            </a:pPr>
            <a:r>
              <a:t>owner_id (INT, FOREIGN KEY → users.id)</a:t>
            </a:r>
          </a:p>
          <a:p>
            <a:pPr lvl="1">
              <a:spcAft>
                <a:spcPts val="800"/>
              </a:spcAft>
              <a:defRPr sz="1100">
                <a:solidFill>
                  <a:srgbClr val="2D2D2D"/>
                </a:solidFill>
                <a:latin typeface="Consolas"/>
              </a:defRPr>
            </a:pPr>
            <a:r>
              <a:t>title (VARCHAR)</a:t>
            </a:r>
          </a:p>
          <a:p>
            <a:pPr lvl="1">
              <a:spcAft>
                <a:spcPts val="800"/>
              </a:spcAft>
              <a:defRPr sz="1100">
                <a:solidFill>
                  <a:srgbClr val="2D2D2D"/>
                </a:solidFill>
                <a:latin typeface="Consolas"/>
              </a:defRPr>
            </a:pPr>
            <a:r>
              <a:t>description (TEXT)</a:t>
            </a:r>
          </a:p>
          <a:p>
            <a:pPr lvl="1">
              <a:spcAft>
                <a:spcPts val="800"/>
              </a:spcAft>
              <a:defRPr sz="1100">
                <a:solidFill>
                  <a:srgbClr val="2D2D2D"/>
                </a:solidFill>
                <a:latin typeface="Consolas"/>
              </a:defRPr>
            </a:pPr>
            <a:r>
              <a:t>address, city, zip_code (VARCHAR)</a:t>
            </a:r>
          </a:p>
          <a:p>
            <a:pPr lvl="1">
              <a:spcAft>
                <a:spcPts val="800"/>
              </a:spcAft>
              <a:defRPr sz="1100">
                <a:solidFill>
                  <a:srgbClr val="2D2D2D"/>
                </a:solidFill>
                <a:latin typeface="Consolas"/>
              </a:defRPr>
            </a:pPr>
            <a:r>
              <a:t>price (DECIMAL)</a:t>
            </a:r>
          </a:p>
          <a:p>
            <a:pPr lvl="1">
              <a:spcAft>
                <a:spcPts val="800"/>
              </a:spcAft>
              <a:defRPr sz="1100">
                <a:solidFill>
                  <a:srgbClr val="2D2D2D"/>
                </a:solidFill>
                <a:latin typeface="Consolas"/>
              </a:defRPr>
            </a:pPr>
            <a:r>
              <a:t>beds (INT)</a:t>
            </a:r>
          </a:p>
          <a:p>
            <a:pPr lvl="1">
              <a:spcAft>
                <a:spcPts val="800"/>
              </a:spcAft>
              <a:defRPr sz="1100">
                <a:solidFill>
                  <a:srgbClr val="2D2D2D"/>
                </a:solidFill>
                <a:latin typeface="Consolas"/>
              </a:defRPr>
            </a:pPr>
            <a:r>
              <a:t>images (JSON) - URLs Cloudinary</a:t>
            </a:r>
          </a:p>
          <a:p>
            <a:pPr lvl="1">
              <a:spcAft>
                <a:spcPts val="800"/>
              </a:spcAft>
              <a:defRPr sz="1100">
                <a:solidFill>
                  <a:srgbClr val="2D2D2D"/>
                </a:solidFill>
                <a:latin typeface="Consolas"/>
              </a:defRPr>
            </a:pPr>
            <a:r>
              <a:t>created_at, updated_at (TIMESTAMP)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Repository Pattern - Principe</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600" b="1">
                <a:solidFill>
                  <a:srgbClr val="2D2D2D"/>
                </a:solidFill>
                <a:latin typeface="Segoe UI"/>
              </a:defRPr>
            </a:pPr>
            <a:r>
              <a:t>🏗️ Architecture en couches</a:t>
            </a:r>
          </a:p>
          <a:p>
            <a:pPr>
              <a:spcAft>
                <a:spcPts val="800"/>
              </a:spcAft>
              <a:defRPr sz="1300">
                <a:solidFill>
                  <a:srgbClr val="2D2D2D"/>
                </a:solidFill>
                <a:latin typeface="Segoe UI"/>
              </a:defRPr>
            </a:pPr>
          </a:p>
          <a:p>
            <a:pPr>
              <a:spcAft>
                <a:spcPts val="800"/>
              </a:spcAft>
              <a:defRPr sz="1300">
                <a:solidFill>
                  <a:srgbClr val="2D2D2D"/>
                </a:solidFill>
                <a:latin typeface="Segoe UI"/>
              </a:defRPr>
            </a:pPr>
            <a:r>
              <a:t>J'ai implémenté le Repository Pattern pour séparer la logique métier de l'accès aux données :</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1. Controller (users.controller.js)</a:t>
            </a:r>
          </a:p>
          <a:p>
            <a:pPr lvl="1">
              <a:spcAft>
                <a:spcPts val="800"/>
              </a:spcAft>
              <a:defRPr sz="1200">
                <a:solidFill>
                  <a:srgbClr val="2D2D2D"/>
                </a:solidFill>
                <a:latin typeface="Segoe UI"/>
              </a:defRPr>
            </a:pPr>
            <a:r>
              <a:t>→ Gère les requêtes HTTP et les réponses</a:t>
            </a:r>
          </a:p>
          <a:p>
            <a:pPr lvl="1">
              <a:spcAft>
                <a:spcPts val="800"/>
              </a:spcAft>
              <a:defRPr sz="1200">
                <a:solidFill>
                  <a:srgbClr val="2D2D2D"/>
                </a:solidFill>
                <a:latin typeface="Segoe UI"/>
              </a:defRPr>
            </a:pPr>
            <a:r>
              <a:t>→ Valide les données avec Joi</a:t>
            </a:r>
          </a:p>
          <a:p>
            <a:pPr lvl="1">
              <a:spcAft>
                <a:spcPts val="800"/>
              </a:spcAft>
              <a:defRPr sz="1200">
                <a:solidFill>
                  <a:srgbClr val="2D2D2D"/>
                </a:solidFill>
                <a:latin typeface="Segoe UI"/>
              </a:defRPr>
            </a:pPr>
            <a:r>
              <a:t>→ Appelle les services métier</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2. Service (users.service.js)</a:t>
            </a:r>
          </a:p>
          <a:p>
            <a:pPr lvl="1">
              <a:spcAft>
                <a:spcPts val="800"/>
              </a:spcAft>
              <a:defRPr sz="1200">
                <a:solidFill>
                  <a:srgbClr val="2D2D2D"/>
                </a:solidFill>
                <a:latin typeface="Segoe UI"/>
              </a:defRPr>
            </a:pPr>
            <a:r>
              <a:t>→ Contient la logique métier</a:t>
            </a:r>
          </a:p>
          <a:p>
            <a:pPr lvl="1">
              <a:spcAft>
                <a:spcPts val="800"/>
              </a:spcAft>
              <a:defRPr sz="1200">
                <a:solidFill>
                  <a:srgbClr val="2D2D2D"/>
                </a:solidFill>
                <a:latin typeface="Segoe UI"/>
              </a:defRPr>
            </a:pPr>
            <a:r>
              <a:t>→ Appelle le repository pour les données</a:t>
            </a:r>
          </a:p>
          <a:p>
            <a:pPr lvl="1">
              <a:spcAft>
                <a:spcPts val="800"/>
              </a:spcAft>
              <a:defRPr sz="1200">
                <a:solidFill>
                  <a:srgbClr val="2D2D2D"/>
                </a:solidFill>
                <a:latin typeface="Segoe UI"/>
              </a:defRPr>
            </a:pPr>
            <a:r>
              <a:t>→ Transforme/enrichit les données</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3. Repository (users.repository.js)</a:t>
            </a:r>
          </a:p>
          <a:p>
            <a:pPr lvl="1">
              <a:spcAft>
                <a:spcPts val="800"/>
              </a:spcAft>
              <a:defRPr sz="1200">
                <a:solidFill>
                  <a:srgbClr val="2D2D2D"/>
                </a:solidFill>
                <a:latin typeface="Segoe UI"/>
              </a:defRPr>
            </a:pPr>
            <a:r>
              <a:t>→ Abstraction de l'accès aux données</a:t>
            </a:r>
          </a:p>
          <a:p>
            <a:pPr lvl="1">
              <a:spcAft>
                <a:spcPts val="800"/>
              </a:spcAft>
              <a:defRPr sz="1200">
                <a:solidFill>
                  <a:srgbClr val="2D2D2D"/>
                </a:solidFill>
                <a:latin typeface="Segoe UI"/>
              </a:defRPr>
            </a:pPr>
            <a:r>
              <a:t>→ Exécute les requêtes SQL</a:t>
            </a:r>
          </a:p>
          <a:p>
            <a:pPr lvl="1">
              <a:spcAft>
                <a:spcPts val="800"/>
              </a:spcAft>
              <a:defRPr sz="1200">
                <a:solidFill>
                  <a:srgbClr val="2D2D2D"/>
                </a:solidFill>
                <a:latin typeface="Segoe UI"/>
              </a:defRPr>
            </a:pPr>
            <a:r>
              <a:t>→ Retourne des objets JavaScript</a:t>
            </a:r>
          </a:p>
          <a:p>
            <a:pPr>
              <a:spcAft>
                <a:spcPts val="800"/>
              </a:spcAft>
              <a:defRPr sz="1300">
                <a:solidFill>
                  <a:srgbClr val="2D2D2D"/>
                </a:solidFill>
                <a:latin typeface="Segoe UI"/>
              </a:defRPr>
            </a:pPr>
          </a:p>
          <a:p>
            <a:pPr>
              <a:spcAft>
                <a:spcPts val="800"/>
              </a:spcAft>
              <a:defRPr sz="1400" b="1">
                <a:solidFill>
                  <a:srgbClr val="2D2D2D"/>
                </a:solidFill>
                <a:latin typeface="Segoe UI"/>
              </a:defRPr>
            </a:pPr>
            <a:r>
              <a:t>✅ Avantages :</a:t>
            </a:r>
          </a:p>
          <a:p>
            <a:pPr>
              <a:spcAft>
                <a:spcPts val="800"/>
              </a:spcAft>
              <a:defRPr sz="1200">
                <a:solidFill>
                  <a:srgbClr val="2D2D2D"/>
                </a:solidFill>
                <a:latin typeface="Segoe UI"/>
              </a:defRPr>
            </a:pPr>
            <a:r>
              <a:t>• Séparation des responsabilités (Single Responsibility Principle)</a:t>
            </a:r>
          </a:p>
          <a:p>
            <a:pPr>
              <a:spcAft>
                <a:spcPts val="800"/>
              </a:spcAft>
              <a:defRPr sz="1200">
                <a:solidFill>
                  <a:srgbClr val="2D2D2D"/>
                </a:solidFill>
                <a:latin typeface="Segoe UI"/>
              </a:defRPr>
            </a:pPr>
            <a:r>
              <a:t>• Testabilité accrue (mock des repositories)</a:t>
            </a:r>
          </a:p>
          <a:p>
            <a:pPr>
              <a:spcAft>
                <a:spcPts val="800"/>
              </a:spcAft>
              <a:defRPr sz="1200">
                <a:solidFill>
                  <a:srgbClr val="2D2D2D"/>
                </a:solidFill>
                <a:latin typeface="Segoe UI"/>
              </a:defRPr>
            </a:pPr>
            <a:r>
              <a:t>• Maintenance facilitée (changement de BDD plus simple)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200">
                <a:solidFill>
                  <a:srgbClr val="FFFFFF"/>
                </a:solidFill>
                <a:latin typeface="Segoe UI Semibold"/>
              </a:defRPr>
            </a:pPr>
            <a:r>
              <a:t>Repository Pattern - users.repository.js</a:t>
            </a:r>
          </a:p>
        </p:txBody>
      </p:sp>
      <p:sp>
        <p:nvSpPr>
          <p:cNvPr id="4" name="TextBox 3"/>
          <p:cNvSpPr txBox="1"/>
          <p:nvPr/>
        </p:nvSpPr>
        <p:spPr>
          <a:xfrm>
            <a:off x="548640" y="1005840"/>
            <a:ext cx="6464808" cy="822960"/>
          </a:xfrm>
          <a:prstGeom prst="rect">
            <a:avLst/>
          </a:prstGeom>
          <a:noFill/>
        </p:spPr>
        <p:txBody>
          <a:bodyPr wrap="none">
            <a:spAutoFit/>
          </a:bodyPr>
          <a:lstStyle/>
          <a:p>
            <a:pPr>
              <a:defRPr sz="1200" i="1">
                <a:solidFill>
                  <a:srgbClr val="787878"/>
                </a:solidFill>
                <a:latin typeface="Segoe UI"/>
              </a:defRPr>
            </a:pPr>
            <a:r>
              <a:t>Le repository encapsule toutes les opérations SQL liées aux utilisateurs. Il utilise des requêtes paramétrées pour éviter les injections SQL.</a:t>
            </a:r>
          </a:p>
        </p:txBody>
      </p:sp>
      <p:sp>
        <p:nvSpPr>
          <p:cNvPr id="5" name="Rounded Rectangle 4"/>
          <p:cNvSpPr/>
          <p:nvPr/>
        </p:nvSpPr>
        <p:spPr>
          <a:xfrm>
            <a:off x="548640" y="1783080"/>
            <a:ext cx="6464808" cy="8449055"/>
          </a:xfrm>
          <a:prstGeom prst="roundRect">
            <a:avLst/>
          </a:prstGeom>
          <a:solidFill>
            <a:srgbClr val="F5F5F5"/>
          </a:solidFill>
          <a:ln w="12700">
            <a:solidFill>
              <a:srgbClr val="A477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6190488" cy="8174735"/>
          </a:xfrm>
          <a:prstGeom prst="rect">
            <a:avLst/>
          </a:prstGeom>
          <a:noFill/>
        </p:spPr>
        <p:txBody>
          <a:bodyPr wrap="square">
            <a:spAutoFit/>
          </a:bodyPr>
          <a:lstStyle/>
          <a:p>
            <a:pPr>
              <a:lnSpc>
                <a:spcPct val="115000"/>
              </a:lnSpc>
              <a:defRPr sz="950">
                <a:solidFill>
                  <a:srgbClr val="2D2D2D"/>
                </a:solidFill>
                <a:latin typeface="Consolas"/>
              </a:defRPr>
            </a:pPr>
            <a:r>
              <a:t>// users/users.repository.js</a:t>
            </a:r>
            <a:br/>
            <a:r>
              <a:t>import { query } from "../config/db.js";</a:t>
            </a:r>
            <a:br/>
            <a:br/>
            <a:r>
              <a:t>const validRoles = ["owner", "tenant"];</a:t>
            </a:r>
            <a:br/>
            <a:br/>
            <a:r>
              <a:t>class UserRepository {</a:t>
            </a:r>
            <a:br/>
            <a:r>
              <a:t>    async getAllUsers() {</a:t>
            </a:r>
            <a:br/>
            <a:r>
              <a:t>        const [rows] = await query(</a:t>
            </a:r>
            <a:br/>
            <a:r>
              <a:t>            "SELECT id, avatar, role, name, firstname, phone, email FROM users"</a:t>
            </a:r>
            <a:br/>
            <a:r>
              <a:t>        );</a:t>
            </a:r>
            <a:br/>
            <a:r>
              <a:t>        return rows;</a:t>
            </a:r>
            <a:br/>
            <a:r>
              <a:t>    }</a:t>
            </a:r>
            <a:br/>
            <a:br/>
            <a:r>
              <a:t>    async getUserById(id) {</a:t>
            </a:r>
            <a:br/>
            <a:r>
              <a:t>        const [rows] = await query(</a:t>
            </a:r>
            <a:br/>
            <a:r>
              <a:t>            "SELECT id, avatar, role, name, firstname, phone, email FROM users WHERE id = ?",</a:t>
            </a:r>
            <a:br/>
            <a:r>
              <a:t>            [id]</a:t>
            </a:r>
            <a:br/>
            <a:r>
              <a:t>        );</a:t>
            </a:r>
            <a:br/>
            <a:r>
              <a:t>        return rows[0];</a:t>
            </a:r>
            <a:br/>
            <a:r>
              <a:t>    }</a:t>
            </a:r>
            <a:br/>
            <a:br/>
            <a:r>
              <a:t>    async createUser({ avatar, role, name, firstname, phone, email, password }) {</a:t>
            </a:r>
            <a:br/>
            <a:r>
              <a:t>        // Vérification email unique</a:t>
            </a:r>
            <a:br/>
            <a:r>
              <a:t>        const [existing] = await query("SELECT id FROM users WHERE email = ?", [email]);</a:t>
            </a:r>
            <a:br/>
            <a:r>
              <a:t>        if (existing.length) throw new Error("Email déjà utilisé");</a:t>
            </a:r>
            <a:br/>
            <a:br/>
            <a:r>
              <a:t>        const [result] = await query(</a:t>
            </a:r>
            <a:br/>
            <a:r>
              <a:t>            "INSERT INTO users (avatar, role, name, firstname, phone, email, password) VALUES (?, ?, ?, ?, ?, ?, ?)",</a:t>
            </a:r>
            <a:br/>
            <a:r>
              <a:t>            [avatar, role, name, firstname, phone, email, password]</a:t>
            </a:r>
            <a:br/>
            <a:r>
              <a:t>        );</a:t>
            </a:r>
            <a:br/>
            <a:br/>
            <a:r>
              <a:t>        return {</a:t>
            </a:r>
            <a:br/>
            <a:r>
              <a:t>            id: Number(result.insertId),</a:t>
            </a:r>
            <a:br/>
            <a:r>
              <a:t>            avatar, role, name, firstname, phone, email,</a:t>
            </a:r>
            <a:br/>
            <a:r>
              <a:t>            created_at: new Date(),</a:t>
            </a:r>
            <a:br/>
            <a:r>
              <a:t>            updated_at: new Date(),</a:t>
            </a:r>
            <a:br/>
            <a:r>
              <a:t>        };</a:t>
            </a:r>
            <a:br/>
            <a:r>
              <a:t>    }</a:t>
            </a:r>
            <a:br/>
            <a:br/>
            <a:r>
              <a:t>    async updateUser(id, update) {</a:t>
            </a:r>
            <a:br/>
            <a:r>
              <a:t>        const fields = [];</a:t>
            </a:r>
            <a:br/>
            <a:r>
              <a:t>        const values = [];</a:t>
            </a:r>
            <a:br/>
            <a:br/>
            <a:r>
              <a:t>        for (const key in update) {</a:t>
            </a:r>
            <a:br/>
            <a:r>
              <a:t>            fields.push(`${key} = ?`);</a:t>
            </a:r>
            <a:br/>
            <a:r>
              <a:t>            values.push(update[key]);</a:t>
            </a:r>
            <a:br/>
            <a:r>
              <a:t>        }</a:t>
            </a:r>
            <a:br/>
            <a:r>
              <a:t>        values.push(id);</a:t>
            </a:r>
            <a:br/>
            <a:br/>
            <a:r>
              <a:t>        const [result] = await query(</a:t>
            </a:r>
            <a:br/>
            <a:r>
              <a:t>            `UPDATE users SET ${fields.join(", ")} WHERE id = ?`,</a:t>
            </a:r>
            <a:br/>
            <a:r>
              <a:t>            values</a:t>
            </a:r>
            <a:br/>
            <a:r>
              <a:t>        );</a:t>
            </a:r>
            <a:br/>
            <a:br/>
            <a:r>
              <a:t>        return result.affectedRows ? await this.getUserById(id) : null;</a:t>
            </a:r>
            <a:br/>
            <a:r>
              <a:t>    }</a:t>
            </a:r>
            <a:br/>
            <a:br/>
            <a:r>
              <a:t>    async deleteUser(id) {</a:t>
            </a:r>
            <a:br/>
            <a:r>
              <a:t>        const [result] = await query("DELETE FROM users WHERE id = ?", [id]);</a:t>
            </a:r>
            <a:br/>
            <a:r>
              <a:t>        return result.affectedRows &gt; 0;</a:t>
            </a:r>
            <a:br/>
            <a:r>
              <a:t>    }</a:t>
            </a:r>
            <a:br/>
            <a:r>
              <a:t>}</a:t>
            </a:r>
            <a:br/>
            <a:br/>
            <a:r>
              <a:t>export default new UserRepository();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7562088" cy="91440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0"/>
            <a:ext cx="6647688" cy="1371600"/>
          </a:xfrm>
          <a:prstGeom prst="rect">
            <a:avLst/>
          </a:prstGeom>
          <a:noFill/>
        </p:spPr>
        <p:txBody>
          <a:bodyPr wrap="none">
            <a:spAutoFit/>
          </a:bodyPr>
          <a:lstStyle/>
          <a:p>
            <a:pPr algn="ctr">
              <a:defRPr sz="11000">
                <a:solidFill>
                  <a:srgbClr val="E6E6E6"/>
                </a:solidFill>
                <a:latin typeface="Segoe UI Light"/>
              </a:defRPr>
            </a:pPr>
            <a:r>
              <a:t>05</a:t>
            </a:r>
          </a:p>
        </p:txBody>
      </p:sp>
      <p:sp>
        <p:nvSpPr>
          <p:cNvPr id="5" name="TextBox 4"/>
          <p:cNvSpPr txBox="1"/>
          <p:nvPr/>
        </p:nvSpPr>
        <p:spPr>
          <a:xfrm>
            <a:off x="457200" y="4572000"/>
            <a:ext cx="6647688" cy="822960"/>
          </a:xfrm>
          <a:prstGeom prst="rect">
            <a:avLst/>
          </a:prstGeom>
          <a:noFill/>
        </p:spPr>
        <p:txBody>
          <a:bodyPr wrap="none" anchor="t">
            <a:spAutoFit/>
          </a:bodyPr>
          <a:lstStyle/>
          <a:p>
            <a:pPr algn="ctr">
              <a:defRPr sz="3000">
                <a:solidFill>
                  <a:srgbClr val="FFFFFF"/>
                </a:solidFill>
                <a:latin typeface="Segoe UI Semibold"/>
              </a:defRPr>
            </a:pPr>
            <a:r>
              <a:t>AUTHENTIFICATION &amp; SÉCURITÉ</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200">
                <a:solidFill>
                  <a:srgbClr val="FFFFFF"/>
                </a:solidFill>
                <a:latin typeface="Segoe UI Semibold"/>
              </a:defRPr>
            </a:pPr>
            <a:r>
              <a:t>Authentification JWT - Connexion</a:t>
            </a:r>
          </a:p>
        </p:txBody>
      </p:sp>
      <p:sp>
        <p:nvSpPr>
          <p:cNvPr id="4" name="TextBox 3"/>
          <p:cNvSpPr txBox="1"/>
          <p:nvPr/>
        </p:nvSpPr>
        <p:spPr>
          <a:xfrm>
            <a:off x="548640" y="1005840"/>
            <a:ext cx="6464808" cy="822960"/>
          </a:xfrm>
          <a:prstGeom prst="rect">
            <a:avLst/>
          </a:prstGeom>
          <a:noFill/>
        </p:spPr>
        <p:txBody>
          <a:bodyPr wrap="none">
            <a:spAutoFit/>
          </a:bodyPr>
          <a:lstStyle/>
          <a:p>
            <a:pPr>
              <a:defRPr sz="1200" i="1">
                <a:solidFill>
                  <a:srgbClr val="787878"/>
                </a:solidFill>
                <a:latin typeface="Segoe UI"/>
              </a:defRPr>
            </a:pPr>
            <a:r>
              <a:t>Authentification avec JWT stocké en cookie HttpOnly et vérification Argon2.</a:t>
            </a:r>
          </a:p>
        </p:txBody>
      </p:sp>
      <p:sp>
        <p:nvSpPr>
          <p:cNvPr id="5" name="Rounded Rectangle 4"/>
          <p:cNvSpPr/>
          <p:nvPr/>
        </p:nvSpPr>
        <p:spPr>
          <a:xfrm>
            <a:off x="548640" y="1783080"/>
            <a:ext cx="6464808" cy="8449055"/>
          </a:xfrm>
          <a:prstGeom prst="roundRect">
            <a:avLst/>
          </a:prstGeom>
          <a:solidFill>
            <a:srgbClr val="F5F5F5"/>
          </a:solidFill>
          <a:ln w="12700">
            <a:solidFill>
              <a:srgbClr val="A477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6190488" cy="8174735"/>
          </a:xfrm>
          <a:prstGeom prst="rect">
            <a:avLst/>
          </a:prstGeom>
          <a:noFill/>
        </p:spPr>
        <p:txBody>
          <a:bodyPr wrap="square">
            <a:spAutoFit/>
          </a:bodyPr>
          <a:lstStyle/>
          <a:p>
            <a:pPr>
              <a:lnSpc>
                <a:spcPct val="115000"/>
              </a:lnSpc>
              <a:defRPr sz="950">
                <a:solidFill>
                  <a:srgbClr val="2D2D2D"/>
                </a:solidFill>
                <a:latin typeface="Consolas"/>
              </a:defRPr>
            </a:pPr>
            <a:r>
              <a:t>// authentication/authentication.js</a:t>
            </a:r>
            <a:br/>
            <a:r>
              <a:t>import jwt from "jsonwebtoken";</a:t>
            </a:r>
            <a:br/>
            <a:r>
              <a:t>import argon2 from "argon2";</a:t>
            </a:r>
            <a:br/>
            <a:r>
              <a:t>import { query } from "../config/db.js";</a:t>
            </a:r>
            <a:br/>
            <a:br/>
            <a:r>
              <a:t>// Vérifie les identifiants et renvoie un token + infos utilisateur</a:t>
            </a:r>
            <a:br/>
            <a:r>
              <a:t>export async function verifyPassword(req, res) {</a:t>
            </a:r>
            <a:br/>
            <a:r>
              <a:t>    try {</a:t>
            </a:r>
            <a:br/>
            <a:r>
              <a:t>        const { email, password } = req.body;</a:t>
            </a:r>
            <a:br/>
            <a:br/>
            <a:r>
              <a:t>        const [rows] = await query("SELECT * FROM users WHERE email = ?", [email]);</a:t>
            </a:r>
            <a:br/>
            <a:r>
              <a:t>        const user = rows[0];</a:t>
            </a:r>
            <a:br/>
            <a:br/>
            <a:r>
              <a:t>        if (!user) {</a:t>
            </a:r>
            <a:br/>
            <a:r>
              <a:t>            return res.status(401).json({ message: "Utilisateur non trouvé" });</a:t>
            </a:r>
            <a:br/>
            <a:r>
              <a:t>        }</a:t>
            </a:r>
            <a:br/>
            <a:br/>
            <a:r>
              <a:t>        // Vérification du mot de passe avec Argon2</a:t>
            </a:r>
            <a:br/>
            <a:r>
              <a:t>        const isValid = await argon2.verify(user.password, password);</a:t>
            </a:r>
            <a:br/>
            <a:br/>
            <a:r>
              <a:t>        if (!isValid) {</a:t>
            </a:r>
            <a:br/>
            <a:r>
              <a:t>            return res.status(401).json({ message: "Mot de passe incorrect" });</a:t>
            </a:r>
            <a:br/>
            <a:r>
              <a:t>        }</a:t>
            </a:r>
            <a:br/>
            <a:br/>
            <a:r>
              <a:t>        // Génération du token JWT</a:t>
            </a:r>
            <a:br/>
            <a:r>
              <a:t>        const token = jwt.sign({ id: user.id }, process.env.JWT_SECRET, {</a:t>
            </a:r>
            <a:br/>
            <a:r>
              <a:t>            expiresIn: "1d",</a:t>
            </a:r>
            <a:br/>
            <a:r>
              <a:t>        });</a:t>
            </a:r>
            <a:br/>
            <a:br/>
            <a:r>
              <a:t>        // Envoi du token dans un cookie HttpOnly (protection XSS)</a:t>
            </a:r>
            <a:br/>
            <a:r>
              <a:t>        res.cookie("token", token, {</a:t>
            </a:r>
            <a:br/>
            <a:r>
              <a:t>            httpOnly: true,</a:t>
            </a:r>
            <a:br/>
            <a:r>
              <a:t>            secure: process.env.NODE_ENV === "production",</a:t>
            </a:r>
            <a:br/>
            <a:r>
              <a:t>            sameSite: "Strict",</a:t>
            </a:r>
            <a:br/>
            <a:r>
              <a:t>        });</a:t>
            </a:r>
            <a:br/>
            <a:br/>
            <a:r>
              <a:t>        // Réponse avec les infos utilisateur (sans mot de passe)</a:t>
            </a:r>
            <a:br/>
            <a:r>
              <a:t>        res.status(200).json({</a:t>
            </a:r>
            <a:br/>
            <a:r>
              <a:t>            id: user.id,</a:t>
            </a:r>
            <a:br/>
            <a:r>
              <a:t>            firstname: user.firstname,</a:t>
            </a:r>
            <a:br/>
            <a:r>
              <a:t>            role: user.role,</a:t>
            </a:r>
            <a:br/>
            <a:r>
              <a:t>            avatar: user.avatar,</a:t>
            </a:r>
            <a:br/>
            <a:r>
              <a:t>        });</a:t>
            </a:r>
            <a:br/>
            <a:r>
              <a:t>    } catch (err) {</a:t>
            </a:r>
            <a:br/>
            <a:r>
              <a:t>        console.error("Erreur dans verifyPassword :", err.message);</a:t>
            </a:r>
            <a:br/>
            <a:r>
              <a:t>        res.status(500).json({ message: "Erreur interne" });</a:t>
            </a:r>
            <a:br/>
            <a:r>
              <a:t>    }</a:t>
            </a:r>
            <a:br/>
            <a: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200">
                <a:solidFill>
                  <a:srgbClr val="FFFFFF"/>
                </a:solidFill>
                <a:latin typeface="Segoe UI Semibold"/>
              </a:defRPr>
            </a:pPr>
            <a:r>
              <a:t>Middleware de Protection - verifyToken</a:t>
            </a:r>
          </a:p>
        </p:txBody>
      </p:sp>
      <p:sp>
        <p:nvSpPr>
          <p:cNvPr id="4" name="TextBox 3"/>
          <p:cNvSpPr txBox="1"/>
          <p:nvPr/>
        </p:nvSpPr>
        <p:spPr>
          <a:xfrm>
            <a:off x="548640" y="1005840"/>
            <a:ext cx="6464808" cy="822960"/>
          </a:xfrm>
          <a:prstGeom prst="rect">
            <a:avLst/>
          </a:prstGeom>
          <a:noFill/>
        </p:spPr>
        <p:txBody>
          <a:bodyPr wrap="none">
            <a:spAutoFit/>
          </a:bodyPr>
          <a:lstStyle/>
          <a:p>
            <a:pPr>
              <a:defRPr sz="1200" i="1">
                <a:solidFill>
                  <a:srgbClr val="787878"/>
                </a:solidFill>
                <a:latin typeface="Segoe UI"/>
              </a:defRPr>
            </a:pPr>
            <a:r>
              <a:t>Le middleware verifyToken protège les routes privées et expose l'utilisateur sur req.user.</a:t>
            </a:r>
          </a:p>
        </p:txBody>
      </p:sp>
      <p:sp>
        <p:nvSpPr>
          <p:cNvPr id="5" name="Rounded Rectangle 4"/>
          <p:cNvSpPr/>
          <p:nvPr/>
        </p:nvSpPr>
        <p:spPr>
          <a:xfrm>
            <a:off x="548640" y="1783080"/>
            <a:ext cx="6464808" cy="8449055"/>
          </a:xfrm>
          <a:prstGeom prst="roundRect">
            <a:avLst/>
          </a:prstGeom>
          <a:solidFill>
            <a:srgbClr val="F5F5F5"/>
          </a:solidFill>
          <a:ln w="12700">
            <a:solidFill>
              <a:srgbClr val="A477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6190488" cy="8174735"/>
          </a:xfrm>
          <a:prstGeom prst="rect">
            <a:avLst/>
          </a:prstGeom>
          <a:noFill/>
        </p:spPr>
        <p:txBody>
          <a:bodyPr wrap="square">
            <a:spAutoFit/>
          </a:bodyPr>
          <a:lstStyle/>
          <a:p>
            <a:pPr>
              <a:lnSpc>
                <a:spcPct val="115000"/>
              </a:lnSpc>
              <a:defRPr sz="950">
                <a:solidFill>
                  <a:srgbClr val="2D2D2D"/>
                </a:solidFill>
                <a:latin typeface="Consolas"/>
              </a:defRPr>
            </a:pPr>
            <a:r>
              <a:t>// authentication/authentication.js (suite)</a:t>
            </a:r>
            <a:br/>
            <a:br/>
            <a:r>
              <a:t>// Vérifie le token JWT dans les cookies</a:t>
            </a:r>
            <a:br/>
            <a:r>
              <a:t>export async function verifyToken(req, res, next) {</a:t>
            </a:r>
            <a:br/>
            <a:r>
              <a:t>    const token = req.cookies.token;</a:t>
            </a:r>
            <a:br/>
            <a:br/>
            <a:r>
              <a:t>    if (!token) {</a:t>
            </a:r>
            <a:br/>
            <a:r>
              <a:t>        return res.status(401).send("Accès interdit, token manquant.");</a:t>
            </a:r>
            <a:br/>
            <a:r>
              <a:t>    }</a:t>
            </a:r>
            <a:br/>
            <a:br/>
            <a:r>
              <a:t>    try {</a:t>
            </a:r>
            <a:br/>
            <a:r>
              <a:t>        const decoded = jwt.verify(token, process.env.JWT_SECRET);</a:t>
            </a:r>
            <a:br/>
            <a:br/>
            <a:r>
              <a:t>        const [rows] = await query("SELECT firstname FROM users WHERE id = ?", [</a:t>
            </a:r>
            <a:br/>
            <a:r>
              <a:t>            decoded.id,</a:t>
            </a:r>
            <a:br/>
            <a:r>
              <a:t>        ]);</a:t>
            </a:r>
            <a:br/>
            <a:r>
              <a:t>        const user = rows[0];</a:t>
            </a:r>
            <a:br/>
            <a:br/>
            <a:r>
              <a:t>        if (!user) {</a:t>
            </a:r>
            <a:br/>
            <a:r>
              <a:t>            return res.status(401).send("Utilisateur non trouvé ou supprimé.");</a:t>
            </a:r>
            <a:br/>
            <a:r>
              <a:t>        }</a:t>
            </a:r>
            <a:br/>
            <a:br/>
            <a:r>
              <a:t>        req.user = user;</a:t>
            </a:r>
            <a:br/>
            <a:r>
              <a:t>        next();</a:t>
            </a:r>
            <a:br/>
            <a:r>
              <a:t>    } catch (err) {</a:t>
            </a:r>
            <a:br/>
            <a:r>
              <a:t>        console.error("Erreur lors de la vérification du token :", err.message);</a:t>
            </a:r>
            <a:br/>
            <a:r>
              <a:t>        return res.status(403).send("Token invalide ou expiré.");</a:t>
            </a:r>
            <a:br/>
            <a:r>
              <a:t>    }</a:t>
            </a:r>
            <a:br/>
            <a:r>
              <a:t>}</a:t>
            </a:r>
            <a:br/>
            <a:br/>
            <a:r>
              <a:t>// Déconnecte l'utilisateur en supprimant le cookie</a:t>
            </a:r>
            <a:br/>
            <a:r>
              <a:t>export async function clearCookie(req, res) {</a:t>
            </a:r>
            <a:br/>
            <a:r>
              <a:t>    res.clearCookie("token", {</a:t>
            </a:r>
            <a:br/>
            <a:r>
              <a:t>        httpOnly: true,</a:t>
            </a:r>
            <a:br/>
            <a:r>
              <a:t>    });</a:t>
            </a:r>
            <a:br/>
            <a:r>
              <a:t>    res.status(200).send("Utilisateur déconnecté");</a:t>
            </a:r>
            <a:br/>
            <a: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200">
                <a:solidFill>
                  <a:srgbClr val="FFFFFF"/>
                </a:solidFill>
                <a:latin typeface="Segoe UI Semibold"/>
              </a:defRPr>
            </a:pPr>
            <a:r>
              <a:t>Validation des Données - Joi</a:t>
            </a:r>
          </a:p>
        </p:txBody>
      </p:sp>
      <p:sp>
        <p:nvSpPr>
          <p:cNvPr id="4" name="TextBox 3"/>
          <p:cNvSpPr txBox="1"/>
          <p:nvPr/>
        </p:nvSpPr>
        <p:spPr>
          <a:xfrm>
            <a:off x="548640" y="1005840"/>
            <a:ext cx="6464808" cy="822960"/>
          </a:xfrm>
          <a:prstGeom prst="rect">
            <a:avLst/>
          </a:prstGeom>
          <a:noFill/>
        </p:spPr>
        <p:txBody>
          <a:bodyPr wrap="none">
            <a:spAutoFit/>
          </a:bodyPr>
          <a:lstStyle/>
          <a:p>
            <a:pPr>
              <a:defRPr sz="1200" i="1">
                <a:solidFill>
                  <a:srgbClr val="787878"/>
                </a:solidFill>
                <a:latin typeface="Segoe UI"/>
              </a:defRPr>
            </a:pPr>
            <a:r>
              <a:t>Schemas Joi réutilisables et messages d'erreur explicites.</a:t>
            </a:r>
          </a:p>
        </p:txBody>
      </p:sp>
      <p:sp>
        <p:nvSpPr>
          <p:cNvPr id="5" name="Rounded Rectangle 4"/>
          <p:cNvSpPr/>
          <p:nvPr/>
        </p:nvSpPr>
        <p:spPr>
          <a:xfrm>
            <a:off x="548640" y="1783080"/>
            <a:ext cx="6464808" cy="8449055"/>
          </a:xfrm>
          <a:prstGeom prst="roundRect">
            <a:avLst/>
          </a:prstGeom>
          <a:solidFill>
            <a:srgbClr val="F5F5F5"/>
          </a:solidFill>
          <a:ln w="12700">
            <a:solidFill>
              <a:srgbClr val="A477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6190488" cy="8174735"/>
          </a:xfrm>
          <a:prstGeom prst="rect">
            <a:avLst/>
          </a:prstGeom>
          <a:noFill/>
        </p:spPr>
        <p:txBody>
          <a:bodyPr wrap="square">
            <a:spAutoFit/>
          </a:bodyPr>
          <a:lstStyle/>
          <a:p>
            <a:pPr>
              <a:lnSpc>
                <a:spcPct val="115000"/>
              </a:lnSpc>
              <a:defRPr sz="950">
                <a:solidFill>
                  <a:srgbClr val="2D2D2D"/>
                </a:solidFill>
                <a:latin typeface="Consolas"/>
              </a:defRPr>
            </a:pPr>
            <a:r>
              <a:t>// validation/users.validation.js</a:t>
            </a:r>
            <a:br/>
            <a:r>
              <a:t>import Joi from "joi";</a:t>
            </a:r>
            <a:br/>
            <a:br/>
            <a:r>
              <a:t>const validRoles = ["owner", "tenant"];</a:t>
            </a:r>
            <a:br/>
            <a:br/>
            <a:r>
              <a:t>export const createUserSchema = Joi.object({</a:t>
            </a:r>
            <a:br/>
            <a:r>
              <a:t>    avatar: Joi.string().uri().optional().messages({</a:t>
            </a:r>
            <a:br/>
            <a:r>
              <a:t>        "string.uri": "L'URL de l'avatar n'est pas valide",</a:t>
            </a:r>
            <a:br/>
            <a:r>
              <a:t>    }),</a:t>
            </a:r>
            <a:br/>
            <a:br/>
            <a:r>
              <a:t>    role: Joi.string()</a:t>
            </a:r>
            <a:br/>
            <a:r>
              <a:t>        .valid(...validRoles)</a:t>
            </a:r>
            <a:br/>
            <a:r>
              <a:t>        .required()</a:t>
            </a:r>
            <a:br/>
            <a:r>
              <a:t>        .messages({</a:t>
            </a:r>
            <a:br/>
            <a:r>
              <a:t>            "any.required": "Le rôle est requis",</a:t>
            </a:r>
            <a:br/>
            <a:r>
              <a:t>            "any.only": `Le rôle doit être soit : ${validRoles.join(" ou ")}`,</a:t>
            </a:r>
            <a:br/>
            <a:r>
              <a:t>        }),</a:t>
            </a:r>
            <a:br/>
            <a:br/>
            <a:r>
              <a:t>    name: Joi.string().min(2).max(30).required().messages({</a:t>
            </a:r>
            <a:br/>
            <a:r>
              <a:t>        "string.min": "Le nom doit contenir au moins 2 caractères",</a:t>
            </a:r>
            <a:br/>
            <a:r>
              <a:t>        "any.required": "Le nom est requis",</a:t>
            </a:r>
            <a:br/>
            <a:r>
              <a:t>    }),</a:t>
            </a:r>
            <a:br/>
            <a:br/>
            <a:r>
              <a:t>    email: Joi.string().email().required().messages({</a:t>
            </a:r>
            <a:br/>
            <a:r>
              <a:t>        "string.email": "L'adresse e-mail doit être valide",</a:t>
            </a:r>
            <a:br/>
            <a:r>
              <a:t>        "any.required": "L'e-mail est requis",</a:t>
            </a:r>
            <a:br/>
            <a:r>
              <a:t>    }),</a:t>
            </a:r>
            <a:br/>
            <a:br/>
            <a:r>
              <a:t>    password: Joi.string().min(6).required().messages({</a:t>
            </a:r>
            <a:br/>
            <a:r>
              <a:t>        "string.min": "Le mot de passe doit contenir au moins 6 caractères",</a:t>
            </a:r>
            <a:br/>
            <a:r>
              <a:t>        "any.required": "Le mot de passe est requis",</a:t>
            </a:r>
            <a:br/>
            <a:r>
              <a:t>    }),</a:t>
            </a:r>
            <a:br/>
            <a:br/>
            <a:r>
              <a:t>    confirmpassword: Joi.string().valid(Joi.ref("password")).messages({</a:t>
            </a:r>
            <a:br/>
            <a:r>
              <a:t>        "any.only": "Les mots de passe doivent correspondre",</a:t>
            </a:r>
            <a:br/>
            <a:r>
              <a:t>    }),</a:t>
            </a:r>
            <a:br/>
            <a:r>
              <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200">
                <a:solidFill>
                  <a:srgbClr val="FFFFFF"/>
                </a:solidFill>
                <a:latin typeface="Segoe UI Semibold"/>
              </a:defRPr>
            </a:pPr>
            <a:r>
              <a:t>Controller - users.controller.js</a:t>
            </a:r>
          </a:p>
        </p:txBody>
      </p:sp>
      <p:sp>
        <p:nvSpPr>
          <p:cNvPr id="4" name="TextBox 3"/>
          <p:cNvSpPr txBox="1"/>
          <p:nvPr/>
        </p:nvSpPr>
        <p:spPr>
          <a:xfrm>
            <a:off x="548640" y="1005840"/>
            <a:ext cx="6464808" cy="822960"/>
          </a:xfrm>
          <a:prstGeom prst="rect">
            <a:avLst/>
          </a:prstGeom>
          <a:noFill/>
        </p:spPr>
        <p:txBody>
          <a:bodyPr wrap="none">
            <a:spAutoFit/>
          </a:bodyPr>
          <a:lstStyle/>
          <a:p>
            <a:pPr>
              <a:defRPr sz="1200" i="1">
                <a:solidFill>
                  <a:srgbClr val="787878"/>
                </a:solidFill>
                <a:latin typeface="Segoe UI"/>
              </a:defRPr>
            </a:pPr>
            <a:r>
              <a:t>Le controller orchestre validation, upload et délègue au service.</a:t>
            </a:r>
          </a:p>
        </p:txBody>
      </p:sp>
      <p:sp>
        <p:nvSpPr>
          <p:cNvPr id="5" name="Rounded Rectangle 4"/>
          <p:cNvSpPr/>
          <p:nvPr/>
        </p:nvSpPr>
        <p:spPr>
          <a:xfrm>
            <a:off x="548640" y="1783080"/>
            <a:ext cx="6464808" cy="8449055"/>
          </a:xfrm>
          <a:prstGeom prst="roundRect">
            <a:avLst/>
          </a:prstGeom>
          <a:solidFill>
            <a:srgbClr val="F5F5F5"/>
          </a:solidFill>
          <a:ln w="12700">
            <a:solidFill>
              <a:srgbClr val="A477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6190488" cy="8174735"/>
          </a:xfrm>
          <a:prstGeom prst="rect">
            <a:avLst/>
          </a:prstGeom>
          <a:noFill/>
        </p:spPr>
        <p:txBody>
          <a:bodyPr wrap="square">
            <a:spAutoFit/>
          </a:bodyPr>
          <a:lstStyle/>
          <a:p>
            <a:pPr>
              <a:lnSpc>
                <a:spcPct val="115000"/>
              </a:lnSpc>
              <a:defRPr sz="950">
                <a:solidFill>
                  <a:srgbClr val="2D2D2D"/>
                </a:solidFill>
                <a:latin typeface="Consolas"/>
              </a:defRPr>
            </a:pPr>
            <a:r>
              <a:t>// users/users.controller.js</a:t>
            </a:r>
            <a:br/>
            <a:r>
              <a:t>import userService from "./users.service.js";</a:t>
            </a:r>
            <a:br/>
            <a:r>
              <a:t>import cloudinary from "../config/cloudinary.js";</a:t>
            </a:r>
            <a:br/>
            <a:r>
              <a:t>import fs from "fs";</a:t>
            </a:r>
            <a:br/>
            <a:r>
              <a:t>import { createUserSchema, updateUserSchema } from "../validation/users.validation.js";</a:t>
            </a:r>
            <a:br/>
            <a:br/>
            <a:r>
              <a:t>class UserController {</a:t>
            </a:r>
            <a:br/>
            <a:r>
              <a:t>    constructor(userService) {</a:t>
            </a:r>
            <a:br/>
            <a:r>
              <a:t>        this.userService = userService;</a:t>
            </a:r>
            <a:br/>
            <a:r>
              <a:t>    }</a:t>
            </a:r>
            <a:br/>
            <a:br/>
            <a:r>
              <a:t>    createUser = async (req, res, next) =&gt; {</a:t>
            </a:r>
            <a:br/>
            <a:r>
              <a:t>        try {</a:t>
            </a:r>
            <a:br/>
            <a:r>
              <a:t>            // Validation Joi</a:t>
            </a:r>
            <a:br/>
            <a:r>
              <a:t>            const { error } = createUserSchema.validate(req.body);</a:t>
            </a:r>
            <a:br/>
            <a:r>
              <a:t>            if (error) throw new Error("Validation échouée : " + error.details[0].message);</a:t>
            </a:r>
            <a:br/>
            <a:br/>
            <a:r>
              <a:t>            let avatarUrl;</a:t>
            </a:r>
            <a:br/>
            <a:br/>
            <a:r>
              <a:t>            // Upload avatar sur Cloudinary si présent</a:t>
            </a:r>
            <a:br/>
            <a:r>
              <a:t>            if (req.file) {</a:t>
            </a:r>
            <a:br/>
            <a:r>
              <a:t>                const result = await cloudinary.uploader.upload(req.file.path, {</a:t>
            </a:r>
            <a:br/>
            <a:r>
              <a:t>                    folder: "avatars",</a:t>
            </a:r>
            <a:br/>
            <a:r>
              <a:t>                    transformation: [{ width: 300, height: 300, crop: "fill" }],</a:t>
            </a:r>
            <a:br/>
            <a:r>
              <a:t>                });</a:t>
            </a:r>
            <a:br/>
            <a:r>
              <a:t>                avatarUrl = result.secure_url;</a:t>
            </a:r>
            <a:br/>
            <a:r>
              <a:t>                fs.unlinkSync(req.file.path); // Supprimer fichier temporaire</a:t>
            </a:r>
            <a:br/>
            <a:r>
              <a:t>            } else {</a:t>
            </a:r>
            <a:br/>
            <a:r>
              <a:t>                avatarUrl = "https://res.cloudinary.com/.../default.png";</a:t>
            </a:r>
            <a:br/>
            <a:r>
              <a:t>            }</a:t>
            </a:r>
            <a:br/>
            <a:br/>
            <a:r>
              <a:t>            const userData = {</a:t>
            </a:r>
            <a:br/>
            <a:r>
              <a:t>                ...req.body,</a:t>
            </a:r>
            <a:br/>
            <a:r>
              <a:t>                avatar: avatarUrl,</a:t>
            </a:r>
            <a:br/>
            <a:r>
              <a:t>            };</a:t>
            </a:r>
            <a:br/>
            <a:br/>
            <a:r>
              <a:t>            const newUser = await this.userService.createUser(userData);</a:t>
            </a:r>
            <a:br/>
            <a:r>
              <a:t>            res.status(201).json(newUser);</a:t>
            </a:r>
            <a:br/>
            <a:r>
              <a:t>        } catch (error) {</a:t>
            </a:r>
            <a:br/>
            <a:r>
              <a:t>            next(error);</a:t>
            </a:r>
            <a:br/>
            <a:r>
              <a:t>        }</a:t>
            </a:r>
            <a:br/>
            <a:r>
              <a:t>    };</a:t>
            </a:r>
            <a:br/>
            <a:br/>
            <a:r>
              <a:t>    // Autres méthodes: getAllUsers, getUserById, updateUser, deleteUser...</a:t>
            </a:r>
            <a:br/>
            <a:r>
              <a:t>}</a:t>
            </a:r>
            <a:br/>
            <a:br/>
            <a:r>
              <a:t>export default new UserController(userService);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200">
                <a:solidFill>
                  <a:srgbClr val="FFFFFF"/>
                </a:solidFill>
                <a:latin typeface="Segoe UI Semibold"/>
              </a:defRPr>
            </a:pPr>
            <a:r>
              <a:t>Routes - users.router.js</a:t>
            </a:r>
          </a:p>
        </p:txBody>
      </p:sp>
      <p:sp>
        <p:nvSpPr>
          <p:cNvPr id="4" name="TextBox 3"/>
          <p:cNvSpPr txBox="1"/>
          <p:nvPr/>
        </p:nvSpPr>
        <p:spPr>
          <a:xfrm>
            <a:off x="548640" y="1005840"/>
            <a:ext cx="6464808" cy="822960"/>
          </a:xfrm>
          <a:prstGeom prst="rect">
            <a:avLst/>
          </a:prstGeom>
          <a:noFill/>
        </p:spPr>
        <p:txBody>
          <a:bodyPr wrap="none">
            <a:spAutoFit/>
          </a:bodyPr>
          <a:lstStyle/>
          <a:p>
            <a:pPr>
              <a:defRPr sz="1200" i="1">
                <a:solidFill>
                  <a:srgbClr val="787878"/>
                </a:solidFill>
                <a:latin typeface="Segoe UI"/>
              </a:defRPr>
            </a:pPr>
            <a:r>
              <a:t>Routes avec middlewares (multer, verifyToken) et endpoints auth.</a:t>
            </a:r>
          </a:p>
        </p:txBody>
      </p:sp>
      <p:sp>
        <p:nvSpPr>
          <p:cNvPr id="5" name="Rounded Rectangle 4"/>
          <p:cNvSpPr/>
          <p:nvPr/>
        </p:nvSpPr>
        <p:spPr>
          <a:xfrm>
            <a:off x="548640" y="1783080"/>
            <a:ext cx="6464808" cy="8449055"/>
          </a:xfrm>
          <a:prstGeom prst="roundRect">
            <a:avLst/>
          </a:prstGeom>
          <a:solidFill>
            <a:srgbClr val="F5F5F5"/>
          </a:solidFill>
          <a:ln w="12700">
            <a:solidFill>
              <a:srgbClr val="A477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6190488" cy="8174735"/>
          </a:xfrm>
          <a:prstGeom prst="rect">
            <a:avLst/>
          </a:prstGeom>
          <a:noFill/>
        </p:spPr>
        <p:txBody>
          <a:bodyPr wrap="square">
            <a:spAutoFit/>
          </a:bodyPr>
          <a:lstStyle/>
          <a:p>
            <a:pPr>
              <a:lnSpc>
                <a:spcPct val="115000"/>
              </a:lnSpc>
              <a:defRPr sz="950">
                <a:solidFill>
                  <a:srgbClr val="2D2D2D"/>
                </a:solidFill>
                <a:latin typeface="Consolas"/>
              </a:defRPr>
            </a:pPr>
            <a:r>
              <a:t>// routes/users.router.js</a:t>
            </a:r>
            <a:br/>
            <a:r>
              <a:t>import express from "express";</a:t>
            </a:r>
            <a:br/>
            <a:r>
              <a:t>import multer from "multer";</a:t>
            </a:r>
            <a:br/>
            <a:r>
              <a:t>import userController from "../users/users.controller.js";</a:t>
            </a:r>
            <a:br/>
            <a:r>
              <a:t>import {</a:t>
            </a:r>
            <a:br/>
            <a:r>
              <a:t>    verifyToken,</a:t>
            </a:r>
            <a:br/>
            <a:r>
              <a:t>    verifyPassword,</a:t>
            </a:r>
            <a:br/>
            <a:r>
              <a:t>    clearCookie,</a:t>
            </a:r>
            <a:br/>
            <a:r>
              <a:t>} from "../authentication/authentication.js";</a:t>
            </a:r>
            <a:br/>
            <a:br/>
            <a:r>
              <a:t>const router = express.Router();</a:t>
            </a:r>
            <a:br/>
            <a:r>
              <a:t>const upload = multer({ dest: "uploads/" }); // stockage temporaire</a:t>
            </a:r>
            <a:br/>
            <a:br/>
            <a:r>
              <a:t>// Route protégée - nécessite authentification</a:t>
            </a:r>
            <a:br/>
            <a:r>
              <a:t>router.get("/dashboard", verifyToken, (req, res) =&gt; {</a:t>
            </a:r>
            <a:br/>
            <a:r>
              <a:t>    res.send(`Bienvenue dans votre espace, ${req.user.firstname}`);</a:t>
            </a:r>
            <a:br/>
            <a:r>
              <a:t>});</a:t>
            </a:r>
            <a:br/>
            <a:br/>
            <a:r>
              <a:t>// Routes publiques</a:t>
            </a:r>
            <a:br/>
            <a:r>
              <a:t>router.get("/", userController.getAllUsers);</a:t>
            </a:r>
            <a:br/>
            <a:r>
              <a:t>router.get("/:id", userController.getUserById);</a:t>
            </a:r>
            <a:br/>
            <a:r>
              <a:t>router.post("/register", upload.single("avatar"), userController.createUser);</a:t>
            </a:r>
            <a:br/>
            <a:r>
              <a:t>router.post("/login", upload.none(), verifyPassword);</a:t>
            </a:r>
            <a:br/>
            <a:r>
              <a:t>router.post("/logout", clearCookie);</a:t>
            </a:r>
            <a:br/>
            <a:br/>
            <a:r>
              <a:t>// Routes protégées</a:t>
            </a:r>
            <a:br/>
            <a:r>
              <a:t>router.put("/:id", userController.updateUser);</a:t>
            </a:r>
            <a:br/>
            <a:r>
              <a:t>router.delete("/:id", userController.deleteUser);</a:t>
            </a:r>
            <a:br/>
            <a:br/>
            <a:r>
              <a:t>export default router;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Upload de Fichiers - Cloudinary</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600" b="1">
                <a:solidFill>
                  <a:srgbClr val="2D2D2D"/>
                </a:solidFill>
                <a:latin typeface="Segoe UI"/>
              </a:defRPr>
            </a:pPr>
            <a:r>
              <a:t>☁️ Gestion des images</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Architecture de l'upload :</a:t>
            </a:r>
          </a:p>
          <a:p>
            <a:pPr>
              <a:spcAft>
                <a:spcPts val="800"/>
              </a:spcAft>
              <a:defRPr sz="1200">
                <a:solidFill>
                  <a:srgbClr val="2D2D2D"/>
                </a:solidFill>
                <a:latin typeface="Segoe UI"/>
              </a:defRPr>
            </a:pPr>
            <a:r>
              <a:t>1. Multer reçoit le fichier (multipart/form-data)</a:t>
            </a:r>
          </a:p>
          <a:p>
            <a:pPr>
              <a:spcAft>
                <a:spcPts val="800"/>
              </a:spcAft>
              <a:defRPr sz="1200">
                <a:solidFill>
                  <a:srgbClr val="2D2D2D"/>
                </a:solidFill>
                <a:latin typeface="Segoe UI"/>
              </a:defRPr>
            </a:pPr>
            <a:r>
              <a:t>2. Stockage temporaire dans /uploads/</a:t>
            </a:r>
          </a:p>
          <a:p>
            <a:pPr>
              <a:spcAft>
                <a:spcPts val="800"/>
              </a:spcAft>
              <a:defRPr sz="1200">
                <a:solidFill>
                  <a:srgbClr val="2D2D2D"/>
                </a:solidFill>
                <a:latin typeface="Segoe UI"/>
              </a:defRPr>
            </a:pPr>
            <a:r>
              <a:t>3. Upload vers Cloudinary avec transformations</a:t>
            </a:r>
          </a:p>
          <a:p>
            <a:pPr>
              <a:spcAft>
                <a:spcPts val="800"/>
              </a:spcAft>
              <a:defRPr sz="1200">
                <a:solidFill>
                  <a:srgbClr val="2D2D2D"/>
                </a:solidFill>
                <a:latin typeface="Segoe UI"/>
              </a:defRPr>
            </a:pPr>
            <a:r>
              <a:t>4. Suppression du fichier temporaire</a:t>
            </a:r>
          </a:p>
          <a:p>
            <a:pPr>
              <a:spcAft>
                <a:spcPts val="800"/>
              </a:spcAft>
              <a:defRPr sz="1200">
                <a:solidFill>
                  <a:srgbClr val="2D2D2D"/>
                </a:solidFill>
                <a:latin typeface="Segoe UI"/>
              </a:defRPr>
            </a:pPr>
            <a:r>
              <a:t>5. Stockage de l'URL Cloudinary en base de données</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Avantages Cloudinary :</a:t>
            </a:r>
          </a:p>
          <a:p>
            <a:pPr>
              <a:spcAft>
                <a:spcPts val="800"/>
              </a:spcAft>
              <a:defRPr sz="1200">
                <a:solidFill>
                  <a:srgbClr val="2D2D2D"/>
                </a:solidFill>
                <a:latin typeface="Segoe UI"/>
              </a:defRPr>
            </a:pPr>
            <a:r>
              <a:t>✓ CDN mondial pour chargement rapide</a:t>
            </a:r>
          </a:p>
          <a:p>
            <a:pPr>
              <a:spcAft>
                <a:spcPts val="800"/>
              </a:spcAft>
              <a:defRPr sz="1200">
                <a:solidFill>
                  <a:srgbClr val="2D2D2D"/>
                </a:solidFill>
                <a:latin typeface="Segoe UI"/>
              </a:defRPr>
            </a:pPr>
            <a:r>
              <a:t>✓ Transformations automatiques (resize, crop, format)</a:t>
            </a:r>
          </a:p>
          <a:p>
            <a:pPr>
              <a:spcAft>
                <a:spcPts val="800"/>
              </a:spcAft>
              <a:defRPr sz="1200">
                <a:solidFill>
                  <a:srgbClr val="2D2D2D"/>
                </a:solidFill>
                <a:latin typeface="Segoe UI"/>
              </a:defRPr>
            </a:pPr>
            <a:r>
              <a:t>✓ Optimisation automatique des images (compression, WebP)</a:t>
            </a:r>
          </a:p>
          <a:p>
            <a:pPr>
              <a:spcAft>
                <a:spcPts val="800"/>
              </a:spcAft>
              <a:defRPr sz="1200">
                <a:solidFill>
                  <a:srgbClr val="2D2D2D"/>
                </a:solidFill>
                <a:latin typeface="Segoe UI"/>
              </a:defRPr>
            </a:pPr>
            <a:r>
              <a:t>✓ Pas de stockage sur le serveur</a:t>
            </a:r>
          </a:p>
          <a:p>
            <a:pPr>
              <a:spcAft>
                <a:spcPts val="800"/>
              </a:spcAft>
              <a:defRPr sz="1200">
                <a:solidFill>
                  <a:srgbClr val="2D2D2D"/>
                </a:solidFill>
                <a:latin typeface="Segoe UI"/>
              </a:defRPr>
            </a:pPr>
            <a:r>
              <a:t>✓ URL HTTPS sécurisées</a:t>
            </a:r>
          </a:p>
          <a:p>
            <a:pPr>
              <a:spcAft>
                <a:spcPts val="800"/>
              </a:spcAft>
              <a:defRPr sz="1300">
                <a:solidFill>
                  <a:srgbClr val="2D2D2D"/>
                </a:solidFill>
                <a:latin typeface="Segoe UI"/>
              </a:defRPr>
            </a:pPr>
          </a:p>
          <a:p>
            <a:pPr>
              <a:spcAft>
                <a:spcPts val="800"/>
              </a:spcAft>
              <a:defRPr sz="1400" b="1">
                <a:solidFill>
                  <a:srgbClr val="2D2D2D"/>
                </a:solidFill>
                <a:latin typeface="Segoe UI"/>
              </a:defRPr>
            </a:pPr>
            <a:r>
              <a:t>Exemple d'URL</a:t>
            </a:r>
          </a:p>
          <a:p>
            <a:pPr>
              <a:spcAft>
                <a:spcPts val="800"/>
              </a:spcAft>
              <a:defRPr sz="1000">
                <a:solidFill>
                  <a:srgbClr val="2D2D2D"/>
                </a:solidFill>
                <a:latin typeface="Consolas"/>
              </a:defRPr>
            </a:pPr>
            <a:r>
              <a:t>https://res.cloudinary.com/dwkyezu2u/image/upload/v1745506223/avatars/user_123.jpg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Sécurité Backend - Bonnes Pratiques</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600" b="1">
                <a:solidFill>
                  <a:srgbClr val="2D2D2D"/>
                </a:solidFill>
                <a:latin typeface="Segoe UI"/>
              </a:defRPr>
            </a:pPr>
            <a:r>
              <a:t>🔒 Mesures implémentées</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1. Protection des mots de passe</a:t>
            </a:r>
          </a:p>
          <a:p>
            <a:pPr>
              <a:spcAft>
                <a:spcPts val="800"/>
              </a:spcAft>
              <a:defRPr sz="1200">
                <a:solidFill>
                  <a:srgbClr val="2D2D2D"/>
                </a:solidFill>
                <a:latin typeface="Segoe UI"/>
              </a:defRPr>
            </a:pPr>
            <a:r>
              <a:t>✓ Hachage Argon2 — jamais de clair en base</a:t>
            </a:r>
          </a:p>
          <a:p>
            <a:pPr>
              <a:spcAft>
                <a:spcPts val="800"/>
              </a:spcAft>
              <a:defRPr sz="1200">
                <a:solidFill>
                  <a:srgbClr val="2D2D2D"/>
                </a:solidFill>
                <a:latin typeface="Segoe UI"/>
              </a:defRPr>
            </a:pPr>
            <a:r>
              <a:t>✓ Jamais renvoyés dans les réponses API</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2. Authentification JWT</a:t>
            </a:r>
          </a:p>
          <a:p>
            <a:pPr>
              <a:spcAft>
                <a:spcPts val="800"/>
              </a:spcAft>
              <a:defRPr sz="1200">
                <a:solidFill>
                  <a:srgbClr val="2D2D2D"/>
                </a:solidFill>
                <a:latin typeface="Segoe UI"/>
              </a:defRPr>
            </a:pPr>
            <a:r>
              <a:t>✓ Cookies HttpOnly (XSS)</a:t>
            </a:r>
          </a:p>
          <a:p>
            <a:pPr>
              <a:spcAft>
                <a:spcPts val="800"/>
              </a:spcAft>
              <a:defRPr sz="1200">
                <a:solidFill>
                  <a:srgbClr val="2D2D2D"/>
                </a:solidFill>
                <a:latin typeface="Segoe UI"/>
              </a:defRPr>
            </a:pPr>
            <a:r>
              <a:t>✓ SameSite: Strict (CSRF)</a:t>
            </a:r>
          </a:p>
          <a:p>
            <a:pPr>
              <a:spcAft>
                <a:spcPts val="800"/>
              </a:spcAft>
              <a:defRPr sz="1200">
                <a:solidFill>
                  <a:srgbClr val="2D2D2D"/>
                </a:solidFill>
                <a:latin typeface="Segoe UI"/>
              </a:defRPr>
            </a:pPr>
            <a:r>
              <a:t>✓ Expiration 1 jour</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3. Injection SQL</a:t>
            </a:r>
          </a:p>
          <a:p>
            <a:pPr>
              <a:spcAft>
                <a:spcPts val="800"/>
              </a:spcAft>
              <a:defRPr sz="1200">
                <a:solidFill>
                  <a:srgbClr val="2D2D2D"/>
                </a:solidFill>
                <a:latin typeface="Segoe UI"/>
              </a:defRPr>
            </a:pPr>
            <a:r>
              <a:t>✓ Requêtes paramétrées</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4. Validation des données</a:t>
            </a:r>
          </a:p>
          <a:p>
            <a:pPr>
              <a:spcAft>
                <a:spcPts val="800"/>
              </a:spcAft>
              <a:defRPr sz="1200">
                <a:solidFill>
                  <a:srgbClr val="2D2D2D"/>
                </a:solidFill>
                <a:latin typeface="Segoe UI"/>
              </a:defRPr>
            </a:pPr>
            <a:r>
              <a:t>✓ Joi côté serveur</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5. Variables d'environnement</a:t>
            </a:r>
          </a:p>
          <a:p>
            <a:pPr>
              <a:spcAft>
                <a:spcPts val="800"/>
              </a:spcAft>
              <a:defRPr sz="1200">
                <a:solidFill>
                  <a:srgbClr val="2D2D2D"/>
                </a:solidFill>
                <a:latin typeface="Segoe UI"/>
              </a:defRPr>
            </a:pPr>
            <a:r>
              <a:t>✓ Secrets dans .env (JWT_SECRET, DB_*)</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Compétences Backend Démontrées</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700" b="1">
                <a:solidFill>
                  <a:srgbClr val="2D2D2D"/>
                </a:solidFill>
                <a:latin typeface="Segoe UI"/>
              </a:defRPr>
            </a:pPr>
            <a:r>
              <a:t>✅ Attendus TP DWWM - Backend (Projet CoolBooking)</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1. Créer une base de données</a:t>
            </a:r>
          </a:p>
          <a:p>
            <a:pPr>
              <a:spcAft>
                <a:spcPts val="800"/>
              </a:spcAft>
              <a:defRPr sz="1200">
                <a:solidFill>
                  <a:srgbClr val="2D2D2D"/>
                </a:solidFill>
                <a:latin typeface="Segoe UI"/>
              </a:defRPr>
            </a:pPr>
            <a:r>
              <a:t>✓ Modélisation relationnelle (users, rentals)</a:t>
            </a:r>
          </a:p>
          <a:p>
            <a:pPr>
              <a:spcAft>
                <a:spcPts val="800"/>
              </a:spcAft>
              <a:defRPr sz="1200">
                <a:solidFill>
                  <a:srgbClr val="2D2D2D"/>
                </a:solidFill>
                <a:latin typeface="Segoe UI"/>
              </a:defRPr>
            </a:pPr>
            <a:r>
              <a:t>✓ Types appropriés + contraintes</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2. Développer les composants d'accès aux données</a:t>
            </a:r>
          </a:p>
          <a:p>
            <a:pPr>
              <a:spcAft>
                <a:spcPts val="800"/>
              </a:spcAft>
              <a:defRPr sz="1200">
                <a:solidFill>
                  <a:srgbClr val="2D2D2D"/>
                </a:solidFill>
                <a:latin typeface="Segoe UI"/>
              </a:defRPr>
            </a:pPr>
            <a:r>
              <a:t>✓ Repository pattern</a:t>
            </a:r>
          </a:p>
          <a:p>
            <a:pPr>
              <a:spcAft>
                <a:spcPts val="800"/>
              </a:spcAft>
              <a:defRPr sz="1200">
                <a:solidFill>
                  <a:srgbClr val="2D2D2D"/>
                </a:solidFill>
                <a:latin typeface="Segoe UI"/>
              </a:defRPr>
            </a:pPr>
            <a:r>
              <a:t>✓ Requêtes paramétrées</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3. Développer une interface API</a:t>
            </a:r>
          </a:p>
          <a:p>
            <a:pPr>
              <a:spcAft>
                <a:spcPts val="800"/>
              </a:spcAft>
              <a:defRPr sz="1200">
                <a:solidFill>
                  <a:srgbClr val="2D2D2D"/>
                </a:solidFill>
                <a:latin typeface="Segoe UI"/>
              </a:defRPr>
            </a:pPr>
            <a:r>
              <a:t>✓ Express + middlewares (auth, validation, upload)</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4. Mettre en œuvre la sécurité</a:t>
            </a:r>
          </a:p>
          <a:p>
            <a:pPr>
              <a:spcAft>
                <a:spcPts val="800"/>
              </a:spcAft>
              <a:defRPr sz="1200">
                <a:solidFill>
                  <a:srgbClr val="2D2D2D"/>
                </a:solidFill>
                <a:latin typeface="Segoe UI"/>
              </a:defRPr>
            </a:pPr>
            <a:r>
              <a:t>✓ JWT HttpOnly, Argon2, Joi, CORS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47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Bilan - Partie Backend</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700" b="1">
                <a:solidFill>
                  <a:srgbClr val="2D2D2D"/>
                </a:solidFill>
                <a:latin typeface="Segoe UI"/>
              </a:defRPr>
            </a:pPr>
            <a:r>
              <a:t>🎯 Objectifs atteints</a:t>
            </a:r>
          </a:p>
          <a:p>
            <a:pPr>
              <a:spcAft>
                <a:spcPts val="800"/>
              </a:spcAft>
              <a:defRPr sz="1300">
                <a:solidFill>
                  <a:srgbClr val="2D2D2D"/>
                </a:solidFill>
                <a:latin typeface="Segoe UI"/>
              </a:defRPr>
            </a:pPr>
          </a:p>
          <a:p>
            <a:pPr>
              <a:spcAft>
                <a:spcPts val="800"/>
              </a:spcAft>
              <a:defRPr sz="1400" b="1">
                <a:solidFill>
                  <a:srgbClr val="A47764"/>
                </a:solidFill>
                <a:latin typeface="Segoe UI"/>
              </a:defRPr>
            </a:pPr>
            <a:r>
              <a:t>Backend CoolBooking (MariaDB) :</a:t>
            </a:r>
          </a:p>
          <a:p>
            <a:pPr>
              <a:spcAft>
                <a:spcPts val="800"/>
              </a:spcAft>
              <a:defRPr sz="1200">
                <a:solidFill>
                  <a:srgbClr val="2D2D2D"/>
                </a:solidFill>
                <a:latin typeface="Segoe UI"/>
              </a:defRPr>
            </a:pPr>
            <a:r>
              <a:t>✓ API REST complète et fonctionnelle</a:t>
            </a:r>
          </a:p>
          <a:p>
            <a:pPr>
              <a:spcAft>
                <a:spcPts val="800"/>
              </a:spcAft>
              <a:defRPr sz="1200">
                <a:solidFill>
                  <a:srgbClr val="2D2D2D"/>
                </a:solidFill>
                <a:latin typeface="Segoe UI"/>
              </a:defRPr>
            </a:pPr>
            <a:r>
              <a:t>✓ Base de données relationnelle bien modélisée</a:t>
            </a:r>
          </a:p>
          <a:p>
            <a:pPr>
              <a:spcAft>
                <a:spcPts val="800"/>
              </a:spcAft>
              <a:defRPr sz="1200">
                <a:solidFill>
                  <a:srgbClr val="2D2D2D"/>
                </a:solidFill>
                <a:latin typeface="Segoe UI"/>
              </a:defRPr>
            </a:pPr>
            <a:r>
              <a:t>✓ Authentification JWT sécurisée</a:t>
            </a:r>
          </a:p>
          <a:p>
            <a:pPr>
              <a:spcAft>
                <a:spcPts val="800"/>
              </a:spcAft>
              <a:defRPr sz="1200">
                <a:solidFill>
                  <a:srgbClr val="2D2D2D"/>
                </a:solidFill>
                <a:latin typeface="Segoe UI"/>
              </a:defRPr>
            </a:pPr>
            <a:r>
              <a:t>✓ Architecture propre et maintenable (Repository pattern)</a:t>
            </a:r>
          </a:p>
          <a:p>
            <a:pPr>
              <a:spcAft>
                <a:spcPts val="800"/>
              </a:spcAft>
              <a:defRPr sz="1200">
                <a:solidFill>
                  <a:srgbClr val="2D2D2D"/>
                </a:solidFill>
                <a:latin typeface="Segoe UI"/>
              </a:defRPr>
            </a:pPr>
            <a:r>
              <a:t>✓ Upload d'images avec Cloudinary</a:t>
            </a:r>
          </a:p>
          <a:p>
            <a:pPr>
              <a:spcAft>
                <a:spcPts val="800"/>
              </a:spcAft>
              <a:defRPr sz="1300">
                <a:solidFill>
                  <a:srgbClr val="2D2D2D"/>
                </a:solidFill>
                <a:latin typeface="Segoe UI"/>
              </a:defRPr>
            </a:pPr>
          </a:p>
          <a:p>
            <a:pPr>
              <a:spcAft>
                <a:spcPts val="800"/>
              </a:spcAft>
              <a:defRPr sz="1700" b="1">
                <a:solidFill>
                  <a:srgbClr val="2D2D2D"/>
                </a:solidFill>
                <a:latin typeface="Segoe UI"/>
              </a:defRPr>
            </a:pPr>
            <a:r>
              <a:t>💪 Points forts démontrés</a:t>
            </a:r>
          </a:p>
          <a:p>
            <a:pPr>
              <a:spcAft>
                <a:spcPts val="800"/>
              </a:spcAft>
              <a:defRPr sz="1200">
                <a:solidFill>
                  <a:srgbClr val="2D2D2D"/>
                </a:solidFill>
                <a:latin typeface="Segoe UI"/>
              </a:defRPr>
            </a:pPr>
            <a:r>
              <a:t>• Node.js/Express</a:t>
            </a:r>
          </a:p>
          <a:p>
            <a:pPr>
              <a:spcAft>
                <a:spcPts val="800"/>
              </a:spcAft>
              <a:defRPr sz="1200">
                <a:solidFill>
                  <a:srgbClr val="2D2D2D"/>
                </a:solidFill>
                <a:latin typeface="Segoe UI"/>
              </a:defRPr>
            </a:pPr>
            <a:r>
              <a:t>• SQL et bases relationnelles</a:t>
            </a:r>
          </a:p>
          <a:p>
            <a:pPr>
              <a:spcAft>
                <a:spcPts val="800"/>
              </a:spcAft>
              <a:defRPr sz="1200">
                <a:solidFill>
                  <a:srgbClr val="2D2D2D"/>
                </a:solidFill>
                <a:latin typeface="Segoe UI"/>
              </a:defRPr>
            </a:pPr>
            <a:r>
              <a:t>• Sécurité (JWT, Argon2, validation)</a:t>
            </a:r>
          </a:p>
          <a:p>
            <a:pPr>
              <a:spcAft>
                <a:spcPts val="800"/>
              </a:spcAft>
              <a:defRPr sz="1200">
                <a:solidFill>
                  <a:srgbClr val="2D2D2D"/>
                </a:solidFill>
                <a:latin typeface="Segoe UI"/>
              </a:defRPr>
            </a:pPr>
            <a:r>
              <a:t>• Architecture logicielle (SoC)</a:t>
            </a:r>
          </a:p>
          <a:p>
            <a:pPr>
              <a:spcAft>
                <a:spcPts val="800"/>
              </a:spcAft>
              <a:defRPr sz="1200">
                <a:solidFill>
                  <a:srgbClr val="2D2D2D"/>
                </a:solidFill>
                <a:latin typeface="Segoe UI"/>
              </a:defRPr>
            </a:pPr>
            <a:r>
              <a:t>• Code propre et documenté</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7562088" cy="91440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0"/>
            <a:ext cx="6647688" cy="1371600"/>
          </a:xfrm>
          <a:prstGeom prst="rect">
            <a:avLst/>
          </a:prstGeom>
          <a:noFill/>
        </p:spPr>
        <p:txBody>
          <a:bodyPr wrap="none">
            <a:spAutoFit/>
          </a:bodyPr>
          <a:lstStyle/>
          <a:p>
            <a:pPr algn="ctr">
              <a:defRPr sz="11000">
                <a:solidFill>
                  <a:srgbClr val="E6E6E6"/>
                </a:solidFill>
                <a:latin typeface="Segoe UI Light"/>
              </a:defRPr>
            </a:pPr>
            <a:r>
              <a:t>06</a:t>
            </a:r>
          </a:p>
        </p:txBody>
      </p:sp>
      <p:sp>
        <p:nvSpPr>
          <p:cNvPr id="5" name="TextBox 4"/>
          <p:cNvSpPr txBox="1"/>
          <p:nvPr/>
        </p:nvSpPr>
        <p:spPr>
          <a:xfrm>
            <a:off x="457200" y="4572000"/>
            <a:ext cx="6647688" cy="822960"/>
          </a:xfrm>
          <a:prstGeom prst="rect">
            <a:avLst/>
          </a:prstGeom>
          <a:noFill/>
        </p:spPr>
        <p:txBody>
          <a:bodyPr wrap="none" anchor="t">
            <a:spAutoFit/>
          </a:bodyPr>
          <a:lstStyle/>
          <a:p>
            <a:pPr algn="ctr">
              <a:defRPr sz="3000">
                <a:solidFill>
                  <a:srgbClr val="FFFFFF"/>
                </a:solidFill>
                <a:latin typeface="Segoe UI Semibold"/>
              </a:defRPr>
            </a:pPr>
            <a:r>
              <a:t>CONCLUSION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822960"/>
          </a:xfrm>
          <a:prstGeom prst="rect">
            <a:avLst/>
          </a:prstGeom>
          <a:solidFill>
            <a:srgbClr val="AC11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6647688" cy="502920"/>
          </a:xfrm>
          <a:prstGeom prst="rect">
            <a:avLst/>
          </a:prstGeom>
          <a:noFill/>
        </p:spPr>
        <p:txBody>
          <a:bodyPr wrap="none" anchor="t">
            <a:spAutoFit/>
          </a:bodyPr>
          <a:lstStyle/>
          <a:p>
            <a:pPr>
              <a:defRPr sz="2400">
                <a:solidFill>
                  <a:srgbClr val="FFFFFF"/>
                </a:solidFill>
                <a:latin typeface="Segoe UI Semibold"/>
              </a:defRPr>
            </a:pPr>
            <a:r>
              <a:t>Synthèse &amp; Code Couleur</a:t>
            </a:r>
          </a:p>
        </p:txBody>
      </p:sp>
      <p:sp>
        <p:nvSpPr>
          <p:cNvPr id="4" name="TextBox 3"/>
          <p:cNvSpPr txBox="1"/>
          <p:nvPr/>
        </p:nvSpPr>
        <p:spPr>
          <a:xfrm>
            <a:off x="548640" y="1051560"/>
            <a:ext cx="6464808" cy="9144000"/>
          </a:xfrm>
          <a:prstGeom prst="rect">
            <a:avLst/>
          </a:prstGeom>
          <a:noFill/>
        </p:spPr>
        <p:txBody>
          <a:bodyPr wrap="square">
            <a:spAutoFit/>
          </a:bodyPr>
          <a:lstStyle/>
          <a:p>
            <a:pPr>
              <a:spcAft>
                <a:spcPts val="800"/>
              </a:spcAft>
              <a:defRPr sz="1300" b="1">
                <a:solidFill>
                  <a:srgbClr val="AC1115"/>
                </a:solidFill>
                <a:latin typeface="Segoe UI"/>
              </a:defRPr>
            </a:pPr>
            <a:r>
              <a:t>APD (rouge #ac1115) — Frontend + Strapi</a:t>
            </a:r>
          </a:p>
          <a:p>
            <a:pPr>
              <a:spcAft>
                <a:spcPts val="800"/>
              </a:spcAft>
              <a:defRPr sz="1300" b="1">
                <a:solidFill>
                  <a:srgbClr val="A47764"/>
                </a:solidFill>
                <a:latin typeface="Segoe UI"/>
              </a:defRPr>
            </a:pPr>
            <a:r>
              <a:t>CoolBooking (brun #a47764) — Backend MariaDB</a:t>
            </a:r>
          </a:p>
          <a:p>
            <a:pPr>
              <a:spcAft>
                <a:spcPts val="800"/>
              </a:spcAft>
              <a:defRPr sz="1300">
                <a:solidFill>
                  <a:srgbClr val="2D2D2D"/>
                </a:solidFill>
                <a:latin typeface="Segoe UI"/>
              </a:defRPr>
            </a:pPr>
            <a:r>
              <a:t>Design clair : Segoe UI, en-têtes colorés, blocs code lisibles.</a:t>
            </a:r>
          </a:p>
          <a:p>
            <a:pPr>
              <a:spcAft>
                <a:spcPts val="800"/>
              </a:spcAft>
              <a:defRPr sz="1300">
                <a:solidFill>
                  <a:srgbClr val="2D2D2D"/>
                </a:solidFill>
                <a:latin typeface="Segoe UI"/>
              </a:defRPr>
            </a:pPr>
            <a:r>
              <a:t>Contenu intégral des deux dossiers conservé et unifié.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