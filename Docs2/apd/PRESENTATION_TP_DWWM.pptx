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C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DOSSIER DE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Titre Professionnel Développeur Web et Web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DEDED"/>
                </a:solidFill>
              </a:defRPr>
            </a:pPr>
            <a:r>
              <a:t>APD (Frontend Next.js) • CoolBooking (Backend Express)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Philippe Barbosa • Janvier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bIns="18288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SOMMAIRE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1. Contexte de la formation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2. Projet APD - Frontend Next.js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3. Projet CoolBooking - Backend Express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4. Compétences CCP1 &amp; CCP2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5. Réalisations techniques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6. Tests et qualité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7. Sécurité OWASP Top 10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8. Perspectives et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bIns="18288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CONTEXTE DE LA 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1115"/>
                </a:solidFill>
              </a:defRPr>
            </a:pPr>
            <a:r>
              <a:t>📚 Formation TP DWWM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Titre Professionnel Développeur Web et Web Mobile (RNCP niveau 5)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2 CCP : Frontend (CCP1) + Backend (CCP2)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Durée : 12 semaines (8 semaines APD + 4 semaines CoolBooking)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1115"/>
                </a:solidFill>
              </a:defRPr>
            </a:pPr>
            <a:r>
              <a:t>🎯 Objectifs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976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Démontrer la maîtrise complète du développement web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Frontend : Maquettage, intégration responsive, animations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Backend : API REST, sécurité, base de données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bIns="18288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PROJET APD - ASSOCIATION PATRIMOINE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1115"/>
                </a:solidFill>
              </a:defRPr>
            </a:pPr>
            <a:r>
              <a:t>📍 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Client : Association Patrimoine de Doazit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Mission : Préservation de l'église Saint-Jean Baptiste d'Aulès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Problématique : Absence de présence digitale, difficulté à collecter des dons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1115"/>
                </a:solidFill>
              </a:defRPr>
            </a:pPr>
            <a:r>
              <a:t>💡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Site web immersif Next.js 15 avec animations GSAP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Vidéo background émotionnelle + galerie photos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Blog éditorial + interviews vidéo + section partenaires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CTA 'Faire un don' permanent et optimisé pour conversions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bIns="18288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PROJET APD - STACK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1115"/>
                </a:solidFill>
              </a:defRPr>
            </a:pPr>
            <a:r>
              <a:t>⚛️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Next.js 15.5.3 (App Router)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React 19.1.0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Tailwind CSS 4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GSAP 3.13 (animations)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16 composants modulaires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1115"/>
                </a:solidFill>
              </a:defRPr>
            </a:pPr>
            <a:r>
              <a:t>🗄️ Backend CMS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22860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Strapi v5 (headless CMS)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PostgreSQL 14+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Cloudinary (CDN médias)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3 Single Types + 3 Collections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29768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1115"/>
                </a:solidFill>
              </a:defRPr>
            </a:pPr>
            <a:r>
              <a:t>🚀 Déploiement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47548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Frontend : Vercel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Backend : Railway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Médias : Cloudinary CDN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bIns="18288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PROJET APD - RÉSULTATS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1115"/>
                </a:solidFill>
              </a:defRPr>
            </a:pPr>
            <a:r>
              <a:t>📊 Lighthouse Scores (Desktop)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Performance: 92/100  •  Accessibility: 90/100  •  Best Practices: 100/100  •  SEO: 100/100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1115"/>
                </a:solidFill>
              </a:defRPr>
            </a:pPr>
            <a:r>
              <a:t>✨ Fonctionnalités clés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97680"/>
            <a:ext cx="6858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Navigation fluide entre sections avec GSAP ScrollTrigger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Galerie responsive (9 images) avec lazy loading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Blog dynamique avec pages dynamiques [slug]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Formulaire contact partenaires avec API email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Optimisations : Meta tags, sitemap, robots.txt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bIns="18288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PROJET COOLBOOKING - API 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1115"/>
                </a:solidFill>
              </a:defRPr>
            </a:pPr>
            <a:r>
              <a:t>📍 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Problématique : Airbnb prélève 15-20% de commission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Besoin : Alternative pour propriétaires indépendants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Cible : Petites agences locales, propriétaires multi-biens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1115"/>
                </a:solidFill>
              </a:defRPr>
            </a:pPr>
            <a:r>
              <a:t>💡 Solution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API REST Express 5 avec architecture modulaire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Authentification JWT + hash Argon2id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Upload images Cloudinary (5 par annonce)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Base MariaDB avec pool de connexions optimisé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Validation Joi + gestion erreurs globale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bIns="18288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COOLBOOKING -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1115"/>
                </a:solidFill>
              </a:defRPr>
            </a:pPr>
            <a:r>
              <a:t>🏗️ Architecture en couches (Repository Pattern)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4688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latin typeface="Courier New"/>
              </a:defRPr>
            </a:pPr>
            <a:r>
              <a:t>Routes (Express Router)</a:t>
            </a:r>
            <a:br/>
            <a:r>
              <a:t>        ↓</a:t>
            </a:r>
            <a:br/>
            <a:r>
              <a:t>Controllers (gestion requêtes/réponses)</a:t>
            </a:r>
            <a:br/>
            <a:r>
              <a:t>        ↓</a:t>
            </a:r>
            <a:br/>
            <a:r>
              <a:t>Services (logique métier, hash Argon2)</a:t>
            </a:r>
            <a:br/>
            <a:r>
              <a:t>        ↓</a:t>
            </a:r>
            <a:br/>
            <a:r>
              <a:t>Repositories (requêtes SQL paramétrées)</a:t>
            </a:r>
            <a:br/>
            <a:r>
              <a:t>        ↓</a:t>
            </a:r>
            <a:br/>
            <a:r>
              <a:t>Database (Pool mysql2 - 10 connexions)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1115"/>
                </a:solidFill>
              </a:defRPr>
            </a:pPr>
            <a:r>
              <a:t>📡 Endpoints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4864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/users : CRUD + auth (register, login, logout, dashboard)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/rentals : CRUD annonces avec upload 5 images max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bIns="18288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COOLBOOKING - SÉCURITÉ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1115"/>
                </a:solidFill>
              </a:defRPr>
            </a:pPr>
            <a:r>
              <a:t>🔒 Authentification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Argon2id : hash passwords (résistant GPU)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JWT : tokens signés (expiration 24h)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HttpOnly cookies : protection XSS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SameSite: Strict : protection CSRF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8288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1115"/>
                </a:solidFill>
              </a:defRPr>
            </a:pPr>
            <a:r>
              <a:t>🛡️ Protection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28600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Requêtes paramétrées (anti SQL injection)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Validation Joi (email, password, phone)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CORS configuré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Gestion erreurs globale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1115"/>
                </a:solidFill>
              </a:defRPr>
            </a:pPr>
            <a:r>
              <a:t>✅ Bonnes pratiques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Séparation des responsabilités (Controller/Service/Repository)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Variables env (.env non committé)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Pool connexions DB optimisé (release auto)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Suppression fichiers temporaires après upload Cloudinary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bIns="18288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COMPÉTENCES CCP1 - 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1115"/>
                </a:solidFill>
              </a:defRPr>
            </a:pPr>
            <a:r>
              <a:t>🎨 CCP1-A : Maquetter une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Wireframes desktop/mobile (diagrammes ASCII)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Charte graphique (couleurs, typographies, composants)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User stories (23 APD) + personas détaillés (4)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1115"/>
                </a:solidFill>
              </a:defRPr>
            </a:pPr>
            <a:r>
              <a:t>📱 CCP1-B : Interface statique et adaptable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Intégration responsive Tailwind CSS (mobile-first)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Accessibilité (contraste AAA, navigation clavier, alt images)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SEO optimisé (meta tags, sitemap, robots.txt)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1115"/>
                </a:solidFill>
              </a:defRPr>
            </a:pPr>
            <a:r>
              <a:t>⚡ CCP1-C : Interface dynamique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Animations GSAP (ScrollTrigger, timelines, reveal effects)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Hooks React (useSiteData, useCurrentSection) + Context API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Fetch API Strapi (single types, collections) + Next.js dynamic routes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bIns="18288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COMPÉTENCES CCP2 -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1115"/>
                </a:solidFill>
              </a:defRPr>
            </a:pPr>
            <a:r>
              <a:t>🗄️ CCP2-A : Créer une base de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Modélisation MCD/MLD (users, rentals)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Dictionnaire de données (types, contraintes)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Migrations Strapi PostgreSQL + tables MariaDB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1115"/>
                </a:solidFill>
              </a:defRPr>
            </a:pPr>
            <a:r>
              <a:t>🔌 CCP2-B : Composants d'accès aux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Repository pattern (encapsulation SQL)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Requêtes paramétrées mysql2 (protection injection)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Pool connexions optimisé (10 max) + ORM Strapi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1115"/>
                </a:solidFill>
              </a:defRPr>
            </a:pPr>
            <a:r>
              <a:t>🚀 CCP2-C : Développer le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API REST Express (CRUD users, rentals) + architecture modulaire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Authentification JWT + hash Argon2id + validation Joi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Upload Cloudinary + CORS + gestion erreurs globale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bIns="18288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RÉALISATIONS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1115"/>
                </a:solidFill>
              </a:defRPr>
            </a:pPr>
            <a:r>
              <a:t>🎯 APD - Animations GSAP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ScrollTrigger pour animations au scroll (reveal boxes)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Timelines pour séquences complexes (cascade titre → texte)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Pulse animations (bouton donation, icône cœur)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1115"/>
                </a:solidFill>
              </a:defRPr>
            </a:pPr>
            <a:r>
              <a:t>🔐 CoolBooking - Authentification JWT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verifyPassword : Argon2 verify + génération JWT + cookie HttpOnly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verifyToken : middleware protection routes privées (/dashboard)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Repository pattern : séparation logique métier / accès données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Upload Cloudinary : 5 images max + suppression fichiers locaux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bIns="18288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TESTS ET QUALITÉ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1115"/>
                </a:solidFill>
              </a:defRPr>
            </a:pPr>
            <a:r>
              <a:t>✅ APD - Tests manuels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10 scénarios navigation (scroll sections, animations, CTA)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Tests responsive (iPhone SE, iPad, Desktop 1920x1080, 4K)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Lighthouse Desktop : Perf 92, A11y 90, BP 100, SEO 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1115"/>
                </a:solidFill>
              </a:defRPr>
            </a:pPr>
            <a:r>
              <a:t>✅ CoolBooking - Collection Postman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18 requêtes testées (CRUD users + rentals + auth)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Tests succès (200, 201) + erreurs (400, 401, 404, 409)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Temps réponse : GET &lt; 60ms, POST register 450ms, POST rentals 1200ms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À implémenter : Tests unitaires Jest + CI/CD GitHub Actions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bIns="18288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SÉCURITÉ - OWASP TOP 10 (2021)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171717"/>
                </a:solidFill>
              </a:defRPr>
            </a:pPr>
            <a:r>
              <a:t>A01 - Broken Access Control : ✅ Middleware verifyToken, rôles Strapi</a:t>
            </a:r>
          </a:p>
          <a:p>
            <a:pPr>
              <a:spcBef>
                <a:spcPts val="600"/>
              </a:spcBef>
              <a:defRPr sz="1400">
                <a:solidFill>
                  <a:srgbClr val="171717"/>
                </a:solidFill>
              </a:defRPr>
            </a:pPr>
            <a:r>
              <a:t>A02 - Cryptographic Failures : ✅ Argon2id, JWT secrets .env, HTTPS</a:t>
            </a:r>
          </a:p>
          <a:p>
            <a:pPr>
              <a:spcBef>
                <a:spcPts val="600"/>
              </a:spcBef>
              <a:defRPr sz="1400">
                <a:solidFill>
                  <a:srgbClr val="171717"/>
                </a:solidFill>
              </a:defRPr>
            </a:pPr>
            <a:r>
              <a:t>A03 - Injection : ✅ Requêtes paramétrées, validation Joi</a:t>
            </a:r>
          </a:p>
          <a:p>
            <a:pPr>
              <a:spcBef>
                <a:spcPts val="600"/>
              </a:spcBef>
              <a:defRPr sz="1400">
                <a:solidFill>
                  <a:srgbClr val="171717"/>
                </a:solidFill>
              </a:defRPr>
            </a:pPr>
            <a:r>
              <a:t>A04 - Insecure Design : ✅ Architecture en couches, séparation frontend/backend</a:t>
            </a:r>
          </a:p>
          <a:p>
            <a:pPr>
              <a:spcBef>
                <a:spcPts val="600"/>
              </a:spcBef>
              <a:defRPr sz="1400">
                <a:solidFill>
                  <a:srgbClr val="171717"/>
                </a:solidFill>
              </a:defRPr>
            </a:pPr>
            <a:r>
              <a:t>A05 - Security Misconfiguration : ✅ CORS, SameSite cookies, headers Next.js</a:t>
            </a:r>
          </a:p>
          <a:p>
            <a:pPr>
              <a:spcBef>
                <a:spcPts val="600"/>
              </a:spcBef>
              <a:defRPr sz="1400">
                <a:solidFill>
                  <a:srgbClr val="171717"/>
                </a:solidFill>
              </a:defRPr>
            </a:pPr>
            <a:r>
              <a:t>A06 - Vulnerable Components : ✅ npm audit, Dependabot, versions récentes</a:t>
            </a:r>
          </a:p>
          <a:p>
            <a:pPr>
              <a:spcBef>
                <a:spcPts val="600"/>
              </a:spcBef>
              <a:defRPr sz="1400">
                <a:solidFill>
                  <a:srgbClr val="171717"/>
                </a:solidFill>
              </a:defRPr>
            </a:pPr>
            <a:r>
              <a:t>A07 - Auth Failures : ✅ JWT expiration 24h, Argon2 anti-bruteforce</a:t>
            </a:r>
          </a:p>
          <a:p>
            <a:pPr>
              <a:spcBef>
                <a:spcPts val="600"/>
              </a:spcBef>
              <a:defRPr sz="1400">
                <a:solidFill>
                  <a:srgbClr val="171717"/>
                </a:solidFill>
              </a:defRPr>
            </a:pPr>
            <a:r>
              <a:t>A09 - Logging Failures : ⚠️ À implémenter : Winston logger, Sentry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bIns="18288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PERSPECTIVES D'ÉVOLUTION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1115"/>
                </a:solidFill>
              </a:defRPr>
            </a:pPr>
            <a:r>
              <a:t>📈 APD - Court terme (3 mois)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Compression vidéo (HandBrake RF 32) → -40% poids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Newsletter (Strapi + Nodemailer) + calendrier événements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Multilingue (FR/EN/ES) + mode sombre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Analytics (Plausible RGPD-friendly) + heatmaps Hotjar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1115"/>
                </a:solidFill>
              </a:defRPr>
            </a:pPr>
            <a:r>
              <a:t>📈 CoolBooking - Court terme (3 mois)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57200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Système réservations (calendrier, paiements Stripe)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Filtres annonces (prix, localisation, couchages) + messagerie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Tests Jest + CI/CD + documentation Swagger</a:t>
            </a:r>
          </a:p>
          <a:p>
            <a:pPr>
              <a:spcBef>
                <a:spcPts val="600"/>
              </a:spcBef>
              <a:defRPr sz="1600">
                <a:solidFill>
                  <a:srgbClr val="171717"/>
                </a:solidFill>
              </a:defRPr>
            </a:pPr>
            <a:r>
              <a:t>Rate limiting + Helmet.js + Winston logger + 2FA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AC1115"/>
          </a:solidFill>
          <a:ln>
            <a:solidFill>
              <a:srgbClr val="AC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bIns="18288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1115"/>
                </a:solidFill>
              </a:defRPr>
            </a:pPr>
            <a:r>
              <a:t>💪 Compétences démontrées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171717"/>
                </a:solidFill>
              </a:defRPr>
            </a:pPr>
            <a:r>
              <a:t>Frontend : Next.js 15, React 19, GSAP, Tailwind, responsive, accessibilité, SEO</a:t>
            </a:r>
          </a:p>
          <a:p>
            <a:pPr>
              <a:spcBef>
                <a:spcPts val="600"/>
              </a:spcBef>
              <a:defRPr sz="1500">
                <a:solidFill>
                  <a:srgbClr val="171717"/>
                </a:solidFill>
              </a:defRPr>
            </a:pPr>
            <a:r>
              <a:t>Backend : Express 5, MariaDB, JWT, Argon2, Repository pattern, API REST</a:t>
            </a:r>
          </a:p>
          <a:p>
            <a:pPr>
              <a:spcBef>
                <a:spcPts val="600"/>
              </a:spcBef>
              <a:defRPr sz="1500">
                <a:solidFill>
                  <a:srgbClr val="171717"/>
                </a:solidFill>
              </a:defRPr>
            </a:pPr>
            <a:r>
              <a:t>Sécurité : OWASP Top 10, requêtes paramétrées, validation, HTTPS, cookies HttpOnly</a:t>
            </a:r>
          </a:p>
          <a:p>
            <a:pPr>
              <a:spcBef>
                <a:spcPts val="600"/>
              </a:spcBef>
              <a:defRPr sz="1500">
                <a:solidFill>
                  <a:srgbClr val="171717"/>
                </a:solidFill>
              </a:defRPr>
            </a:pPr>
            <a:r>
              <a:t>Qualité : Tests Lighthouse 92/100, collection Postman 18 requêtes,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C1115"/>
                </a:solidFill>
              </a:defRPr>
            </a:pPr>
            <a:r>
              <a:t>🎯 Valeur ajoutée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84632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171717"/>
                </a:solidFill>
              </a:defRPr>
            </a:pPr>
            <a:r>
              <a:t>Projet complet : du maquettage à la production (Vercel, Railway)</a:t>
            </a:r>
          </a:p>
          <a:p>
            <a:pPr>
              <a:spcBef>
                <a:spcPts val="600"/>
              </a:spcBef>
              <a:defRPr sz="1500">
                <a:solidFill>
                  <a:srgbClr val="171717"/>
                </a:solidFill>
              </a:defRPr>
            </a:pPr>
            <a:r>
              <a:t>Architecture professionnelle : modulaire, testable, évolutive</a:t>
            </a:r>
          </a:p>
          <a:p>
            <a:pPr>
              <a:spcBef>
                <a:spcPts val="600"/>
              </a:spcBef>
              <a:defRPr sz="1500">
                <a:solidFill>
                  <a:srgbClr val="171717"/>
                </a:solidFill>
              </a:defRPr>
            </a:pPr>
            <a:r>
              <a:t>Veille technologique : Next.js 15, React 19, Express 5, Argon2id</a:t>
            </a:r>
          </a:p>
          <a:p>
            <a:pPr>
              <a:spcBef>
                <a:spcPts val="600"/>
              </a:spcBef>
              <a:defRPr sz="1500">
                <a:solidFill>
                  <a:srgbClr val="171717"/>
                </a:solidFill>
              </a:defRPr>
            </a:pPr>
            <a:r>
              <a:t>Prêt pour environnement professionnel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