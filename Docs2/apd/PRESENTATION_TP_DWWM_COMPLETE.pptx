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C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DOSSIER DE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DEDED"/>
                </a:solidFill>
              </a:defRPr>
            </a:pPr>
            <a:r>
              <a:t>Titre Professionnel Développeur Web et Web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APD (Frontend Next.js) • CoolBooking (Backend Express)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EDEDED"/>
                </a:solidFill>
              </a:defRPr>
            </a:pPr>
            <a:r>
              <a:t>Philippe Barbosa – Janvier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1. Qui suis-je ?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2. L'équipe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3. Genèse des projets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4. Public cible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5. Organisation &amp; Méthodologie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6. Roadmap des Sprints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7. User Stories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8. Arborescence &amp; MVP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9. Wireframes &amp; Maquettes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10. Charte Graphique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11. Modèle Conceptuel (MCD)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12. Modèle Logique (MLD)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13. Dictionnaire des Données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14. Stack Technique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15. Gitflow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16. Architecture Globale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17. Flux Back-End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18. Structure Front-End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19. Sécurité Implémentée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20. Sécurité À Renforcer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21. Réalisations Frontend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22. Réalisations Backend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23. Tests &amp; Performance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24. Veille Technologique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25. Difficultés Rencontrées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26. Solutions Apportées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27. Perspectives Court Terme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28. Perspectives Long Terme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29. Conclusion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  <a:r>
              <a:t>30. Questions &amp; Réponses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71717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QUI SUIS-JE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Parcours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Reconversion professionnelle vers le développement web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Passion de longue date pour les technologies et l'innovation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Intérêt marqué pour la conception produit, la performance et la sécurité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Objectif : démontrer une maîtrise bout-en-bout (UX → API → Base de données)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Approche d'Apprentissage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Priorité à la documentation officielle et aux bonnes pratiques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Prototypage rapide puis durcissement progressif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Veille technologique structurée hebdomadaire (Next.js, React, OWASP, Node.js)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Mise en pratique immédiate des concepts appris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L'ÉQUIPE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Composition &amp; Rôles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74980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Product Owner / Scrum Master : Vision produit, priorisation backlog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Développeur Frontend : Intégration UI/UX, performance, accessibilité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Développeur Backend : Endpoints API, sécurité, persistance données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Git Master : Qualité des intégrations, revue des Pull Requests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Support QA : Scénarios de tests, validation du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Mode de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Sprints hebdomadaires avec objectifs clairs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Daily meetings pour points d'avancement et blocages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Rétrospectives de fin de sprint pour amélioration continue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Communication asynchrone via Discord pour efficacité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GENÈSE DES PROJETS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APD - Association pour le Patrimoine Diocésain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Constat : Absence de vitrine digitale pour valoriser le patrimoine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Problématique : Difficulté à mobiliser donateurs et partenaires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Contexte : Patrimoine religieux en tension (besoins de financement)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Solution : Site vitrine immersif avec galerie, blog et appels aux dons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CoolBooking - Plateforme de 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Constat : Plateformes généralistes prennent des commissions élevées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Problématique : Propriétaires veulent garder le contrôle de leurs données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Besoin : Outil léger, modulable et personnalisable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Solution : Backend API pour gestion locations avec uploads images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PUBLIC CIBLE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APD - Audiences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Visiteurs : Découvrir le patrimoine diocésain et son histoire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Donateurs : Contribuer financièrement à la restauration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Partenaires : Établir des partenariats institutionnels ou mécénat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Administrateurs : Gérer contenus (articles, interviews, galerie)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CoolBooking - Profils Utilisateurs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9202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Propriétaires (Owners) : Publier et gérer leurs annonces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Locataires (Tenants) : Rechercher et réserver (fonctionnalité future)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Administrateurs : Supervision et modération des contenus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Développeurs : Intégration via API REST pour extensions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Besoins Communs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Interface intuitive et responsive (desktop, tablette, mobile)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Performance optimale (temps de chargement &lt; 3s)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Sécurité des données personnelles (RGPD)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Accessibilité pour tous publics (WCAG 2.1)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ORGANISATION &amp; MÉTHODOLOGIE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Cadence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Sprints hebdomadaires avec planning poker pour estimation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Daily meetings (15min) : avancement, blocages, aide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Rétrospective en fin de sprint pour amélioration continue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Démos intermédiaires pour validation avec parties prenantes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Outils Utilisés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9202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Trello : Kanban pour visualisation des tâches (To Do → Doing → Done)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Discord : Communication rapide et partage d'écran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GitHub : Gestion du code, PR reviews, CI/CD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Postman : Tests et documentation des endpoints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Principes Agile Appliqués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User Stories centrées sur la valeur métier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MVP (Minimum Viable Product) avant extensions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Documentation vivante mise à jour en continu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Itérations courtes pour feedback rapide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ROADMAP DES SPRINTS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71717"/>
                </a:solidFill>
                <a:latin typeface="Courier New"/>
              </a:defRPr>
            </a:pPr>
            <a:r>
              <a:t>Sprint 0 (Setup) :</a:t>
            </a:r>
            <a:br/>
            <a:r>
              <a:t> • Initialisation des repositories Git</a:t>
            </a:r>
            <a:br/>
            <a:r>
              <a:t> • Configuration environnements de développement</a:t>
            </a:r>
            <a:br/>
            <a:r>
              <a:t> • Définition du MVP et backlog haut niveau</a:t>
            </a:r>
            <a:br/>
            <a:br/>
            <a:r>
              <a:t>Sprint 1 (Fondations) :</a:t>
            </a:r>
            <a:br/>
            <a:r>
              <a:t> • Wireframes desktop et mobile</a:t>
            </a:r>
            <a:br/>
            <a:r>
              <a:t> • Charte graphique et design system</a:t>
            </a:r>
            <a:br/>
            <a:r>
              <a:t> • Setup Strapi CMS pour APD</a:t>
            </a:r>
            <a:br/>
            <a:r>
              <a:t> • Base Next.js + composants scaffolding</a:t>
            </a:r>
            <a:br/>
            <a:br/>
            <a:r>
              <a:t>Sprint 2 (Développement Core) :</a:t>
            </a:r>
            <a:br/>
            <a:r>
              <a:t> • Intégration sections principales APD</a:t>
            </a:r>
            <a:br/>
            <a:r>
              <a:t> • API Users pour CoolBooking (register, login)</a:t>
            </a:r>
            <a:br/>
            <a:r>
              <a:t> • Authentification JWT sécurisée</a:t>
            </a:r>
            <a:br/>
            <a:r>
              <a:t> • Galerie photos et prévisualisation blog</a:t>
            </a:r>
            <a:br/>
            <a:br/>
            <a:r>
              <a:t>Sprint 3 (Enrichissement) :</a:t>
            </a:r>
            <a:br/>
            <a:r>
              <a:t> • Optimisations performance (Lighthouse &gt; 90)</a:t>
            </a:r>
            <a:br/>
            <a:r>
              <a:t> • Accessibilité WCAG 2.1 niveau AA</a:t>
            </a:r>
            <a:br/>
            <a:r>
              <a:t> • Upload multiple d'images pour annonces</a:t>
            </a:r>
            <a:br/>
            <a:r>
              <a:t> • Durcissement sécurité (validation, sanitization)</a:t>
            </a:r>
            <a:br/>
            <a:br/>
            <a:r>
              <a:t>Sprint Fix (Finalisation) :</a:t>
            </a:r>
            <a:br/>
            <a:r>
              <a:t> • Corrections bugs identifiés en QA</a:t>
            </a:r>
            <a:br/>
            <a:r>
              <a:t> • Documentation technique complète</a:t>
            </a:r>
            <a:br/>
            <a:r>
              <a:t> • Packaging et préparation déploiement</a:t>
            </a:r>
            <a:br/>
            <a:r>
              <a:t> • Tests end-to-end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USER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APD - Exemples Prioritaires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En tant que visiteur, je veux voir la galerie pour apprécier le patrimoine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En tant que donateur, je veux faire un don sécurisé pour soutenir la restauration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En tant que partenaire, je veux envoyer une demande de mécénat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En tant qu'admin, je veux publier un article pour informer l'avancement travaux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CoolBooking - Fonctionnalités Essentielles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En tant que propriétaire, je veux créer une annonce avec photos pour louer mon bien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En tant que propriétaire, je veux modifier mes annonces pour mettre à jour les infos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En tant que locataire (futur), je veux filtrer les annonces pour trouver un logement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En tant qu'admin, je veux modérer les contenus pour garantir la qualité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ARBORESCENCE &amp;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APD - Structure du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71717"/>
                </a:solidFill>
                <a:latin typeface="Courier New"/>
              </a:defRPr>
            </a:pPr>
            <a:r>
              <a:t>/ (page d'accueil)</a:t>
            </a:r>
            <a:br/>
            <a:r>
              <a:t>  ├─ hero video</a:t>
            </a:r>
            <a:br/>
            <a:r>
              <a:t>  ├─ introduction</a:t>
            </a:r>
            <a:br/>
            <a:r>
              <a:t>  ├─ description diocèse</a:t>
            </a:r>
            <a:br/>
            <a:r>
              <a:t>  ├─ interviews</a:t>
            </a:r>
            <a:br/>
            <a:r>
              <a:t>  ├─ architecture patrimoine</a:t>
            </a:r>
            <a:br/>
            <a:r>
              <a:t>  ├─ galerie photos</a:t>
            </a:r>
            <a:br/>
            <a:r>
              <a:t>  ├─ aperçu blog</a:t>
            </a:r>
            <a:br/>
            <a:r>
              <a:t>  └─ partenaires</a:t>
            </a:r>
            <a:br/>
            <a:br/>
            <a:r>
              <a:t>/blog</a:t>
            </a:r>
            <a:br/>
            <a:r>
              <a:t>  └─ liste articles</a:t>
            </a:r>
            <a:br/>
            <a:br/>
            <a:r>
              <a:t>/blog/[slug]</a:t>
            </a:r>
            <a:br/>
            <a:r>
              <a:t>  └─ article détaillé</a:t>
            </a:r>
            <a:br/>
            <a:br/>
            <a:r>
              <a:t>/partners</a:t>
            </a:r>
            <a:br/>
            <a:r>
              <a:t>  └─ liste partenaires</a:t>
            </a:r>
            <a:br/>
            <a:br/>
            <a:r>
              <a:t>/association</a:t>
            </a:r>
            <a:br/>
            <a:r>
              <a:t>  └─ présentation APD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CoolBooking - Endpoints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9202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71717"/>
                </a:solidFill>
                <a:latin typeface="Courier New"/>
              </a:defRPr>
            </a:pPr>
            <a:r>
              <a:t>/users</a:t>
            </a:r>
            <a:br/>
            <a:r>
              <a:t>  POST /register</a:t>
            </a:r>
            <a:br/>
            <a:r>
              <a:t>  POST /login</a:t>
            </a:r>
            <a:br/>
            <a:r>
              <a:t>  POST /logout</a:t>
            </a:r>
            <a:br/>
            <a:r>
              <a:t>  GET  /dashboard</a:t>
            </a:r>
            <a:br/>
            <a:r>
              <a:t>  PUT  /update/:id</a:t>
            </a:r>
            <a:br/>
            <a:r>
              <a:t>  DELETE /:id</a:t>
            </a:r>
            <a:br/>
            <a:br/>
            <a:r>
              <a:t>/rentals</a:t>
            </a:r>
            <a:br/>
            <a:r>
              <a:t>  POST / (+ upload images)</a:t>
            </a:r>
            <a:br/>
            <a:r>
              <a:t>  GET  /</a:t>
            </a:r>
            <a:br/>
            <a:r>
              <a:t>  GET  /:id</a:t>
            </a:r>
            <a:br/>
            <a:r>
              <a:t>  PUT  /:id</a:t>
            </a:r>
            <a:br/>
            <a:r>
              <a:t>  DELETE /:id</a:t>
            </a:r>
            <a:br/>
            <a:br/>
            <a:r>
              <a:t>/auth (middleware)</a:t>
            </a:r>
            <a:br/>
            <a:r>
              <a:t>  verifyToken</a:t>
            </a:r>
            <a:br/>
            <a:r>
              <a:t>  clearCookie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WIREFRAMES &amp; MAQUETTES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Desktop - Structure Visuelle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71717"/>
                </a:solidFill>
                <a:latin typeface="Courier New"/>
              </a:defRPr>
            </a:pPr>
            <a:r>
              <a:t>┌─────────────────────────────────┐</a:t>
            </a:r>
            <a:br/>
            <a:r>
              <a:t>│        [HEADER FIXE]            │</a:t>
            </a:r>
            <a:br/>
            <a:r>
              <a:t>├─────────────────────────────────┤</a:t>
            </a:r>
            <a:br/>
            <a:r>
              <a:t>│    [VIDEO HERO PLEIN ÉCRAN]     │</a:t>
            </a:r>
            <a:br/>
            <a:r>
              <a:t>├─────────────────────────────────┤</a:t>
            </a:r>
            <a:br/>
            <a:r>
              <a:t>│  [SECTION INTRO - 2 COLONNES]   │</a:t>
            </a:r>
            <a:br/>
            <a:r>
              <a:t>├─────────────────────────────────┤</a:t>
            </a:r>
            <a:br/>
            <a:r>
              <a:t>│  [DESCRIPTION + VISUEL]         │</a:t>
            </a:r>
            <a:br/>
            <a:r>
              <a:t>├─────────────────────────────────┤</a:t>
            </a:r>
            <a:br/>
            <a:r>
              <a:t>│  [INTERVIEWS CAROUSEL]          │</a:t>
            </a:r>
            <a:br/>
            <a:r>
              <a:t>├─────────────────────────────────┤</a:t>
            </a:r>
            <a:br/>
            <a:r>
              <a:t>│  [GALERIE GRID 3×3]             │</a:t>
            </a:r>
            <a:br/>
            <a:r>
              <a:t>├─────────────────────────────────┤</a:t>
            </a:r>
            <a:br/>
            <a:r>
              <a:t>│  [BLOG PREVIEW CARDS]           │</a:t>
            </a:r>
            <a:br/>
            <a:r>
              <a:t>├─────────────────────────────────┤</a:t>
            </a:r>
            <a:br/>
            <a:r>
              <a:t>│  [PARTENAIRES LOGOS]            │</a:t>
            </a:r>
            <a:br/>
            <a:r>
              <a:t>└─────────────────────────────────┘</a:t>
            </a:r>
            <a:br/>
            <a:r>
              <a:t>│        [FOOTER]                 │</a:t>
            </a:r>
            <a:br/>
            <a:r>
              <a:t>└─────────────────────────────────┘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Mobile - Simplification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9202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71717"/>
                </a:solidFill>
                <a:latin typeface="Courier New"/>
              </a:defRPr>
            </a:pPr>
            <a:r>
              <a:t>┌─────────────┐</a:t>
            </a:r>
            <a:br/>
            <a:r>
              <a:t>│  [BURGER]   │</a:t>
            </a:r>
            <a:br/>
            <a:r>
              <a:t>├─────────────┤</a:t>
            </a:r>
            <a:br/>
            <a:r>
              <a:t>│ [HERO IMG]  │</a:t>
            </a:r>
            <a:br/>
            <a:r>
              <a:t>├─────────────┤</a:t>
            </a:r>
            <a:br/>
            <a:r>
              <a:t>│  [INTRO]    │</a:t>
            </a:r>
            <a:br/>
            <a:r>
              <a:t>│ 1 colonne   │</a:t>
            </a:r>
            <a:br/>
            <a:r>
              <a:t>├─────────────┤</a:t>
            </a:r>
            <a:br/>
            <a:r>
              <a:t>│[DESCRIPTION]│</a:t>
            </a:r>
            <a:br/>
            <a:r>
              <a:t>├─────────────┤</a:t>
            </a:r>
            <a:br/>
            <a:r>
              <a:t>│ [CAROUSEL]  │</a:t>
            </a:r>
            <a:br/>
            <a:r>
              <a:t>│  swipeable  │</a:t>
            </a:r>
            <a:br/>
            <a:r>
              <a:t>├─────────────┤</a:t>
            </a:r>
            <a:br/>
            <a:r>
              <a:t>│  [GALERIE]  │</a:t>
            </a:r>
            <a:br/>
            <a:r>
              <a:t>│  grid 2×N   │</a:t>
            </a:r>
            <a:br/>
            <a:r>
              <a:t>├─────────────┤</a:t>
            </a:r>
            <a:br/>
            <a:r>
              <a:t>│ [BLOG 1×N]  │</a:t>
            </a:r>
            <a:br/>
            <a:r>
              <a:t>├─────────────┤</a:t>
            </a:r>
            <a:br/>
            <a:r>
              <a:t>│[PARTENAIRES]│</a:t>
            </a:r>
            <a:br/>
            <a:r>
              <a:t>├─────────────┤</a:t>
            </a:r>
            <a:br/>
            <a:r>
              <a:t>│  [FOOTER]   │</a:t>
            </a:r>
            <a:br/>
            <a:r>
              <a:t>├─────────────┤</a:t>
            </a:r>
            <a:br/>
            <a:r>
              <a:t>│[CTA DON FIX]│</a:t>
            </a:r>
            <a:br/>
            <a:r>
              <a:t>└─────────────┘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CHARTE GRAPHIQUE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Palette de Couleurs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Rouge Principal : #AC1115 (identité forte, patrimoine)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Noir Profond : #171717 (textes, contraste)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Blanc Cassé : #EDEDED (fonds clairs, respirations)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Or Subtil : accents décoratifs (lettrines, ornements)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Typographie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9202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Titres : AnnStone (élégance, caractère patrimonial)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Textes : EB Garamond (lisibilité, classicisme)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Lettrines décoratives pour citations et introductions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Hiérarchie claire : H1 48px, H2 32px, Body 18px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Principes UI/UX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74980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Contraste élevé pour accessibilité (ratio &gt; 4.5:1)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Animations progressives au scroll (reveal, fade-in)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Espaces généreux pour respiration visuelle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Mobile-first : adaptation fluide de 320px à 1920px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Call-to-action visibles : boutons rouge avec hover subtil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MODÈLE CONCEPTUEL DE DONNÉES (MCD)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APD - Strapi CMS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71717"/>
                </a:solidFill>
                <a:latin typeface="Courier New"/>
              </a:defRPr>
            </a:pPr>
            <a:r>
              <a:t>┌─────────┐              ┌──────────┐</a:t>
            </a:r>
            <a:br/>
            <a:r>
              <a:t>│ EGLISE  │──────1:N────│ ARTICLES │</a:t>
            </a:r>
            <a:br/>
            <a:r>
              <a:t>└─────────┘              └──────────┘</a:t>
            </a:r>
            <a:br/>
            <a:r>
              <a:t>     │</a:t>
            </a:r>
            <a:br/>
            <a:r>
              <a:t>     │ 1:N</a:t>
            </a:r>
            <a:br/>
            <a:r>
              <a:t>     │</a:t>
            </a:r>
            <a:br/>
            <a:r>
              <a:t>┌──────────┐</a:t>
            </a:r>
            <a:br/>
            <a:r>
              <a:t>│INTERVIEWS│</a:t>
            </a:r>
            <a:br/>
            <a:r>
              <a:t>└──────────┘</a:t>
            </a:r>
            <a:br/>
            <a:br/>
            <a:r>
              <a:t>┌────────────┐</a:t>
            </a:r>
            <a:br/>
            <a:r>
              <a:t>│ PARTENAIRES│ (collection indépendante)</a:t>
            </a:r>
            <a:br/>
            <a:r>
              <a:t>└────────────┘</a:t>
            </a:r>
            <a:br/>
            <a:br/>
            <a:r>
              <a:t>┌────────────┐</a:t>
            </a:r>
            <a:br/>
            <a:r>
              <a:t>│ PARAMETRES │ (singleton : contact, réseaux)</a:t>
            </a:r>
            <a:br/>
            <a:r>
              <a:t>└────────────┘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CoolBooking -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9202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71717"/>
                </a:solidFill>
                <a:latin typeface="Courier New"/>
              </a:defRPr>
            </a:pPr>
            <a:r>
              <a:t>┌───────┐             ┌─────────┐</a:t>
            </a:r>
            <a:br/>
            <a:r>
              <a:t>│ USERS │─────1:N────│ RENTALS │</a:t>
            </a:r>
            <a:br/>
            <a:r>
              <a:t>└───────┘             └─────────┘</a:t>
            </a:r>
            <a:br/>
            <a:r>
              <a:t>    │</a:t>
            </a:r>
            <a:br/>
            <a:r>
              <a:t>    │ (future)</a:t>
            </a:r>
            <a:br/>
            <a:r>
              <a:t>    │</a:t>
            </a:r>
            <a:br/>
            <a:r>
              <a:t>┌──────────────┐</a:t>
            </a:r>
            <a:br/>
            <a:r>
              <a:t>│ RESERVATIONS │</a:t>
            </a:r>
            <a:br/>
            <a:r>
              <a:t>└──────────────┘</a:t>
            </a:r>
            <a:br/>
            <a:br/>
            <a:r>
              <a:t>Relations futures :</a:t>
            </a:r>
            <a:br/>
            <a:r>
              <a:t>• RENTALS ──N:M── TAGS</a:t>
            </a:r>
            <a:br/>
            <a:r>
              <a:t>• RENTALS ──N:1── CATEGORIES</a:t>
            </a:r>
            <a:br/>
            <a:r>
              <a:t>• USERS   ──1:N── FAVORITES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MODÈLE LOGIQUE DE DONNÉES (MLD)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4980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71717"/>
                </a:solidFill>
                <a:latin typeface="Courier New"/>
              </a:defRPr>
            </a:pPr>
            <a:r>
              <a:t>users (</a:t>
            </a:r>
            <a:br/>
            <a:r>
              <a:t>  id INT AUTO_INCREMENT PRIMARY KEY,</a:t>
            </a:r>
            <a:br/>
            <a:r>
              <a:t>  firstname VARCHAR(100) NOT NULL,</a:t>
            </a:r>
            <a:br/>
            <a:r>
              <a:t>  lastname VARCHAR(100) NOT NULL,</a:t>
            </a:r>
            <a:br/>
            <a:r>
              <a:t>  email VARCHAR(255) UNIQUE NOT NULL,</a:t>
            </a:r>
            <a:br/>
            <a:r>
              <a:t>  password CHAR(97) NOT NULL,  -- Argon2id hash</a:t>
            </a:r>
            <a:br/>
            <a:r>
              <a:t>  phone VARCHAR(20),</a:t>
            </a:r>
            <a:br/>
            <a:r>
              <a:t>  role ENUM('owner', 'tenant') DEFAULT 'tenant',</a:t>
            </a:r>
            <a:br/>
            <a:r>
              <a:t>  avatar VARCHAR(500),</a:t>
            </a:r>
            <a:br/>
            <a:r>
              <a:t>  created_at TIMESTAMP DEFAULT CURRENT_TIMESTAMP</a:t>
            </a:r>
            <a:br/>
            <a:r>
              <a:t>)</a:t>
            </a:r>
            <a:br/>
            <a:br/>
            <a:r>
              <a:t>rentals (</a:t>
            </a:r>
            <a:br/>
            <a:r>
              <a:t>  id INT AUTO_INCREMENT PRIMARY KEY,</a:t>
            </a:r>
            <a:br/>
            <a:r>
              <a:t>  user_id INT NOT NULL,</a:t>
            </a:r>
            <a:br/>
            <a:r>
              <a:t>  title VARCHAR(200) NOT NULL,</a:t>
            </a:r>
            <a:br/>
            <a:r>
              <a:t>  description TEXT,</a:t>
            </a:r>
            <a:br/>
            <a:r>
              <a:t>  location VARCHAR(200) NOT NULL,</a:t>
            </a:r>
            <a:br/>
            <a:r>
              <a:t>  price_per_night DECIMAL(10, 2) NOT NULL,</a:t>
            </a:r>
            <a:br/>
            <a:r>
              <a:t>  beds INT NOT NULL,</a:t>
            </a:r>
            <a:br/>
            <a:r>
              <a:t>  images JSON,  -- Array URLs Cloudinary (max 5)</a:t>
            </a:r>
            <a:br/>
            <a:r>
              <a:t>  created_at TIMESTAMP DEFAULT CURRENT_TIMESTAMP,</a:t>
            </a:r>
            <a:br/>
            <a:r>
              <a:t>  updated_at TIMESTAMP DEFAULT CURRENT_TIMESTAMP ON UPDATE CURRENT_TIMESTAMP,</a:t>
            </a:r>
            <a:br/>
            <a:r>
              <a:t>  FOREIGN KEY (user_id) REFERENCES users(id) ON DELETE CASCADE</a:t>
            </a:r>
            <a:br/>
            <a:r>
              <a:t>)</a:t>
            </a:r>
            <a:br/>
            <a:br/>
            <a:r>
              <a:t>INDEX idx_location ON rentals(location);</a:t>
            </a:r>
            <a:br/>
            <a:r>
              <a:t>INDEX idx_price ON rentals(price_per_night);</a:t>
            </a:r>
            <a:br/>
            <a:r>
              <a:t>INDEX idx_user ON rentals(user_id);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DICTIONNAIRE DES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4980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71717"/>
                </a:solidFill>
                <a:latin typeface="Courier New"/>
              </a:defRPr>
            </a:pPr>
            <a:r>
              <a:t>┌──────────────────┬──────────────┬─────────────────────────────────┐</a:t>
            </a:r>
            <a:br/>
            <a:r>
              <a:t>│ Champ            │ Type         │ Description                     │</a:t>
            </a:r>
            <a:br/>
            <a:r>
              <a:t>├──────────────────┼──────────────┼─────────────────────────────────┤</a:t>
            </a:r>
            <a:br/>
            <a:r>
              <a:t>│ users.email      │ VARCHAR(255) │ Login unique, validation regex  │</a:t>
            </a:r>
            <a:br/>
            <a:r>
              <a:t>│ users.password   │ CHAR(97)     │ Hash Argon2id (sécurité max)    │</a:t>
            </a:r>
            <a:br/>
            <a:r>
              <a:t>│ users.role       │ ENUM         │ Autorisations (owner/tenant)    │</a:t>
            </a:r>
            <a:br/>
            <a:r>
              <a:t>│ users.avatar     │ VARCHAR(500) │ URL Cloudinary (optionnel)      │</a:t>
            </a:r>
            <a:br/>
            <a:r>
              <a:t>├──────────────────┼──────────────┼─────────────────────────────────┤</a:t>
            </a:r>
            <a:br/>
            <a:r>
              <a:t>│ rentals.images   │ JSON         │ Array URLs (max 5 images)       │</a:t>
            </a:r>
            <a:br/>
            <a:r>
              <a:t>│ rentals.price_*  │ DECIMAL(10,2)│ Prix nuitée en euros            │</a:t>
            </a:r>
            <a:br/>
            <a:r>
              <a:t>│ rentals.beds     │ INT          │ Nombre couchages (1-20)         │</a:t>
            </a:r>
            <a:br/>
            <a:r>
              <a:t>│ rentals.location │ VARCHAR(200) │ Ville/région (index pour perf)  │</a:t>
            </a:r>
            <a:br/>
            <a:r>
              <a:t>└──────────────────┴──────────────┴─────────────────────────────────┘</a:t>
            </a:r>
            <a:br/>
            <a:br/>
            <a:r>
              <a:t>Contraintes de Qualité :</a:t>
            </a:r>
            <a:br/>
            <a:r>
              <a:t>• Email : validation Joi + unicité en base</a:t>
            </a:r>
            <a:br/>
            <a:r>
              <a:t>• Password : longueur min 8 caractères, hash avant insertion</a:t>
            </a:r>
            <a:br/>
            <a:r>
              <a:t>• Images : format JPEG/PNG, taille max 5MB par image</a:t>
            </a:r>
            <a:br/>
            <a:r>
              <a:t>• Price : valeur positive, 2 décimales max</a:t>
            </a:r>
            <a:br/>
            <a:r>
              <a:t>• Beds : entier positif entre 1 et 20</a:t>
            </a:r>
            <a:br/>
            <a:br/>
            <a:r>
              <a:t>Indexation :</a:t>
            </a:r>
            <a:br/>
            <a:r>
              <a:t>• Colonnes fréquemment filtrées (location, price) indexées</a:t>
            </a:r>
            <a:br/>
            <a:r>
              <a:t>• Clés étrangères indexées automatiquement (user_id)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STACK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Frontend APD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Next.js 15 : App Router, React Server Components, SSR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React 19 : Hooks, Context API, optimisations Concurrent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Tailwind CSS 4 : Utility-first, configuration personnalisée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GSAP 3.13 : Animations performantes (ScrollTrigger, Timeline)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Lenis : Smooth scroll natif amélioré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Strapi v5 : Headless CMS, API REST auto-générée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Backend CoolBooking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92024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Node.js 20 LTS : Runtime performant et stable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Express 5 : Framework minimaliste, middleware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MariaDB 10.11 : Base relationnelle (mysql2 driver)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Argon2 : Hashing mots de passe (résistant GPU)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JWT : Authentification stateless, cookies HttpOnly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Multer : Upload fichiers temporaires → Cloudinary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Outils Transverses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74980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Cloudinary : CDN images, transformations à la volée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Joi : Validation schémas (entrées utilisateurs)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ESLint + Prettier : Qualité code, formatage uniforme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Postman : Tests API, collection partagée équipe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GITFLOW &amp; GESTION DU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Stratégie de 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71717"/>
                </a:solidFill>
                <a:latin typeface="Courier New"/>
              </a:defRPr>
            </a:pPr>
            <a:r>
              <a:t>main (production)</a:t>
            </a:r>
            <a:br/>
            <a:r>
              <a:t>  │</a:t>
            </a:r>
            <a:br/>
            <a:r>
              <a:t>  └── staging (pré-production, tests finaux)</a:t>
            </a:r>
            <a:br/>
            <a:r>
              <a:t>        │</a:t>
            </a:r>
            <a:br/>
            <a:r>
              <a:t>        ├── feature/apd-gallery</a:t>
            </a:r>
            <a:br/>
            <a:r>
              <a:t>        ├── feature/apd-blog</a:t>
            </a:r>
            <a:br/>
            <a:r>
              <a:t>        ├── feature/coolbooking-auth</a:t>
            </a:r>
            <a:br/>
            <a:r>
              <a:t>        ├── feature/coolbooking-uploads</a:t>
            </a:r>
            <a:br/>
            <a:r>
              <a:t>        └── fix/performance-video</a:t>
            </a:r>
            <a:br/>
            <a:br/>
            <a:r>
              <a:t>Règles :</a:t>
            </a:r>
            <a:br/>
            <a:r>
              <a:t>• Jamais de commit direct sur main</a:t>
            </a:r>
            <a:br/>
            <a:r>
              <a:t>• PR obligatoire avec review (≥1 approbation)</a:t>
            </a:r>
            <a:br/>
            <a:r>
              <a:t>• Tests passent avant merge</a:t>
            </a:r>
            <a:br/>
            <a:r>
              <a:t>• Commits atomiques avec messages conventionnels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Convention de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9202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71717"/>
                </a:solidFill>
                <a:latin typeface="Courier New"/>
              </a:defRPr>
            </a:pPr>
            <a:r>
              <a:t>feat: ajout carousel interviews</a:t>
            </a:r>
            <a:br/>
            <a:r>
              <a:t>fix: correction responsive mobile galerie</a:t>
            </a:r>
            <a:br/>
            <a:r>
              <a:t>refactor: extraction hook useSiteData</a:t>
            </a:r>
            <a:br/>
            <a:r>
              <a:t>perf: lazy loading composant blog</a:t>
            </a:r>
            <a:br/>
            <a:r>
              <a:t>docs: mise à jour README API</a:t>
            </a:r>
            <a:br/>
            <a:r>
              <a:t>test: tests unitaires auth JWT</a:t>
            </a:r>
            <a:br/>
            <a:r>
              <a:t>chore: configuration ESLint</a:t>
            </a:r>
            <a:br/>
            <a:br/>
            <a:r>
              <a:t>Format : &lt;type&gt;: &lt;description&gt;</a:t>
            </a:r>
            <a:br/>
            <a:r>
              <a:t>Scope optionnel : feat(api): endpoint rentals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ARCHITECTURE GLOBALE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4980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71717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  <a:br/>
            <a:r>
              <a:t>│              CLIENTS (Browser / Mobile)                 │</a:t>
            </a:r>
            <a:br/>
            <a:r>
              <a:t>└────────────────────┬────────────────────────────────────┘</a:t>
            </a:r>
            <a:br/>
            <a:r>
              <a:t>                     │</a:t>
            </a:r>
            <a:br/>
            <a:r>
              <a:t>        ┌────────────┴────────────┐</a:t>
            </a:r>
            <a:br/>
            <a:r>
              <a:t>        │                         │</a:t>
            </a:r>
            <a:br/>
            <a:r>
              <a:t>┌───────▼────────┐       ┌───────▼────────┐</a:t>
            </a:r>
            <a:br/>
            <a:r>
              <a:t>│  Next.js App   │       │  Express API   │</a:t>
            </a:r>
            <a:br/>
            <a:r>
              <a:t>│  (APD Frontend)│       │ (CoolBooking)  │</a:t>
            </a:r>
            <a:br/>
            <a:r>
              <a:t>│                │       │                │</a:t>
            </a:r>
            <a:br/>
            <a:r>
              <a:t>│ • SSR/RSC      │       │ • REST routes  │</a:t>
            </a:r>
            <a:br/>
            <a:r>
              <a:t>│ • fetch() API  │       │ • Middleware   │</a:t>
            </a:r>
            <a:br/>
            <a:r>
              <a:t>│ • Components   │       │ • Controllers  │</a:t>
            </a:r>
            <a:br/>
            <a:r>
              <a:t>└───────┬────────┘       └───────┬────────┘</a:t>
            </a:r>
            <a:br/>
            <a:r>
              <a:t>        │                        │</a:t>
            </a:r>
            <a:br/>
            <a:r>
              <a:t>        │                        │</a:t>
            </a:r>
            <a:br/>
            <a:r>
              <a:t>┌───────▼────────┐       ┌───────▼────────┐</a:t>
            </a:r>
            <a:br/>
            <a:r>
              <a:t>│  Strapi CMS    │       │    MariaDB     │</a:t>
            </a:r>
            <a:br/>
            <a:r>
              <a:t>│  (PostgreSQL)  │       │  (mysql2)      │</a:t>
            </a:r>
            <a:br/>
            <a:r>
              <a:t>└────────────────┘       └────────────────┘</a:t>
            </a:r>
            <a:br/>
            <a:r>
              <a:t>        │                        │</a:t>
            </a:r>
            <a:br/>
            <a:r>
              <a:t>        └───────────┬────────────┘</a:t>
            </a:r>
            <a:br/>
            <a:r>
              <a:t>                    │</a:t>
            </a:r>
            <a:br/>
            <a:r>
              <a:t>            ┌───────▼────────┐</a:t>
            </a:r>
            <a:br/>
            <a:r>
              <a:t>            │   Cloudinary   │</a:t>
            </a:r>
            <a:br/>
            <a:r>
              <a:t>            │  (CDN images)  │</a:t>
            </a:r>
            <a:br/>
            <a:r>
              <a:t>            └────────────────┘</a:t>
            </a:r>
            <a:br/>
            <a:br/>
            <a:r>
              <a:t>Objectifs Architecture :</a:t>
            </a:r>
            <a:br/>
            <a:r>
              <a:t>✓ Séparation claire des responsabilités</a:t>
            </a:r>
            <a:br/>
            <a:r>
              <a:t>✓ Évolutivité : ajout modules futurs facilité</a:t>
            </a:r>
            <a:br/>
            <a:r>
              <a:t>✓ Performance : SSR + CDN pour assets lourds</a:t>
            </a:r>
            <a:br/>
            <a:r>
              <a:t>✓ Testabilité : composants isolés, API REST</a:t>
            </a:r>
            <a:br/>
            <a:r>
              <a:t>✓ Maintenance : code modulaire, documentation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FLUX BACK-END DÉTAILLÉ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4980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71717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CLIENT REQUEST                         │</a:t>
            </a:r>
            <a:br/>
            <a:r>
              <a:t>└──────────────────────────┬─────────────────────────────────┘</a:t>
            </a:r>
            <a:br/>
            <a:r>
              <a:t>                           │</a:t>
            </a:r>
            <a:br/>
            <a:r>
              <a:t>                   ┌───────▼────────┐</a:t>
            </a:r>
            <a:br/>
            <a:r>
              <a:t>                   │     ROUTER     │ (routes/users.js)</a:t>
            </a:r>
            <a:br/>
            <a:r>
              <a:t>                   └───────┬────────┘</a:t>
            </a:r>
            <a:br/>
            <a:r>
              <a:t>                           │</a:t>
            </a:r>
            <a:br/>
            <a:r>
              <a:t>            ┌──────────────┼──────────────┐</a:t>
            </a:r>
            <a:br/>
            <a:r>
              <a:t>            │              │              │</a:t>
            </a:r>
            <a:br/>
            <a:r>
              <a:t>    ┌───────▼────┐  ┌─────▼─────┐  ┌────▼─────┐</a:t>
            </a:r>
            <a:br/>
            <a:r>
              <a:t>    │verifyToken │  │  upload   │  │ validate │</a:t>
            </a:r>
            <a:br/>
            <a:r>
              <a:t>    │(JWT auth)  │  │ (Multer)  │  │  (Joi)   │</a:t>
            </a:r>
            <a:br/>
            <a:r>
              <a:t>    └───────┬────┘  └─────┬─────┘  └────┬─────┘</a:t>
            </a:r>
            <a:br/>
            <a:r>
              <a:t>            └──────────────┼──────────────┘</a:t>
            </a:r>
            <a:br/>
            <a:r>
              <a:t>                           │</a:t>
            </a:r>
            <a:br/>
            <a:r>
              <a:t>                   ┌───────▼────────┐</a:t>
            </a:r>
            <a:br/>
            <a:r>
              <a:t>                   │  CONTROLLER    │ (controllers/users.js)</a:t>
            </a:r>
            <a:br/>
            <a:r>
              <a:t>                   │ • Logique métier</a:t>
            </a:r>
            <a:br/>
            <a:r>
              <a:t>                   │ • Validation</a:t>
            </a:r>
            <a:br/>
            <a:r>
              <a:t>                   │ • Erreurs HTTP</a:t>
            </a:r>
            <a:br/>
            <a:r>
              <a:t>                   └───────┬────────┘</a:t>
            </a:r>
            <a:br/>
            <a:r>
              <a:t>                           │</a:t>
            </a:r>
            <a:br/>
            <a:r>
              <a:t>                   ┌───────▼────────┐</a:t>
            </a:r>
            <a:br/>
            <a:r>
              <a:t>                   │    SERVICE     │ (services/users.js)</a:t>
            </a:r>
            <a:br/>
            <a:r>
              <a:t>                   │ • Orchestration</a:t>
            </a:r>
            <a:br/>
            <a:r>
              <a:t>                   │ • Business logic</a:t>
            </a:r>
            <a:br/>
            <a:r>
              <a:t>                   └───────┬────────┘</a:t>
            </a:r>
            <a:br/>
            <a:r>
              <a:t>                           │</a:t>
            </a:r>
            <a:br/>
            <a:r>
              <a:t>                   ┌───────▼────────┐</a:t>
            </a:r>
            <a:br/>
            <a:r>
              <a:t>                   │  REPOSITORY    │ (repositories/users.js)</a:t>
            </a:r>
            <a:br/>
            <a:r>
              <a:t>                   │ • Requêtes SQL</a:t>
            </a:r>
            <a:br/>
            <a:r>
              <a:t>                   │ • Paramétrisées</a:t>
            </a:r>
            <a:br/>
            <a:r>
              <a:t>                   └───────┬────────┘</a:t>
            </a:r>
            <a:br/>
            <a:r>
              <a:t>                           │</a:t>
            </a:r>
            <a:br/>
            <a:r>
              <a:t>                   ┌───────▼────────┐</a:t>
            </a:r>
            <a:br/>
            <a:r>
              <a:t>                   │    DATABASE    │ (MariaDB)</a:t>
            </a:r>
            <a:br/>
            <a:r>
              <a:t>                   └────────────────┘</a:t>
            </a:r>
            <a:br/>
            <a:br/>
            <a:r>
              <a:t>Exemple Auth :</a:t>
            </a:r>
            <a:br/>
            <a:r>
              <a:t>POST /login → verifyPassword() → jwt.sign() → cookie HttpOnly</a:t>
            </a:r>
            <a:br/>
            <a:r>
              <a:t>GET /dashboard → verifyToken() → attach req.user → render data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STRUCTURE FRONT-END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4980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71717"/>
                </a:solidFill>
                <a:latin typeface="Courier New"/>
              </a:defRPr>
            </a:pPr>
            <a:r>
              <a:t>frontend/</a:t>
            </a:r>
            <a:br/>
            <a:r>
              <a:t>├── src/</a:t>
            </a:r>
            <a:br/>
            <a:r>
              <a:t>│   ├── app/</a:t>
            </a:r>
            <a:br/>
            <a:r>
              <a:t>│   │   ├── layout.js              (Layout racine, metadata)</a:t>
            </a:r>
            <a:br/>
            <a:r>
              <a:t>│   │   ├── page.jsx               (Page accueil avec sections)</a:t>
            </a:r>
            <a:br/>
            <a:r>
              <a:t>│   │   ├── globals.css            (Styles Tailwind)</a:t>
            </a:r>
            <a:br/>
            <a:r>
              <a:t>│   │   ├── blog/</a:t>
            </a:r>
            <a:br/>
            <a:r>
              <a:t>│   │   │   ├── page.jsx           (Liste articles)</a:t>
            </a:r>
            <a:br/>
            <a:r>
              <a:t>│   │   │   └── [slug]/</a:t>
            </a:r>
            <a:br/>
            <a:r>
              <a:t>│   │   │       └── page.jsx       (Article détaillé)</a:t>
            </a:r>
            <a:br/>
            <a:r>
              <a:t>│   │   ├── partners/</a:t>
            </a:r>
            <a:br/>
            <a:r>
              <a:t>│   │   │   └── page.jsx</a:t>
            </a:r>
            <a:br/>
            <a:r>
              <a:t>│   │   └── association/</a:t>
            </a:r>
            <a:br/>
            <a:r>
              <a:t>│   │       └── page.jsx</a:t>
            </a:r>
            <a:br/>
            <a:r>
              <a:t>│   │</a:t>
            </a:r>
            <a:br/>
            <a:r>
              <a:t>│   ├── components/</a:t>
            </a:r>
            <a:br/>
            <a:r>
              <a:t>│   │   ├── VideoBackground.jsx    (Hero vidéo autoplay)</a:t>
            </a:r>
            <a:br/>
            <a:r>
              <a:t>│   │   ├── IntroSection.jsx       (Animations GSAP)</a:t>
            </a:r>
            <a:br/>
            <a:r>
              <a:t>│   │   ├── Gallery.jsx            (Grid responsive)</a:t>
            </a:r>
            <a:br/>
            <a:r>
              <a:t>│   │   ├── BlogSection.jsx        (Preview 3 articles)</a:t>
            </a:r>
            <a:br/>
            <a:r>
              <a:t>│   │   ├── PartnerSection.jsx     (Logos partenaires)</a:t>
            </a:r>
            <a:br/>
            <a:r>
              <a:t>│   │   ├── Header.jsx             (Navigation)</a:t>
            </a:r>
            <a:br/>
            <a:r>
              <a:t>│   │   ├── Footer.jsx</a:t>
            </a:r>
            <a:br/>
            <a:r>
              <a:t>│   │   ├── DonationButton.jsx     (CTA fixe mobile)</a:t>
            </a:r>
            <a:br/>
            <a:r>
              <a:t>│   │   └── ContactModal.jsx</a:t>
            </a:r>
            <a:br/>
            <a:r>
              <a:t>│   │</a:t>
            </a:r>
            <a:br/>
            <a:r>
              <a:t>│   ├── hooks/</a:t>
            </a:r>
            <a:br/>
            <a:r>
              <a:t>│   │   ├── useSiteData.jsx        (Fetch Strapi + timeout)</a:t>
            </a:r>
            <a:br/>
            <a:r>
              <a:t>│   │   └── useIsMobile.jsx        (Media queries)</a:t>
            </a:r>
            <a:br/>
            <a:r>
              <a:t>│   │</a:t>
            </a:r>
            <a:br/>
            <a:r>
              <a:t>│   └── contexts/</a:t>
            </a:r>
            <a:br/>
            <a:r>
              <a:t>│       └── HeaderDonationContext.jsx  (État global CTA)</a:t>
            </a:r>
            <a:br/>
            <a:r>
              <a:t>│</a:t>
            </a:r>
            <a:br/>
            <a:r>
              <a:t>├── public/</a:t>
            </a:r>
            <a:br/>
            <a:r>
              <a:t>│   └── fonts/                     (AnnStone, Garamond)</a:t>
            </a:r>
            <a:br/>
            <a:r>
              <a:t>│</a:t>
            </a:r>
            <a:br/>
            <a:r>
              <a:t>└── next.config.js                 (Images, Turbopack)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SÉCURITÉ IMPLÉMENTÉE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Authentification &amp; Autorisation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Argon2id : Hashing mots de passe (résistant attaques GPU/ASIC)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JWT : Tokens signés, expiration 24h, stockage HttpOnly cookies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SameSite=Strict : Protection CSRF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Middleware verifyToken : Validation signature + expiration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Protection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Requêtes paramétrées : Prévention injection SQL (mysql2)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Validation Joi : Schémas stricts pour inputs utilisateurs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Sanitization : Nettoyage données avant insertion DB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CORS configuré : Origine autorisée uniquement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SÉCURITÉ À RENFORCER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Court Terme (Sprint suivant)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Rate Limiting : express-rate-limit (100 req/15min/IP)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Helmet : Headers sécurité (CSP, HSTS, X-Frame-Options)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Logging : Winston pour traçabilité actions critiques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Refresh Tokens : Renouvellement JWT sans re-login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Moyen Terme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9202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2FA : Authentification deux facteurs (TOTP)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Audit Logs : Traçabilité complète actions admin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Chiffrement DB : Colonnes sensibles (TDE MySQL)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Sécurité uploads : Scan antivirus fichiers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Mapping OWASP Top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A01 Broken Access Control : Middleware rôles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A02 Cryptographic Failures : Argon2id + HTTPS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A03 Injection : Requêtes paramétrées + validation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A05 Security Misconfiguration : Helmet + env vars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A07 Identification/Auth : JWT + refresh tokens futur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RÉALISATIONS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Animations GSAP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Reveal progressif textes : cascade avec delay incrémental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ScrollTrigger sections : fade-in + translateY au scroll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Pulse CTA donation : animation continue pour attirer l'œil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Timeline interviews : séquence fluide carousel automatique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Hooks Personnalisés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9202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useSiteData : Fetch Strapi + timeout 8s + fallback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useIsMobile : Media query listener (&lt; 768px)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Context donation : État global CTA visible/caché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Optimisations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Lazy loading : BlogSection chargée uniquement si visible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Priority assets : Hero vidéo + fonts preload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Responsive images : Cloudinary transformations (w, h, q, f_auto)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Code splitting : Routes automatiques Next.js App Router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Turbopack : Build ultra-rapide (dev mode)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RÉALISATIONS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Authentification JWT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71717"/>
                </a:solidFill>
                <a:latin typeface="Courier New"/>
              </a:defRPr>
            </a:pPr>
            <a:r>
              <a:t>// verifyPassword (services/auth.js)</a:t>
            </a:r>
            <a:br/>
            <a:r>
              <a:t>export async function verifyPassword(email, password) {</a:t>
            </a:r>
            <a:br/>
            <a:r>
              <a:t>  const user = await usersRepository.findByEmail(email);</a:t>
            </a:r>
            <a:br/>
            <a:r>
              <a:t>  if (!user) throw new Error('Invalid credentials');</a:t>
            </a:r>
            <a:br/>
            <a:r>
              <a:t>  </a:t>
            </a:r>
            <a:br/>
            <a:r>
              <a:t>  const valid = await argon2.verify(user.password, password);</a:t>
            </a:r>
            <a:br/>
            <a:r>
              <a:t>  if (!valid) throw new Error('Invalid credentials');</a:t>
            </a:r>
            <a:br/>
            <a:r>
              <a:t>  </a:t>
            </a:r>
            <a:br/>
            <a:r>
              <a:t>  const token = jwt.sign(</a:t>
            </a:r>
            <a:br/>
            <a:r>
              <a:t>    { id: user.id, email: user.email, role: user.role },</a:t>
            </a:r>
            <a:br/>
            <a:r>
              <a:t>    process.env.JWT_SECRET,</a:t>
            </a:r>
            <a:br/>
            <a:r>
              <a:t>    { expiresIn: '24h' }</a:t>
            </a:r>
            <a:br/>
            <a:r>
              <a:t>  );</a:t>
            </a:r>
            <a:br/>
            <a:r>
              <a:t>  </a:t>
            </a:r>
            <a:br/>
            <a:r>
              <a:t>  return { user, token };</a:t>
            </a:r>
            <a:br/>
            <a:r>
              <a:t>}</a:t>
            </a:r>
            <a:br/>
            <a:br/>
            <a:r>
              <a:t>// verifyToken (middleware)</a:t>
            </a:r>
            <a:br/>
            <a:r>
              <a:t>export function verifyToken(req, res, next) {</a:t>
            </a:r>
            <a:br/>
            <a:r>
              <a:t>  const token = req.cookies.authToken;</a:t>
            </a:r>
            <a:br/>
            <a:r>
              <a:t>  if (!token) return res.status(401).json({ error: 'Unauthorized' });</a:t>
            </a:r>
            <a:br/>
            <a:r>
              <a:t>  </a:t>
            </a:r>
            <a:br/>
            <a:r>
              <a:t>  try {</a:t>
            </a:r>
            <a:br/>
            <a:r>
              <a:t>    const decoded = jwt.verify(token, process.env.JWT_SECRET);</a:t>
            </a:r>
            <a:br/>
            <a:r>
              <a:t>    req.user = decoded;</a:t>
            </a:r>
            <a:br/>
            <a:r>
              <a:t>    next();</a:t>
            </a:r>
            <a:br/>
            <a:r>
              <a:t>  } catch (err) {</a:t>
            </a:r>
            <a:br/>
            <a:r>
              <a:t>    res.status(403).json({ error: 'Invalid token' });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TESTS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Métriques APD (Lighthouse)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Performance : 92/100 (Desktop), 78/100 (Mobile)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Accessibilité : 90/100 (WCAG 2.1 AA partiel)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SEO : 100/100 (meta tags, sitemap, robots.txt)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Best Practices : 95/100 (HTTPS, console errors)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Animations fluides : &lt;16ms par frame (60 FPS)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Tests API CoolBooking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9202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Collection Postman : 18 requêtes (CRUD users + rentals)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GET /rentals : Réponse moyenne &lt;60ms (local)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POST /rentals (upload) : ~1.2s (Cloudinary latency)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Gestion erreurs : JSON uniforme avec status codes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Axes d'Amélioration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Compression vidéo hero : Objectif -40% poids (H.265, VP9)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Tests automatisés : Jest pour logique métier + endpoints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CI/CD : GitHub Actions pour tests + deploy auto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Monitoring : Sentry pour tracking erreurs production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Cache : Redis pour requêtes fréquentes (GET /rentals)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VEILLE TECHNOLOGIQUE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Sources Consultées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Next.js Blog : Nouveautés App Router, React Server Components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React Docs Beta : Hooks avancés, optimisations Concurrent Mode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OWASP : Top 10 Web Application Security Risks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Snyk Advisor : Vulnérabilités packages npm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MariaDB Knowledge Base : Optimisations requêtes, index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GSAP Forums : Patterns animations performantes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Méthodologie de Veille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92024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Priorité documentation officielle (source fiable)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Validation date publication (éviter info obsolète)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Tests proof-of-concept rapides avant intégration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Partage avec équipe (Discord channels dédiés)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Veille hebdomadaire : 2h/semaine dédiées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Décisions Éclairées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74980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Argon2id préféré à bcrypt (résistance GPU)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Tailwind CSS vs CSS-in-JS (performance, DX)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Strapi v5 vs Sanity (gratuit, flexible)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Cloudinary vs S3 (transformations intégrées)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DIFFICULTÉS RENCONTRÉES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1. Poids vidéo hero (120 MB) → Temps chargement initial &gt;8s mobile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2. Conflits Lenis smooth scroll + GSAP ScrollTrigger → Offsets incorrects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3. Email duplicates utilisateurs → Erreur MySQL non gérée proprement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4. Upload multiple images → Gestion asynchrone Cloudinary complexe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5. Performance mobile APD → Galerie lourde (images non optimisées)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6. CORS errors en dev → Configuration Express/Next.js incohérente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7. JWT refresh → Expiration 24h trop courte pour UX, pas de refresh token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8. Accessibilité galerie → Navigation clavier absente initialement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SOLUTIONS APPORTÉES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1. Vidéo hero : Compression FFmpeg H.264 + qualité CRF 28 → -40% poids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2. Smooth scroll : Configuration manuelle offsets GSAP + Lenis.scrollTo()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3. Email duplicates : Vérification repository avant insert + erreur 409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4. Upload images : Boucle Promise.all() + cleanup fichiers locaux après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5. Perf mobile : Lazy loading images + Cloudinary resize (w_800, q_auto)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6. CORS : Middleware Express avec origin dynamique selon NODE_ENV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7. JWT : Extension expiration à 7j + roadmap refresh tokens (Sprint 4)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8. Accessibilité : Ajout tabindex + aria-labels + focus visible CSS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PERSPECTIVES COURT TERME (3 mois)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APD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Newsletter : Inscription + envoi automatique nouveaux articles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Événements : Section agenda avec inscriptions en ligne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Multilingue : i18n français/anglais (next-intl)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Mode sombre : Thème alternatif avec switch persistant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Analytics : Suivi conversions (dons, contacts) avec GA4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PWA : Service worker + manifest pour offline-first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CoolBooking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92024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Réservations : Calendrier disponibilités + paiement Stripe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Filtres avancés : Prix, localisation, équipements, dates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Recherche full-text : Elasticsearch pour descriptions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Messagerie : Chat interne propriétaire ↔ locataire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Notifications : Email + push pour nouvelles réservations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Documentation : Swagger/OpenAPI pour endpoints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Qualité &amp; DevOps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74980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Tests Jest : Couverture &gt;80% logique métier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CI/CD : GitHub Actions (lint, test, deploy auto)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Monitoring : Sentry pour erreurs + Uptime Robot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Performance : Budget performance Lighthouse (seuils)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PERSPECTIVES LONG TERME (6-12 mois)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Évolution Produit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Mobile natif : React Native pour app iOS/Android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Marketplace : Extension CoolBooking multi-propriétaires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IA recommandations : Suggestions annonces basées historique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Blockchain : Traçabilité dons APD (transparence donateurs)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Architecture &amp;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9202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Microservices : Découplage auth, paiements, notifications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GraphQL : API unifiée pour clients multiples (web, mobile)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Kubernetes : Orchestration conteneurs pour scalabilité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Observabilité : Prometheus + Grafana dashboards métriques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Optimisations Avancées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Edge computing : Cloudflare Workers pour latence minimale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Image optimization : WebP/AVIF + lazy loading natif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Cache distribué : Redis Cluster pour haute disponibilité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CDN multi-régions : Géolocalisation utilisateurs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Green hosting : Migration hébergeur éco-responsable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Compétences Démontrées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749807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Maîtrise cycle complet : Idéation → Design → Développement → Déploiement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Frontend moderne : React 19, Next.js 15, animations performantes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Backend robuste : Express, API REST, authentification sécurisée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Base de données : Modélisation relationnelle, requêtes optimisées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Sécurité : OWASP Top 10, Argon2id, JWT, validation stricte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DevOps : Git workflow, CI/CD, monitoring,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C1115"/>
                </a:solidFill>
              </a:defRPr>
            </a:pPr>
            <a:r>
              <a:t>Valeur Livrée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74980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APD : Vitrine immersive valorisant patrimoine diocésain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CoolBooking : Plateforme location autonome et évolutive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Code qualité : ESLint, tests, documentation vivante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Architecture pérenne : Séparation concerns, scalabilité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71717"/>
                </a:solidFill>
              </a:defRPr>
            </a:pPr>
            <a:r>
              <a:t>Vision claire : Roadmap court/long terme réaliste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QUESTIONS &amp; RÉPONSES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AC1115"/>
                </a:solidFill>
              </a:defRPr>
            </a:pPr>
            <a:r>
              <a:t>Merci pour votre attention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171717"/>
                </a:solidFill>
              </a:defRPr>
            </a:pPr>
            <a:r>
              <a:t>Je suis à votre disposition pour vos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📧 contact@philippe-barbosa.dev  |  🔗 github.com/Vince-ALIEN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