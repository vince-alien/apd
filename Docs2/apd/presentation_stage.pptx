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9" Type="http://schemas.openxmlformats.org/officeDocument/2006/relationships/viewProps" Target="viewProps.xml" /><Relationship Id="rId5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1" Type="http://schemas.openxmlformats.org/officeDocument/2006/relationships/tableStyles" Target="tableStyles.xml" /><Relationship Id="rId6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Projet APD - Site Web Association Patrimoine de Doazit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TP Développeur Web et Web Mobile</a:t>
            </a:r>
            <a:br/>
            <a:br/>
            <a:r>
              <a:rPr/>
              <a:t>Philippe Barbosa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 Novembre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Projet APD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Site Web - Association Patrimoine de Doazit</a:t>
            </a:r>
          </a:p>
          <a:p>
            <a:pPr lvl="0" indent="0" marL="0">
              <a:buNone/>
            </a:pPr>
            <a:r>
              <a:rPr b="1"/>
              <a:t>Présenté par</a:t>
            </a:r>
            <a:r>
              <a:rPr/>
              <a:t> : Philippe Barbosa</a:t>
            </a:r>
            <a:br/>
            <a:r>
              <a:rPr b="1"/>
              <a:t>Formation</a:t>
            </a:r>
            <a:r>
              <a:rPr/>
              <a:t> : TP Développeur Web et Web Mobile</a:t>
            </a:r>
            <a:br/>
            <a:r>
              <a:rPr b="1"/>
              <a:t>Date</a:t>
            </a:r>
            <a:r>
              <a:rPr/>
              <a:t> : 20 Novembre 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Contexte du projet</a:t>
            </a:r>
          </a:p>
          <a:p>
            <a:pPr lvl="0" indent="-342900" marL="342900">
              <a:buAutoNum type="arabicPeriod"/>
            </a:pPr>
            <a:r>
              <a:rPr/>
              <a:t>Objectifs et enjeux</a:t>
            </a:r>
          </a:p>
          <a:p>
            <a:pPr lvl="0" indent="-342900" marL="342900">
              <a:buAutoNum type="arabicPeriod"/>
            </a:pPr>
            <a:r>
              <a:rPr/>
              <a:t>Technologies utilisées</a:t>
            </a:r>
          </a:p>
          <a:p>
            <a:pPr lvl="0" indent="-342900" marL="342900">
              <a:buAutoNum type="arabicPeriod"/>
            </a:pPr>
            <a:r>
              <a:rPr/>
              <a:t>Architecture technique</a:t>
            </a:r>
          </a:p>
          <a:p>
            <a:pPr lvl="0" indent="-342900" marL="342900">
              <a:buAutoNum type="arabicPeriod"/>
            </a:pPr>
            <a:r>
              <a:rPr/>
              <a:t>Fonctionnalités développées</a:t>
            </a:r>
          </a:p>
          <a:p>
            <a:pPr lvl="0" indent="-342900" marL="342900">
              <a:buAutoNum type="arabicPeriod"/>
            </a:pPr>
            <a:r>
              <a:rPr/>
              <a:t>Démonstration</a:t>
            </a:r>
          </a:p>
          <a:p>
            <a:pPr lvl="0" indent="-342900" marL="342900">
              <a:buAutoNum type="arabicPeriod"/>
            </a:pPr>
            <a:r>
              <a:rPr/>
              <a:t>Résultats et perspectives</a:t>
            </a:r>
          </a:p>
          <a:p>
            <a:pPr lvl="0" indent="-342900" marL="342900">
              <a:buAutoNum type="arabicPeriod"/>
            </a:pPr>
            <a:r>
              <a:rPr/>
              <a:t>Compétences acquises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Contexte du Projet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L’Association Patrimoine de Doazit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Présentation</a:t>
            </a:r>
          </a:p>
          <a:p>
            <a:pPr lvl="0"/>
            <a:r>
              <a:rPr/>
              <a:t>Association locale créée pour </a:t>
            </a:r>
            <a:r>
              <a:rPr b="1"/>
              <a:t>préserver le patrimoine religieux</a:t>
            </a:r>
          </a:p>
          <a:p>
            <a:pPr lvl="0"/>
            <a:r>
              <a:rPr/>
              <a:t>Focus : Église Saint-Jean Baptiste d’Aulès (XIIe siècle)</a:t>
            </a:r>
          </a:p>
          <a:p>
            <a:pPr lvl="0"/>
            <a:r>
              <a:rPr/>
              <a:t>Objectif : Collecte de dons pour restauration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Problématique initiale</a:t>
            </a:r>
          </a:p>
          <a:p>
            <a:pPr lvl="0"/>
            <a:r>
              <a:rPr/>
              <a:t>❌ Pas de présence digitale</a:t>
            </a:r>
          </a:p>
          <a:p>
            <a:pPr lvl="0"/>
            <a:r>
              <a:rPr/>
              <a:t>❌ Difficulté à toucher les donateurs</a:t>
            </a:r>
          </a:p>
          <a:p>
            <a:pPr lvl="0"/>
            <a:r>
              <a:rPr/>
              <a:t>❌ Pas de vitrine pour les partenaires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Solution apportée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Création d’un site web moderne</a:t>
            </a:r>
          </a:p>
          <a:p>
            <a:pPr lvl="0"/>
            <a:r>
              <a:rPr/>
              <a:t>✅ Présentation du patrimoine</a:t>
            </a:r>
          </a:p>
          <a:p>
            <a:pPr lvl="0"/>
            <a:r>
              <a:rPr/>
              <a:t>✅ Facilitation des dons (bouton CTA)</a:t>
            </a:r>
          </a:p>
          <a:p>
            <a:pPr lvl="0"/>
            <a:r>
              <a:rPr/>
              <a:t>✅ Espace blog et actualités</a:t>
            </a:r>
          </a:p>
          <a:p>
            <a:pPr lvl="0"/>
            <a:r>
              <a:rPr/>
              <a:t>✅ Page partenaires avec formulaire contact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Durée du projet</a:t>
            </a:r>
          </a:p>
          <a:p>
            <a:pPr lvl="0" indent="0" marL="0">
              <a:buNone/>
            </a:pPr>
            <a:r>
              <a:rPr b="1"/>
              <a:t>8 semaines</a:t>
            </a:r>
            <a:r>
              <a:rPr/>
              <a:t> (Octobre - Novembre 2025)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Analyse des besoins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Utilisateurs cibles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/>
                <a:gridCol w="1435100"/>
                <a:gridCol w="271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Besoins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Fonctionnalités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Visiteurs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Découvrir le patrimoine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Galerie photos, articles, vidéos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Donateurs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Faire un don facilement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Bouton CTA visible, lien HelloAsso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Partenaires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Proposer un partenariat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Formulaire de contact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Administrateurs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Gérer le contenu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Panel admin Strapi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Objectifs et Enjeux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Objectifs du projet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Objectifs principaux</a:t>
            </a:r>
          </a:p>
          <a:p>
            <a:pPr lvl="0" indent="-342900" marL="342900">
              <a:buAutoNum type="arabicPeriod"/>
            </a:pPr>
            <a:r>
              <a:rPr b="1"/>
              <a:t>Valoriser le patrimoine</a:t>
            </a:r>
            <a:r>
              <a:rPr/>
              <a:t> : Présenter l’église et son histoire</a:t>
            </a:r>
          </a:p>
          <a:p>
            <a:pPr lvl="0" indent="-342900" marL="342900">
              <a:buAutoNum type="arabicPeriod"/>
            </a:pPr>
            <a:r>
              <a:rPr b="1"/>
              <a:t>Faciliter les dons</a:t>
            </a:r>
            <a:r>
              <a:rPr/>
              <a:t> : Bouton “Faire un don” visible et persistant</a:t>
            </a:r>
          </a:p>
          <a:p>
            <a:pPr lvl="0" indent="-342900" marL="342900">
              <a:buAutoNum type="arabicPeriod"/>
            </a:pPr>
            <a:r>
              <a:rPr b="1"/>
              <a:t>Attirer des partenaires</a:t>
            </a:r>
            <a:r>
              <a:rPr/>
              <a:t> : Page dédiée + formulaire de contact</a:t>
            </a:r>
          </a:p>
          <a:p>
            <a:pPr lvl="0" indent="-342900" marL="342900">
              <a:buAutoNum type="arabicPeriod"/>
            </a:pPr>
            <a:r>
              <a:rPr b="1"/>
              <a:t>Créer une communauté</a:t>
            </a:r>
            <a:r>
              <a:rPr/>
              <a:t> : Blog avec articles et actualités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Objectifs techniques</a:t>
            </a:r>
          </a:p>
          <a:p>
            <a:pPr lvl="0"/>
            <a:r>
              <a:rPr/>
              <a:t>Performance : Lighthouse &gt; 85</a:t>
            </a:r>
          </a:p>
          <a:p>
            <a:pPr lvl="0"/>
            <a:r>
              <a:rPr/>
              <a:t>Responsive : Mobile, Tablet, Desktop</a:t>
            </a:r>
          </a:p>
          <a:p>
            <a:pPr lvl="0"/>
            <a:r>
              <a:rPr/>
              <a:t>SEO optimisé : Meta tags, sitemap</a:t>
            </a:r>
          </a:p>
          <a:p>
            <a:pPr lvl="0"/>
            <a:r>
              <a:rPr/>
              <a:t>Accessibilité : WCAG AA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Enjeux pour le TP DWWM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CCP1 - Développement Frontend</a:t>
            </a:r>
          </a:p>
          <a:p>
            <a:pPr lvl="0"/>
            <a:r>
              <a:rPr/>
              <a:t>✅ Maquetter une application</a:t>
            </a:r>
          </a:p>
          <a:p>
            <a:pPr lvl="0"/>
            <a:r>
              <a:rPr/>
              <a:t>✅ Interface statique et adaptable (Responsive)</a:t>
            </a:r>
          </a:p>
          <a:p>
            <a:pPr lvl="0"/>
            <a:r>
              <a:rPr/>
              <a:t>✅ Interface dynamique (React, animations)</a:t>
            </a:r>
          </a:p>
          <a:p>
            <a:pPr lvl="0"/>
            <a:r>
              <a:rPr/>
              <a:t>✅ Intégration CMS (Strapi)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CCP2 - Développement Backend</a:t>
            </a:r>
          </a:p>
          <a:p>
            <a:pPr lvl="0"/>
            <a:r>
              <a:rPr/>
              <a:t>✅ Créer une base de données (PostgreSQL)</a:t>
            </a:r>
          </a:p>
          <a:p>
            <a:pPr lvl="0"/>
            <a:r>
              <a:rPr/>
              <a:t>✅ Développer composants d’accès aux données</a:t>
            </a:r>
          </a:p>
          <a:p>
            <a:pPr lvl="0"/>
            <a:r>
              <a:rPr/>
              <a:t>✅ Développer API REST (Strapi)</a:t>
            </a:r>
          </a:p>
          <a:p>
            <a:pPr lvl="0"/>
            <a:r>
              <a:rPr/>
              <a:t>✅ Mettre en œuvre CMS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Technologies Utilisées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 Technique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Frontend</a:t>
            </a:r>
          </a:p>
          <a:p>
            <a:pPr lvl="0"/>
            <a:r>
              <a:rPr b="1"/>
              <a:t>Next.js 15.5.3</a:t>
            </a:r>
            <a:r>
              <a:rPr/>
              <a:t> - Framework React</a:t>
            </a:r>
          </a:p>
          <a:p>
            <a:pPr lvl="0"/>
            <a:r>
              <a:rPr b="1"/>
              <a:t>React 19.1.0</a:t>
            </a:r>
            <a:r>
              <a:rPr/>
              <a:t> - UI Library</a:t>
            </a:r>
          </a:p>
          <a:p>
            <a:pPr lvl="0"/>
            <a:r>
              <a:rPr b="1"/>
              <a:t>Tailwind CSS 4</a:t>
            </a:r>
            <a:r>
              <a:rPr/>
              <a:t> - Styling</a:t>
            </a:r>
          </a:p>
          <a:p>
            <a:pPr lvl="0"/>
            <a:r>
              <a:rPr b="1"/>
              <a:t>GSAP 3.13.0</a:t>
            </a:r>
            <a:r>
              <a:rPr/>
              <a:t> - Animations</a:t>
            </a:r>
          </a:p>
          <a:p>
            <a:pPr lvl="0"/>
            <a:r>
              <a:rPr b="1"/>
              <a:t>Lucide React</a:t>
            </a:r>
            <a:r>
              <a:rPr/>
              <a:t> - Icônes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Backend</a:t>
            </a:r>
          </a:p>
          <a:p>
            <a:pPr lvl="0"/>
            <a:r>
              <a:rPr b="1"/>
              <a:t>Strapi v5.30.0</a:t>
            </a:r>
            <a:r>
              <a:rPr/>
              <a:t> - Headless CMS</a:t>
            </a:r>
          </a:p>
          <a:p>
            <a:pPr lvl="0"/>
            <a:r>
              <a:rPr b="1"/>
              <a:t>Node.js 20.19.5</a:t>
            </a:r>
            <a:r>
              <a:rPr/>
              <a:t> - Runtime</a:t>
            </a:r>
          </a:p>
          <a:p>
            <a:pPr lvl="0"/>
            <a:r>
              <a:rPr b="1"/>
              <a:t>TypeScript 5.x</a:t>
            </a:r>
            <a:r>
              <a:rPr/>
              <a:t> - Langage backend</a:t>
            </a:r>
          </a:p>
          <a:p>
            <a:pPr lvl="0"/>
            <a:r>
              <a:rPr b="1"/>
              <a:t>PostgreSQL 14+</a:t>
            </a:r>
            <a:r>
              <a:rPr/>
              <a:t> - Base de données</a:t>
            </a:r>
          </a:p>
          <a:p>
            <a:pPr lvl="0"/>
            <a:r>
              <a:rPr b="1"/>
              <a:t>Nodemailer</a:t>
            </a:r>
            <a:r>
              <a:rPr/>
              <a:t> - Envoi emails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Hébergement et Services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Hébergement</a:t>
            </a:r>
          </a:p>
          <a:p>
            <a:pPr lvl="0"/>
            <a:r>
              <a:rPr b="1"/>
              <a:t>Vercel</a:t>
            </a:r>
            <a:r>
              <a:rPr/>
              <a:t> - Frontend (gratuit)</a:t>
            </a:r>
          </a:p>
          <a:p>
            <a:pPr lvl="0"/>
            <a:r>
              <a:rPr b="1"/>
              <a:t>Railway</a:t>
            </a:r>
            <a:r>
              <a:rPr/>
              <a:t> - Backend ($5-20/mois)</a:t>
            </a:r>
          </a:p>
          <a:p>
            <a:pPr lvl="0"/>
            <a:r>
              <a:rPr b="1"/>
              <a:t>Cloudinary</a:t>
            </a:r>
            <a:r>
              <a:rPr/>
              <a:t> - CDN médias (gratuit)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Outils de développement</a:t>
            </a:r>
          </a:p>
          <a:p>
            <a:pPr lvl="0"/>
            <a:r>
              <a:rPr b="1"/>
              <a:t>Git/GitHub</a:t>
            </a:r>
            <a:r>
              <a:rPr/>
              <a:t> - Versioning</a:t>
            </a:r>
          </a:p>
          <a:p>
            <a:pPr lvl="0"/>
            <a:r>
              <a:rPr b="1"/>
              <a:t>VS Code</a:t>
            </a:r>
            <a:r>
              <a:rPr/>
              <a:t> - Éditeur</a:t>
            </a:r>
          </a:p>
          <a:p>
            <a:pPr lvl="0"/>
            <a:r>
              <a:rPr b="1"/>
              <a:t>Postman</a:t>
            </a:r>
            <a:r>
              <a:rPr/>
              <a:t> - Tests API</a:t>
            </a:r>
          </a:p>
          <a:p>
            <a:pPr lvl="0"/>
            <a:r>
              <a:rPr b="1"/>
              <a:t>Lighthouse</a:t>
            </a:r>
            <a:r>
              <a:rPr/>
              <a:t> - Tests performance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Architecture Jamstack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Schéma simplifié</a:t>
            </a:r>
          </a:p>
          <a:p>
            <a:pPr lvl="0" indent="0">
              <a:buNone/>
            </a:pPr>
            <a:r>
              <a:rPr>
                <a:latin typeface="Courier"/>
              </a:rPr>
              <a:t>UTILISATEUR
    |
    | HTTPS
    |
    +---------+----------+
    |                    |
FRONTEND            BACKEND
Next.js             Strapi
(Vercel)          (Railway)
    |                    |
    |              PostgreSQL
    |
Cloudinary CDN</a:t>
            </a:r>
          </a:p>
          <a:p>
            <a:pPr lvl="0" indent="0" marL="0">
              <a:buNone/>
            </a:pPr>
            <a:r>
              <a:rPr b="1"/>
              <a:t>Principe</a:t>
            </a:r>
            <a:r>
              <a:rPr/>
              <a:t> : Découplage frontend/backend via API REST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Architecture Technique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Structure du Projet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Frontend (Next.js)</a:t>
            </a:r>
          </a:p>
          <a:p>
            <a:pPr lvl="0" indent="0">
              <a:buNone/>
            </a:pPr>
            <a:r>
              <a:rPr>
                <a:latin typeface="Courier"/>
              </a:rPr>
              <a:t>frontend/src/
├── app/
│   ├── page.jsx          # Page d'accueil
│   ├── blog/
│   │   ├── page.jsx      # Liste articles
│   │   └── [slug]/       # Article détaillé
│   ├── association/      # Page association
│   └── partners/         # Page partenaires
├── components/           # 16 composants
│   ├── Header.jsx
│   ├── Footer.jsx
│   ├── Gallery.jsx
│   ├── ContactModal.jsx
│   └── ...
├── contexts/
└── hooks/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Structure Backend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Strapi</a:t>
            </a:r>
          </a:p>
          <a:p>
            <a:pPr lvl="0" indent="0">
              <a:buNone/>
            </a:pPr>
            <a:r>
              <a:rPr>
                <a:latin typeface="Courier"/>
              </a:rPr>
              <a:t>src/api/
├── eglise/              # Single Type
├── article/             # Collection
├── interview/           # Collection
├── partenaire/          # Collection
├── association/         # Single Type
├── parametres-site/     # Single Type
├── accueil/             # Single Type
└── email/               # Custom endpoint</a:t>
            </a:r>
          </a:p>
          <a:p>
            <a:pPr lvl="0" indent="0" marL="0">
              <a:buNone/>
            </a:pPr>
            <a:r>
              <a:rPr b="1"/>
              <a:t>7 content-types</a:t>
            </a:r>
            <a:r>
              <a:rPr/>
              <a:t> + 1 endpoint personnalisé (email)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Modèle de Données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 Entités principales</a:t>
            </a:r>
          </a:p>
          <a:p>
            <a:pPr lvl="0" indent="-342900" marL="342900">
              <a:buAutoNum type="arabicPeriod"/>
            </a:pPr>
            <a:r>
              <a:rPr b="1"/>
              <a:t>EGLISE</a:t>
            </a:r>
            <a:r>
              <a:rPr/>
              <a:t> (Single Type) - Informations église</a:t>
            </a:r>
          </a:p>
          <a:p>
            <a:pPr lvl="0" indent="-342900" marL="342900">
              <a:buAutoNum type="arabicPeriod"/>
            </a:pPr>
            <a:r>
              <a:rPr b="1"/>
              <a:t>ARTICLE</a:t>
            </a:r>
            <a:r>
              <a:rPr/>
              <a:t> (Collection) - Articles de blog</a:t>
            </a:r>
          </a:p>
          <a:p>
            <a:pPr lvl="0" indent="-342900" marL="342900">
              <a:buAutoNum type="arabicPeriod"/>
            </a:pPr>
            <a:r>
              <a:rPr b="1"/>
              <a:t>INTERVIEW</a:t>
            </a:r>
            <a:r>
              <a:rPr/>
              <a:t> (Collection) - Vidéos interviews</a:t>
            </a:r>
          </a:p>
          <a:p>
            <a:pPr lvl="0" indent="-342900" marL="342900">
              <a:buAutoNum type="arabicPeriod"/>
            </a:pPr>
            <a:r>
              <a:rPr b="1"/>
              <a:t>PARTENAIRE</a:t>
            </a:r>
            <a:r>
              <a:rPr/>
              <a:t> (Collection) - Logos partenaires</a:t>
            </a:r>
          </a:p>
          <a:p>
            <a:pPr lvl="0" indent="-342900" marL="342900">
              <a:buAutoNum type="arabicPeriod"/>
            </a:pPr>
            <a:r>
              <a:rPr b="1"/>
              <a:t>ASSOCIATION</a:t>
            </a:r>
            <a:r>
              <a:rPr/>
              <a:t> (Single Type) - Présentation</a:t>
            </a:r>
          </a:p>
          <a:p>
            <a:pPr lvl="0" indent="-342900" marL="342900">
              <a:buAutoNum type="arabicPeriod"/>
            </a:pPr>
            <a:r>
              <a:rPr b="1"/>
              <a:t>ACCUEIL</a:t>
            </a:r>
            <a:r>
              <a:rPr/>
              <a:t> (Single Type) - Données page accueil</a:t>
            </a:r>
          </a:p>
          <a:p>
            <a:pPr lvl="0" indent="-342900" marL="342900">
              <a:buAutoNum type="arabicPeriod"/>
            </a:pPr>
            <a:r>
              <a:rPr b="1"/>
              <a:t>PARAMETRES_SITE</a:t>
            </a:r>
            <a:r>
              <a:rPr/>
              <a:t> (Single Type) - Config globale</a:t>
            </a:r>
          </a:p>
          <a:p>
            <a:pPr lvl="0" indent="-342900" marL="342900">
              <a:buAutoNum type="arabicPeriod"/>
            </a:pPr>
            <a:r>
              <a:rPr b="1"/>
              <a:t>LOCALISATION</a:t>
            </a:r>
            <a:r>
              <a:rPr/>
              <a:t> (Component) - Adresses</a:t>
            </a:r>
          </a:p>
          <a:p>
            <a:pPr lvl="0" indent="0" marL="0">
              <a:buNone/>
            </a:pPr>
            <a:r>
              <a:rPr b="1"/>
              <a:t>Base de données</a:t>
            </a:r>
            <a:r>
              <a:rPr/>
              <a:t> : PostgreSQL avec 8 tables + 11 tables de liaison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Relations principales</a:t>
            </a:r>
          </a:p>
          <a:p>
            <a:pPr lvl="0"/>
            <a:r>
              <a:rPr/>
              <a:t>EGLISE ↔ LOCALISATION (1-N)</a:t>
            </a:r>
          </a:p>
          <a:p>
            <a:pPr lvl="0"/>
            <a:r>
              <a:rPr/>
              <a:t>EGLISE ↔ FILES (images) (1-N)</a:t>
            </a:r>
          </a:p>
          <a:p>
            <a:pPr lvl="0"/>
            <a:r>
              <a:rPr/>
              <a:t>ARTICLE ↔ FILE (image) (1-1)</a:t>
            </a:r>
          </a:p>
          <a:p>
            <a:pPr lvl="0"/>
            <a:r>
              <a:rPr/>
              <a:t>INTERVIEW ↔ FILE (video) (1-1)</a:t>
            </a:r>
          </a:p>
          <a:p>
            <a:pPr lvl="0"/>
            <a:r>
              <a:rPr/>
              <a:t>PARTENAIRE ↔ FILES (logos) (1-N)</a:t>
            </a:r>
          </a:p>
          <a:p>
            <a:pPr lvl="0"/>
            <a:r>
              <a:rPr/>
              <a:t>PARAMETRES_SITE ↔ LOCALISATION (1-N)</a:t>
            </a:r>
          </a:p>
          <a:p>
            <a:pPr lvl="0"/>
            <a:r>
              <a:rPr/>
              <a:t>PARAMETRES_SITE ↔ FILES (logos) (1-N)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Fonctionnalités Développées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Fonctionnalités Frontend - Page Accueil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Sections développées</a:t>
            </a:r>
          </a:p>
          <a:p>
            <a:pPr lvl="0" indent="-342900" marL="342900">
              <a:buAutoNum type="arabicPeriod"/>
            </a:pPr>
            <a:r>
              <a:rPr b="1"/>
              <a:t>Vidéo de fond</a:t>
            </a:r>
            <a:r>
              <a:rPr/>
              <a:t> full-screen (autoplay, loop)</a:t>
            </a:r>
          </a:p>
          <a:p>
            <a:pPr lvl="0" indent="-342900" marL="342900">
              <a:buAutoNum type="arabicPeriod"/>
            </a:pPr>
            <a:r>
              <a:rPr b="1"/>
              <a:t>Titre animé</a:t>
            </a:r>
            <a:r>
              <a:rPr/>
              <a:t> avec “reveal box” (GSAP)</a:t>
            </a:r>
          </a:p>
          <a:p>
            <a:pPr lvl="0" indent="-342900" marL="342900">
              <a:buAutoNum type="arabicPeriod"/>
            </a:pPr>
            <a:r>
              <a:rPr b="1"/>
              <a:t>Description église</a:t>
            </a:r>
            <a:r>
              <a:rPr/>
              <a:t> avec image</a:t>
            </a:r>
          </a:p>
          <a:p>
            <a:pPr lvl="0" indent="-342900" marL="342900">
              <a:buAutoNum type="arabicPeriod"/>
            </a:pPr>
            <a:r>
              <a:rPr b="1"/>
              <a:t>Galerie de 9 photos</a:t>
            </a:r>
            <a:r>
              <a:rPr/>
              <a:t> avec scroll horizontal (desktop)</a:t>
            </a:r>
          </a:p>
          <a:p>
            <a:pPr lvl="0" indent="-342900" marL="342900">
              <a:buAutoNum type="arabicPeriod"/>
            </a:pPr>
            <a:r>
              <a:rPr b="1"/>
              <a:t>Section architecture</a:t>
            </a:r>
            <a:r>
              <a:rPr/>
              <a:t> avec plan zoomable</a:t>
            </a:r>
          </a:p>
          <a:p>
            <a:pPr lvl="0" indent="-342900" marL="342900">
              <a:buAutoNum type="arabicPeriod"/>
            </a:pPr>
            <a:r>
              <a:rPr b="1"/>
              <a:t>Interview vidéo</a:t>
            </a:r>
            <a:r>
              <a:rPr/>
              <a:t> avec player HTML5</a:t>
            </a:r>
          </a:p>
          <a:p>
            <a:pPr lvl="0" indent="-342900" marL="342900">
              <a:buAutoNum type="arabicPeriod"/>
            </a:pPr>
            <a:r>
              <a:rPr b="1"/>
              <a:t>4 derniers articles</a:t>
            </a:r>
            <a:r>
              <a:rPr/>
              <a:t> du blog</a:t>
            </a:r>
          </a:p>
          <a:p>
            <a:pPr lvl="0" indent="-342900" marL="342900">
              <a:buAutoNum type="arabicPeriod"/>
            </a:pPr>
            <a:r>
              <a:rPr b="1"/>
              <a:t>Carousel partenaires</a:t>
            </a:r>
            <a:r>
              <a:rPr/>
              <a:t> auto-scroll</a:t>
            </a:r>
          </a:p>
          <a:p>
            <a:pPr lvl="0" indent="-342900" marL="342900">
              <a:buAutoNum type="arabicPeriod"/>
            </a:pPr>
            <a:r>
              <a:rPr b="1"/>
              <a:t>Bouton “Faire un don”</a:t>
            </a:r>
            <a:r>
              <a:rPr/>
              <a:t> persistant après scroll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Blog et Articles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Page Blog (/blog)</a:t>
            </a:r>
          </a:p>
          <a:p>
            <a:pPr lvl="0"/>
            <a:r>
              <a:rPr/>
              <a:t>Liste de tous les articles publiés</a:t>
            </a:r>
          </a:p>
          <a:p>
            <a:pPr lvl="0"/>
            <a:r>
              <a:rPr/>
              <a:t>Tri par date décroissante</a:t>
            </a:r>
          </a:p>
          <a:p>
            <a:pPr lvl="0"/>
            <a:r>
              <a:rPr/>
              <a:t>Vignettes avec : image, titre, date, auteur, extrait</a:t>
            </a:r>
          </a:p>
          <a:p>
            <a:pPr lvl="0"/>
            <a:r>
              <a:rPr/>
              <a:t>Responsive (grille adaptative)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Page Article (/blog/[slug])</a:t>
            </a:r>
          </a:p>
          <a:p>
            <a:pPr lvl="0"/>
            <a:r>
              <a:rPr/>
              <a:t>Image full-width en en-tête</a:t>
            </a:r>
          </a:p>
          <a:p>
            <a:pPr lvl="0"/>
            <a:r>
              <a:rPr/>
              <a:t>Contenu rich text (Blocks API Strapi)</a:t>
            </a:r>
          </a:p>
          <a:p>
            <a:pPr lvl="0"/>
            <a:r>
              <a:rPr/>
              <a:t>Lettrine sur premier paragraphe</a:t>
            </a:r>
          </a:p>
          <a:p>
            <a:pPr lvl="0"/>
            <a:r>
              <a:rPr/>
              <a:t>Metadata (auteur, date)</a:t>
            </a:r>
          </a:p>
          <a:p>
            <a:pPr lvl="0"/>
            <a:r>
              <a:rPr/>
              <a:t>SEO optimisé (generateMetadata)</a:t>
            </a:r>
          </a:p>
          <a:p>
            <a:pPr lvl="0"/>
            <a:r>
              <a:rPr/>
              <a:t>Bouton retour vers liste articles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Pages Association et Partenaires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Page Association (/association)</a:t>
            </a:r>
          </a:p>
          <a:p>
            <a:pPr lvl="0"/>
            <a:r>
              <a:rPr/>
              <a:t>Présentation de l’association</a:t>
            </a:r>
          </a:p>
          <a:p>
            <a:pPr lvl="0"/>
            <a:r>
              <a:rPr/>
              <a:t>Mission et objectifs (liste)</a:t>
            </a:r>
          </a:p>
          <a:p>
            <a:pPr lvl="0"/>
            <a:r>
              <a:rPr/>
              <a:t>2 boutons CTA (Faire un don + Devenir partenaire)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Page Partenaires (/partners)</a:t>
            </a:r>
          </a:p>
          <a:p>
            <a:pPr lvl="0"/>
            <a:r>
              <a:rPr/>
              <a:t>Texte incitatif</a:t>
            </a:r>
          </a:p>
          <a:p>
            <a:pPr lvl="0"/>
            <a:r>
              <a:rPr/>
              <a:t>Liste des partenaires avec logos cliquables</a:t>
            </a:r>
          </a:p>
          <a:p>
            <a:pPr lvl="0"/>
            <a:r>
              <a:rPr b="1"/>
              <a:t>Formulaire de contact modal</a:t>
            </a:r>
            <a:r>
              <a:rPr/>
              <a:t> :</a:t>
            </a:r>
          </a:p>
          <a:p>
            <a:pPr lvl="1"/>
            <a:r>
              <a:rPr/>
              <a:t>Champs : Nom, Email, Téléphone, Sujet, Message</a:t>
            </a:r>
          </a:p>
          <a:p>
            <a:pPr lvl="1"/>
            <a:r>
              <a:rPr/>
              <a:t>Validation côté client (regex email)</a:t>
            </a:r>
          </a:p>
          <a:p>
            <a:pPr lvl="1"/>
            <a:r>
              <a:rPr/>
              <a:t>Envoi via API email (Nodemailer)</a:t>
            </a:r>
          </a:p>
          <a:p>
            <a:pPr lvl="1"/>
            <a:r>
              <a:rPr/>
              <a:t>Messages succès/erreur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Design et Animations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Animations GSAP développées</a:t>
            </a:r>
          </a:p>
          <a:p>
            <a:pPr lvl="0" indent="-342900" marL="342900">
              <a:buAutoNum type="arabicPeriod"/>
            </a:pPr>
            <a:r>
              <a:rPr b="1"/>
              <a:t>Galerie photos</a:t>
            </a:r>
            <a:r>
              <a:rPr/>
              <a:t> : Apparition progressive au scroll (stagger 0.1s)</a:t>
            </a:r>
          </a:p>
          <a:p>
            <a:pPr lvl="0" indent="-342900" marL="342900">
              <a:buAutoNum type="arabicPeriod"/>
            </a:pPr>
            <a:r>
              <a:rPr b="1"/>
              <a:t>Reveal box</a:t>
            </a:r>
            <a:r>
              <a:rPr/>
              <a:t> : Animation width + position sur titre intro</a:t>
            </a:r>
          </a:p>
          <a:p>
            <a:pPr lvl="0" indent="-342900" marL="342900">
              <a:buAutoNum type="arabicPeriod"/>
            </a:pPr>
            <a:r>
              <a:rPr b="1"/>
              <a:t>Plan architectural</a:t>
            </a:r>
            <a:r>
              <a:rPr/>
              <a:t> : Zoom de scale(0.3) à scale(1)</a:t>
            </a:r>
          </a:p>
          <a:p>
            <a:pPr lvl="0" indent="-342900" marL="342900">
              <a:buAutoNum type="arabicPeriod"/>
            </a:pPr>
            <a:r>
              <a:rPr b="1"/>
              <a:t>Carousel partenaires</a:t>
            </a:r>
            <a:r>
              <a:rPr/>
              <a:t> : Auto-scroll fluide (requestAnimationFrame)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Responsive Design</a:t>
            </a:r>
          </a:p>
          <a:p>
            <a:pPr lvl="0"/>
            <a:r>
              <a:rPr b="1"/>
              <a:t>Mobile</a:t>
            </a:r>
            <a:r>
              <a:rPr/>
              <a:t> (&lt; 640px) : Menu hamburger, galerie grille 2 cols</a:t>
            </a:r>
          </a:p>
          <a:p>
            <a:pPr lvl="0"/>
            <a:r>
              <a:rPr b="1"/>
              <a:t>Tablet</a:t>
            </a:r>
            <a:r>
              <a:rPr/>
              <a:t> (640-1024px) : Navigation inline, galerie grille 3 cols</a:t>
            </a:r>
          </a:p>
          <a:p>
            <a:pPr lvl="0"/>
            <a:r>
              <a:rPr b="1"/>
              <a:t>Desktop</a:t>
            </a:r>
            <a:r>
              <a:rPr/>
              <a:t> (&gt; 1024px) : Layout absolu galerie, scroll horizontal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Composants développés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16 composants React</a:t>
            </a:r>
          </a:p>
          <a:p>
            <a:pPr lvl="0" indent="-342900" marL="342900">
              <a:buAutoNum type="arabicPeriod"/>
            </a:pPr>
            <a:r>
              <a:rPr/>
              <a:t>Header (navigation + menu mobile)</a:t>
            </a:r>
          </a:p>
          <a:p>
            <a:pPr lvl="0" indent="-342900" marL="342900">
              <a:buAutoNum type="arabicPeriod"/>
            </a:pPr>
            <a:r>
              <a:rPr/>
              <a:t>Footer (3 colonnes : logo, nav, contact)</a:t>
            </a:r>
          </a:p>
          <a:p>
            <a:pPr lvl="0" indent="-342900" marL="342900">
              <a:buAutoNum type="arabicPeriod"/>
            </a:pPr>
            <a:r>
              <a:rPr/>
              <a:t>VideoBackground</a:t>
            </a:r>
          </a:p>
          <a:p>
            <a:pPr lvl="0" indent="-342900" marL="342900">
              <a:buAutoNum type="arabicPeriod"/>
            </a:pPr>
            <a:r>
              <a:rPr/>
              <a:t>IntroSection (hero avec reveal box)</a:t>
            </a:r>
          </a:p>
          <a:p>
            <a:pPr lvl="0" indent="-342900" marL="342900">
              <a:buAutoNum type="arabicPeriod"/>
            </a:pPr>
            <a:r>
              <a:rPr/>
              <a:t>DescriptionSection</a:t>
            </a:r>
          </a:p>
          <a:p>
            <a:pPr lvl="0" indent="-342900" marL="342900">
              <a:buAutoNum type="arabicPeriod"/>
            </a:pPr>
            <a:r>
              <a:rPr/>
              <a:t>Gallery (9 images + fullscreen viewer)</a:t>
            </a:r>
          </a:p>
          <a:p>
            <a:pPr lvl="0" indent="-342900" marL="342900">
              <a:buAutoNum type="arabicPeriod"/>
            </a:pPr>
            <a:r>
              <a:rPr/>
              <a:t>Architecture (texte + plan)</a:t>
            </a:r>
          </a:p>
          <a:p>
            <a:pPr lvl="0" indent="-342900" marL="342900">
              <a:buAutoNum type="arabicPeriod"/>
            </a:pPr>
            <a:r>
              <a:rPr/>
              <a:t>Interview (player vidéo)</a:t>
            </a:r>
          </a:p>
          <a:p>
            <a:pPr lvl="0" indent="-342900" marL="342900">
              <a:buAutoNum type="arabicPeriod"/>
            </a:pPr>
            <a:r>
              <a:rPr/>
              <a:t>BlogSection (4 derniers articles)</a:t>
            </a:r>
          </a:p>
          <a:p>
            <a:pPr lvl="0" indent="-342900" marL="342900">
              <a:buAutoNum type="arabicPeriod"/>
            </a:pPr>
            <a:r>
              <a:rPr/>
              <a:t>PartnerSection (carousel)</a:t>
            </a:r>
          </a:p>
          <a:p>
            <a:pPr lvl="0" indent="-342900" marL="342900">
              <a:buAutoNum type="arabicPeriod"/>
            </a:pPr>
            <a:r>
              <a:rPr/>
              <a:t>ContactModal (formulaire)</a:t>
            </a:r>
          </a:p>
          <a:p>
            <a:pPr lvl="0" indent="-342900" marL="342900">
              <a:buAutoNum type="arabicPeriod"/>
            </a:pPr>
            <a:r>
              <a:rPr/>
              <a:t>DonationButton</a:t>
            </a:r>
          </a:p>
          <a:p>
            <a:pPr lvl="0" indent="-342900" marL="342900">
              <a:buAutoNum type="arabicPeriod"/>
            </a:pPr>
            <a:r>
              <a:rPr/>
              <a:t>ErrorMessage</a:t>
            </a:r>
          </a:p>
          <a:p>
            <a:pPr lvl="0" indent="-342900" marL="342900">
              <a:buAutoNum type="arabicPeriod"/>
            </a:pPr>
            <a:r>
              <a:rPr/>
              <a:t>ScrollIndicator</a:t>
            </a:r>
          </a:p>
          <a:p>
            <a:pPr lvl="0" indent="-342900" marL="342900">
              <a:buAutoNum type="arabicPeriod"/>
            </a:pPr>
            <a:r>
              <a:rPr/>
              <a:t>HeaderWrapper</a:t>
            </a:r>
          </a:p>
          <a:p>
            <a:pPr lvl="0" indent="-342900" marL="342900">
              <a:buAutoNum type="arabicPeriod"/>
            </a:pPr>
            <a:r>
              <a:rPr/>
              <a:t>AddressSection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Fonctionnalités Backend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Panel Admin Strapi</a:t>
            </a:r>
          </a:p>
          <a:p>
            <a:pPr lvl="0"/>
            <a:r>
              <a:rPr/>
              <a:t>Authentification JWT</a:t>
            </a:r>
          </a:p>
          <a:p>
            <a:pPr lvl="0"/>
            <a:r>
              <a:rPr/>
              <a:t>Gestion de contenu (7 content-types)</a:t>
            </a:r>
          </a:p>
          <a:p>
            <a:pPr lvl="0"/>
            <a:r>
              <a:rPr/>
              <a:t>Upload médias vers Cloudinary</a:t>
            </a:r>
          </a:p>
          <a:p>
            <a:pPr lvl="0"/>
            <a:r>
              <a:rPr/>
              <a:t>Éditeur rich text (Blocks API)</a:t>
            </a:r>
          </a:p>
          <a:p>
            <a:pPr lvl="0"/>
            <a:r>
              <a:rPr/>
              <a:t>Publication/Dépublication</a:t>
            </a:r>
          </a:p>
          <a:p>
            <a:pPr lvl="0"/>
            <a:r>
              <a:rPr/>
              <a:t>Génération automatique de slugs (articles)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API REST</a:t>
            </a:r>
          </a:p>
          <a:p>
            <a:pPr lvl="0"/>
            <a:r>
              <a:rPr b="1"/>
              <a:t>7 endpoints auto-générés</a:t>
            </a:r>
            <a:r>
              <a:rPr/>
              <a:t> (CRUD)</a:t>
            </a:r>
          </a:p>
          <a:p>
            <a:pPr lvl="0"/>
            <a:r>
              <a:rPr b="1"/>
              <a:t>1 endpoint custom</a:t>
            </a:r>
            <a:r>
              <a:rPr/>
              <a:t> : </a:t>
            </a:r>
            <a:r>
              <a:rPr>
                <a:latin typeface="Courier"/>
              </a:rPr>
              <a:t>/api/email/send</a:t>
            </a:r>
          </a:p>
          <a:p>
            <a:pPr lvl="0"/>
            <a:r>
              <a:rPr/>
              <a:t>CORS configuré (origines autorisées)</a:t>
            </a:r>
          </a:p>
          <a:p>
            <a:pPr lvl="0"/>
            <a:r>
              <a:rPr/>
              <a:t>Rate limiting (5 requêtes/heure sur email)</a:t>
            </a:r>
          </a:p>
          <a:p>
            <a:pPr lvl="0"/>
            <a:r>
              <a:rPr/>
              <a:t>Validation des données (Yup schemas)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Démonstration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Page d’Accueil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Sections visibles</a:t>
            </a:r>
          </a:p>
          <a:p>
            <a:pPr lvl="0"/>
            <a:r>
              <a:rPr/>
              <a:t>Vidéo de fond en autoplay</a:t>
            </a:r>
          </a:p>
          <a:p>
            <a:pPr lvl="0"/>
            <a:r>
              <a:rPr/>
              <a:t>Titre “Église Saint-Jean Baptiste d’Aulès” avec animation reveal</a:t>
            </a:r>
          </a:p>
          <a:p>
            <a:pPr lvl="0"/>
            <a:r>
              <a:rPr/>
              <a:t>Section description avec image de l’église</a:t>
            </a:r>
          </a:p>
          <a:p>
            <a:pPr lvl="0"/>
            <a:r>
              <a:rPr/>
              <a:t>Galerie de 9 photos (scroll horizontal desktop)</a:t>
            </a:r>
          </a:p>
          <a:p>
            <a:pPr lvl="0"/>
            <a:r>
              <a:rPr/>
              <a:t>Plan architectural avec zoom au scroll</a:t>
            </a:r>
          </a:p>
          <a:p>
            <a:pPr lvl="0"/>
            <a:r>
              <a:rPr/>
              <a:t>Interview vidéo</a:t>
            </a:r>
          </a:p>
          <a:p>
            <a:pPr lvl="0"/>
            <a:r>
              <a:rPr/>
              <a:t>4 derniers articles</a:t>
            </a:r>
          </a:p>
          <a:p>
            <a:pPr lvl="0"/>
            <a:r>
              <a:rPr/>
              <a:t>Carousel partenaires</a:t>
            </a:r>
          </a:p>
          <a:p>
            <a:pPr lvl="0"/>
            <a:r>
              <a:rPr/>
              <a:t>Footer 3 colonnes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Page Blog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Fonctionnalités</a:t>
            </a:r>
          </a:p>
          <a:p>
            <a:pPr lvl="0"/>
            <a:r>
              <a:rPr/>
              <a:t>Grille d’articles responsive</a:t>
            </a:r>
          </a:p>
          <a:p>
            <a:pPr lvl="0"/>
            <a:r>
              <a:rPr/>
              <a:t>Chaque card contient :</a:t>
            </a:r>
          </a:p>
          <a:p>
            <a:pPr lvl="1"/>
            <a:r>
              <a:rPr/>
              <a:t>Image optimisée (Next.js Image)</a:t>
            </a:r>
          </a:p>
          <a:p>
            <a:pPr lvl="1"/>
            <a:r>
              <a:rPr/>
              <a:t>Titre de l’article</a:t>
            </a:r>
          </a:p>
          <a:p>
            <a:pPr lvl="1"/>
            <a:r>
              <a:rPr/>
              <a:t>Date de publication</a:t>
            </a:r>
          </a:p>
          <a:p>
            <a:pPr lvl="1"/>
            <a:r>
              <a:rPr/>
              <a:t>Nom de l’auteur</a:t>
            </a:r>
          </a:p>
          <a:p>
            <a:pPr lvl="1"/>
            <a:r>
              <a:rPr/>
              <a:t>Extrait (premiers mots du contenu)</a:t>
            </a:r>
          </a:p>
          <a:p>
            <a:pPr lvl="0"/>
            <a:r>
              <a:rPr/>
              <a:t>Tri automatique par date décroissante</a:t>
            </a:r>
          </a:p>
          <a:p>
            <a:pPr lvl="0"/>
            <a:r>
              <a:rPr/>
              <a:t>Clic sur card → redirection vers article détaillé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Page Article Détaillé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Éléments affichés</a:t>
            </a:r>
          </a:p>
          <a:p>
            <a:pPr lvl="0"/>
            <a:r>
              <a:rPr/>
              <a:t>Image principale en full-width</a:t>
            </a:r>
          </a:p>
          <a:p>
            <a:pPr lvl="0"/>
            <a:r>
              <a:rPr/>
              <a:t>Titre H1</a:t>
            </a:r>
          </a:p>
          <a:p>
            <a:pPr lvl="0"/>
            <a:r>
              <a:rPr/>
              <a:t>Metadata : Date et auteur</a:t>
            </a:r>
          </a:p>
          <a:p>
            <a:pPr lvl="0"/>
            <a:r>
              <a:rPr/>
              <a:t>Contenu rich text avec :</a:t>
            </a:r>
          </a:p>
          <a:p>
            <a:pPr lvl="1"/>
            <a:r>
              <a:rPr/>
              <a:t>Paragraphes</a:t>
            </a:r>
          </a:p>
          <a:p>
            <a:pPr lvl="1"/>
            <a:r>
              <a:rPr/>
              <a:t>Titres H2, H3</a:t>
            </a:r>
          </a:p>
          <a:p>
            <a:pPr lvl="1"/>
            <a:r>
              <a:rPr/>
              <a:t>Listes (ordonnées, non-ordonnées)</a:t>
            </a:r>
          </a:p>
          <a:p>
            <a:pPr lvl="1"/>
            <a:r>
              <a:rPr/>
              <a:t>Images inline</a:t>
            </a:r>
          </a:p>
          <a:p>
            <a:pPr lvl="1"/>
            <a:r>
              <a:rPr/>
              <a:t>Lettrine (première lettre agrandie)</a:t>
            </a:r>
          </a:p>
          <a:p>
            <a:pPr lvl="0"/>
            <a:r>
              <a:rPr/>
              <a:t>Bouton “Retour aux articles”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Formulaire Contact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Flux utilisateur</a:t>
            </a:r>
          </a:p>
          <a:p>
            <a:pPr lvl="0" indent="-342900" marL="342900">
              <a:buAutoNum type="arabicPeriod"/>
            </a:pPr>
            <a:r>
              <a:rPr/>
              <a:t>Clic sur “Devenir partenaire” (page Partners)</a:t>
            </a:r>
          </a:p>
          <a:p>
            <a:pPr lvl="0" indent="-342900" marL="342900">
              <a:buAutoNum type="arabicPeriod"/>
            </a:pPr>
            <a:r>
              <a:rPr/>
              <a:t>Ouverture modal</a:t>
            </a:r>
          </a:p>
          <a:p>
            <a:pPr lvl="0" indent="-342900" marL="342900">
              <a:buAutoNum type="arabicPeriod"/>
            </a:pPr>
            <a:r>
              <a:rPr/>
              <a:t>Remplissage du formulaire (5 champs)</a:t>
            </a:r>
          </a:p>
          <a:p>
            <a:pPr lvl="0" indent="-342900" marL="342900">
              <a:buAutoNum type="arabicPeriod"/>
            </a:pPr>
            <a:r>
              <a:rPr/>
              <a:t>Validation côté client (email valide, champs requis)</a:t>
            </a:r>
          </a:p>
          <a:p>
            <a:pPr lvl="0" indent="-342900" marL="342900">
              <a:buAutoNum type="arabicPeriod"/>
            </a:pPr>
            <a:r>
              <a:rPr/>
              <a:t>Submit → POST </a:t>
            </a:r>
            <a:r>
              <a:rPr>
                <a:latin typeface="Courier"/>
              </a:rPr>
              <a:t>/api/email/send</a:t>
            </a:r>
          </a:p>
          <a:p>
            <a:pPr lvl="0" indent="-342900" marL="342900">
              <a:buAutoNum type="arabicPeriod"/>
            </a:pPr>
            <a:r>
              <a:rPr/>
              <a:t>Email envoyé via Nodemailer (SMTP Gmail)</a:t>
            </a:r>
          </a:p>
          <a:p>
            <a:pPr lvl="0" indent="-342900" marL="342900">
              <a:buAutoNum type="arabicPeriod"/>
            </a:pPr>
            <a:r>
              <a:rPr/>
              <a:t>Message de succès affiché</a:t>
            </a:r>
          </a:p>
          <a:p>
            <a:pPr lvl="0" indent="-342900" marL="342900">
              <a:buAutoNum type="arabicPeriod"/>
            </a:pPr>
            <a:r>
              <a:rPr/>
              <a:t>Fermeture automatique de la modal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Gestion erreurs</a:t>
            </a:r>
          </a:p>
          <a:p>
            <a:pPr lvl="0"/>
            <a:r>
              <a:rPr/>
              <a:t>Champs vides → Message d’erreur</a:t>
            </a:r>
          </a:p>
          <a:p>
            <a:pPr lvl="0"/>
            <a:r>
              <a:rPr/>
              <a:t>Email invalide → “Email invalide”</a:t>
            </a:r>
          </a:p>
          <a:p>
            <a:pPr lvl="0"/>
            <a:r>
              <a:rPr/>
              <a:t>Erreur serveur → “Erreur lors de l’envoi”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Panel Admin Strapi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Actions possibles</a:t>
            </a:r>
          </a:p>
          <a:p>
            <a:pPr lvl="0"/>
            <a:r>
              <a:rPr/>
              <a:t>Login avec email + password (JWT)</a:t>
            </a:r>
          </a:p>
          <a:p>
            <a:pPr lvl="0"/>
            <a:r>
              <a:rPr/>
              <a:t>Créer un nouvel article :</a:t>
            </a:r>
          </a:p>
          <a:p>
            <a:pPr lvl="1"/>
            <a:r>
              <a:rPr/>
              <a:t>Titre, contenu (rich text)</a:t>
            </a:r>
          </a:p>
          <a:p>
            <a:pPr lvl="1"/>
            <a:r>
              <a:rPr/>
              <a:t>Upload image</a:t>
            </a:r>
          </a:p>
          <a:p>
            <a:pPr lvl="1"/>
            <a:r>
              <a:rPr/>
              <a:t>Auteur, date de publication</a:t>
            </a:r>
          </a:p>
          <a:p>
            <a:pPr lvl="1"/>
            <a:r>
              <a:rPr/>
              <a:t>Génération automatique du slug</a:t>
            </a:r>
          </a:p>
          <a:p>
            <a:pPr lvl="0"/>
            <a:r>
              <a:rPr/>
              <a:t>Modifier les paramètres du site :</a:t>
            </a:r>
          </a:p>
          <a:p>
            <a:pPr lvl="1"/>
            <a:r>
              <a:rPr/>
              <a:t>Logos (header, footer)</a:t>
            </a:r>
          </a:p>
          <a:p>
            <a:pPr lvl="1"/>
            <a:r>
              <a:rPr/>
              <a:t>Réseaux sociaux (JSON)</a:t>
            </a:r>
          </a:p>
          <a:p>
            <a:pPr lvl="1"/>
            <a:r>
              <a:rPr/>
              <a:t>URL de don</a:t>
            </a:r>
          </a:p>
          <a:p>
            <a:pPr lvl="1"/>
            <a:r>
              <a:rPr/>
              <a:t>Localisation</a:t>
            </a:r>
          </a:p>
          <a:p>
            <a:pPr lvl="0"/>
            <a:r>
              <a:rPr/>
              <a:t>Ajouter un partenaire (logo + URL)</a:t>
            </a:r>
          </a:p>
          <a:p>
            <a:pPr lvl="0"/>
            <a:r>
              <a:rPr/>
              <a:t>Uploader des images église (galerie)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Résultats et Perspectives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Résultats Obtenus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Performance Lighthouse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Desktop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Objectif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88-92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88-92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Practices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90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</a:t>
            </a:r>
            <a:r>
              <a:rPr/>
              <a:t> : Performance mobile à améliorer (compression vidéo)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Tests Réalisés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Statistiques</a:t>
            </a:r>
          </a:p>
          <a:p>
            <a:pPr lvl="0"/>
            <a:r>
              <a:rPr b="1"/>
              <a:t>99 cas de test</a:t>
            </a:r>
            <a:r>
              <a:rPr/>
              <a:t> réalisés</a:t>
            </a:r>
          </a:p>
          <a:p>
            <a:pPr lvl="0"/>
            <a:r>
              <a:rPr b="1"/>
              <a:t>98 réussis</a:t>
            </a:r>
            <a:r>
              <a:rPr/>
              <a:t> (99% de succès)</a:t>
            </a:r>
          </a:p>
          <a:p>
            <a:pPr lvl="0"/>
            <a:r>
              <a:rPr b="1"/>
              <a:t>1 amélioration mineure</a:t>
            </a:r>
            <a:r>
              <a:rPr/>
              <a:t> (compression vidéo mobile)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Types de tests</a:t>
            </a:r>
          </a:p>
          <a:p>
            <a:pPr lvl="0"/>
            <a:r>
              <a:rPr/>
              <a:t>Tests fonctionnels frontend (42 tests)</a:t>
            </a:r>
          </a:p>
          <a:p>
            <a:pPr lvl="0"/>
            <a:r>
              <a:rPr/>
              <a:t>Tests API backend (18 tests)</a:t>
            </a:r>
          </a:p>
          <a:p>
            <a:pPr lvl="0"/>
            <a:r>
              <a:rPr/>
              <a:t>Tests de performance (8 tests)</a:t>
            </a:r>
          </a:p>
          <a:p>
            <a:pPr lvl="0"/>
            <a:r>
              <a:rPr/>
              <a:t>Tests d’accessibilité (9 tests)</a:t>
            </a:r>
          </a:p>
          <a:p>
            <a:pPr lvl="0"/>
            <a:r>
              <a:rPr/>
              <a:t>Tests de sécurité (6 tests)</a:t>
            </a:r>
          </a:p>
          <a:p>
            <a:pPr lvl="0"/>
            <a:r>
              <a:rPr/>
              <a:t>Tests de compatibilité (16 tests)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Objectifs Atteints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Fonctionnels</a:t>
            </a:r>
          </a:p>
          <a:p>
            <a:pPr lvl="0"/>
            <a:r>
              <a:rPr/>
              <a:t>✅ Toutes les pages accessibles et fonctionnelles</a:t>
            </a:r>
          </a:p>
          <a:p>
            <a:pPr lvl="0"/>
            <a:r>
              <a:rPr/>
              <a:t>✅ Formulaire de contact opérationnel (emails envoyés)</a:t>
            </a:r>
          </a:p>
          <a:p>
            <a:pPr lvl="0"/>
            <a:r>
              <a:rPr/>
              <a:t>✅ Galerie responsive sur tous devices</a:t>
            </a:r>
          </a:p>
          <a:p>
            <a:pPr lvl="0"/>
            <a:r>
              <a:rPr/>
              <a:t>✅ Animations fluides (60fps)</a:t>
            </a:r>
          </a:p>
          <a:p>
            <a:pPr lvl="0"/>
            <a:r>
              <a:rPr/>
              <a:t>✅ SEO optimisé (meta tags, sitemap)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Techniques</a:t>
            </a:r>
          </a:p>
          <a:p>
            <a:pPr lvl="0"/>
            <a:r>
              <a:rPr/>
              <a:t>✅ Score Lighthouse &gt; 85 (desktop)</a:t>
            </a:r>
          </a:p>
          <a:p>
            <a:pPr lvl="0"/>
            <a:r>
              <a:rPr/>
              <a:t>✅ Responsive (mobile, tablet, desktop)</a:t>
            </a:r>
          </a:p>
          <a:p>
            <a:pPr lvl="0"/>
            <a:r>
              <a:rPr/>
              <a:t>✅ Compatible navigateurs modernes</a:t>
            </a:r>
          </a:p>
          <a:p>
            <a:pPr lvl="0"/>
            <a:r>
              <a:rPr/>
              <a:t>✅ API sécurisée (CORS, JWT, validation)</a:t>
            </a:r>
          </a:p>
          <a:p>
            <a:pPr lvl="0"/>
            <a:r>
              <a:rPr/>
              <a:t>✅ Base de données optimisée (index)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Perspectives d’Évolution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Court terme (1-3 mois)</a:t>
            </a:r>
          </a:p>
          <a:p>
            <a:pPr lvl="0"/>
            <a:r>
              <a:rPr/>
              <a:t>Compresser vidéo de fond (améliorer perf mobile)</a:t>
            </a:r>
          </a:p>
          <a:p>
            <a:pPr lvl="0"/>
            <a:r>
              <a:rPr/>
              <a:t>Ajouter monitoring (Sentry pour erreurs)</a:t>
            </a:r>
          </a:p>
          <a:p>
            <a:pPr lvl="0"/>
            <a:r>
              <a:rPr/>
              <a:t>Analytics (Plausible ou Google Analytics)</a:t>
            </a:r>
          </a:p>
          <a:p>
            <a:pPr lvl="0"/>
            <a:r>
              <a:rPr/>
              <a:t>Backups automatiques PostgreSQL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Moyen terme (3-6 mois)</a:t>
            </a:r>
          </a:p>
          <a:p>
            <a:pPr lvl="0"/>
            <a:r>
              <a:rPr/>
              <a:t>Système de commentaires sur articles</a:t>
            </a:r>
          </a:p>
          <a:p>
            <a:pPr lvl="0"/>
            <a:r>
              <a:rPr/>
              <a:t>Newsletter (Mailchimp/Sendinblue)</a:t>
            </a:r>
          </a:p>
          <a:p>
            <a:pPr lvl="0"/>
            <a:r>
              <a:rPr/>
              <a:t>Événements à venir (nouveau content-type)</a:t>
            </a:r>
          </a:p>
          <a:p>
            <a:pPr lvl="0"/>
            <a:r>
              <a:rPr/>
              <a:t>Galerie filtrable par années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Long terme (6-12 mois)</a:t>
            </a:r>
          </a:p>
          <a:p>
            <a:pPr lvl="0"/>
            <a:r>
              <a:rPr/>
              <a:t>Progressive Web App (PWA)</a:t>
            </a:r>
          </a:p>
          <a:p>
            <a:pPr lvl="0"/>
            <a:r>
              <a:rPr/>
              <a:t>Mode hors-ligne (Service Workers)</a:t>
            </a:r>
          </a:p>
          <a:p>
            <a:pPr lvl="0"/>
            <a:r>
              <a:rPr/>
              <a:t>Multilingue (i18n - Français/Anglais)</a:t>
            </a:r>
          </a:p>
          <a:p>
            <a:pPr lvl="0"/>
            <a:r>
              <a:rPr/>
              <a:t>Dashboard analytics pour admin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Améliorations techniques</a:t>
            </a:r>
          </a:p>
          <a:p>
            <a:pPr lvl="0"/>
            <a:r>
              <a:rPr/>
              <a:t>Migration vers Bun.js (runtime plus rapide)</a:t>
            </a:r>
          </a:p>
          <a:p>
            <a:pPr lvl="0"/>
            <a:r>
              <a:rPr/>
              <a:t>Ajout cache Redis</a:t>
            </a:r>
          </a:p>
          <a:p>
            <a:pPr lvl="0"/>
            <a:r>
              <a:rPr/>
              <a:t>WebSockets pour notifications temps réel</a:t>
            </a:r>
          </a:p>
          <a:p>
            <a:pPr lvl="0"/>
            <a:r>
              <a:rPr/>
              <a:t>Tests E2E automatisés (Playwright)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Compétences Acquises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Compétences Techniques - Frontend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Frameworks et bibliothèques</a:t>
            </a:r>
          </a:p>
          <a:p>
            <a:pPr lvl="0"/>
            <a:r>
              <a:rPr/>
              <a:t>✅ </a:t>
            </a:r>
            <a:r>
              <a:rPr b="1"/>
              <a:t>Next.js 15</a:t>
            </a:r>
            <a:r>
              <a:rPr/>
              <a:t> (App Router, SSR/SSG, Image optimization)</a:t>
            </a:r>
          </a:p>
          <a:p>
            <a:pPr lvl="0"/>
            <a:r>
              <a:rPr/>
              <a:t>✅ </a:t>
            </a:r>
            <a:r>
              <a:rPr b="1"/>
              <a:t>React 19</a:t>
            </a:r>
            <a:r>
              <a:rPr/>
              <a:t> (Hooks, Context API, Server Components)</a:t>
            </a:r>
          </a:p>
          <a:p>
            <a:pPr lvl="0"/>
            <a:r>
              <a:rPr/>
              <a:t>✅ </a:t>
            </a:r>
            <a:r>
              <a:rPr b="1"/>
              <a:t>Tailwind CSS</a:t>
            </a:r>
            <a:r>
              <a:rPr/>
              <a:t> (Utility-first, responsive design)</a:t>
            </a:r>
          </a:p>
          <a:p>
            <a:pPr lvl="0"/>
            <a:r>
              <a:rPr/>
              <a:t>✅ </a:t>
            </a:r>
            <a:r>
              <a:rPr b="1"/>
              <a:t>GSAP</a:t>
            </a:r>
            <a:r>
              <a:rPr/>
              <a:t> (Timeline, ScrollTrigger, animations complexes)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Bonnes pratiques</a:t>
            </a:r>
          </a:p>
          <a:p>
            <a:pPr lvl="0"/>
            <a:r>
              <a:rPr/>
              <a:t>✅ Responsive Design (Mobile-first)</a:t>
            </a:r>
          </a:p>
          <a:p>
            <a:pPr lvl="0"/>
            <a:r>
              <a:rPr/>
              <a:t>✅ Optimisation images (WebP, lazy load)</a:t>
            </a:r>
          </a:p>
          <a:p>
            <a:pPr lvl="0"/>
            <a:r>
              <a:rPr/>
              <a:t>✅ Accessibilité (WCAG AA, contraste, alt text)</a:t>
            </a:r>
          </a:p>
          <a:p>
            <a:pPr lvl="0"/>
            <a:r>
              <a:rPr/>
              <a:t>✅ SEO (meta tags, generateMetadata, sitemap)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Compétences Techniques - Backend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Technologies</a:t>
            </a:r>
          </a:p>
          <a:p>
            <a:pPr lvl="0"/>
            <a:r>
              <a:rPr/>
              <a:t>✅ </a:t>
            </a:r>
            <a:r>
              <a:rPr b="1"/>
              <a:t>Strapi v5</a:t>
            </a:r>
            <a:r>
              <a:rPr/>
              <a:t> (Headless CMS, Content-Types, Blocks API)</a:t>
            </a:r>
          </a:p>
          <a:p>
            <a:pPr lvl="0"/>
            <a:r>
              <a:rPr/>
              <a:t>✅ </a:t>
            </a:r>
            <a:r>
              <a:rPr b="1"/>
              <a:t>TypeScript</a:t>
            </a:r>
            <a:r>
              <a:rPr/>
              <a:t> (Type safety, interfaces, types)</a:t>
            </a:r>
          </a:p>
          <a:p>
            <a:pPr lvl="0"/>
            <a:r>
              <a:rPr/>
              <a:t>✅ </a:t>
            </a:r>
            <a:r>
              <a:rPr b="1"/>
              <a:t>PostgreSQL</a:t>
            </a:r>
            <a:r>
              <a:rPr/>
              <a:t> (Relations, JSONB, index, vues)</a:t>
            </a:r>
          </a:p>
          <a:p>
            <a:pPr lvl="0"/>
            <a:r>
              <a:rPr/>
              <a:t>✅ </a:t>
            </a:r>
            <a:r>
              <a:rPr b="1"/>
              <a:t>API REST</a:t>
            </a:r>
            <a:r>
              <a:rPr/>
              <a:t> (CRUD, endpoints personnalisés)</a:t>
            </a:r>
          </a:p>
          <a:p>
            <a:pPr lvl="0"/>
            <a:r>
              <a:rPr/>
              <a:t>✅ </a:t>
            </a:r>
            <a:r>
              <a:rPr b="1"/>
              <a:t>Nodemailer</a:t>
            </a:r>
            <a:r>
              <a:rPr/>
              <a:t> (SMTP, envoi emails)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Architecture</a:t>
            </a:r>
          </a:p>
          <a:p>
            <a:pPr lvl="0"/>
            <a:r>
              <a:rPr/>
              <a:t>✅ MVC pattern (Controllers, Services, Models)</a:t>
            </a:r>
          </a:p>
          <a:p>
            <a:pPr lvl="0"/>
            <a:r>
              <a:rPr/>
              <a:t>✅ ORM (Knex.js, requêtes optimisées)</a:t>
            </a:r>
          </a:p>
          <a:p>
            <a:pPr lvl="0"/>
            <a:r>
              <a:rPr/>
              <a:t>✅ Sécurité (CORS, JWT, validation, sanitization)</a:t>
            </a:r>
          </a:p>
          <a:p>
            <a:pPr lvl="0"/>
            <a:r>
              <a:rPr/>
              <a:t>✅ Upload médias (Cloudinary, CDN)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Compétences DevOps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Déploiement et outils</a:t>
            </a:r>
          </a:p>
          <a:p>
            <a:pPr lvl="0"/>
            <a:r>
              <a:rPr/>
              <a:t>✅ </a:t>
            </a:r>
            <a:r>
              <a:rPr b="1"/>
              <a:t>Git/GitHub</a:t>
            </a:r>
            <a:r>
              <a:rPr/>
              <a:t> (Versioning, commits, branches)</a:t>
            </a:r>
          </a:p>
          <a:p>
            <a:pPr lvl="0"/>
            <a:r>
              <a:rPr/>
              <a:t>✅ </a:t>
            </a:r>
            <a:r>
              <a:rPr b="1"/>
              <a:t>Vercel</a:t>
            </a:r>
            <a:r>
              <a:rPr/>
              <a:t> (Déploiement frontend automatique)</a:t>
            </a:r>
          </a:p>
          <a:p>
            <a:pPr lvl="0"/>
            <a:r>
              <a:rPr/>
              <a:t>✅ </a:t>
            </a:r>
            <a:r>
              <a:rPr b="1"/>
              <a:t>Railway</a:t>
            </a:r>
            <a:r>
              <a:rPr/>
              <a:t> (Déploiement backend + PostgreSQL)</a:t>
            </a:r>
          </a:p>
          <a:p>
            <a:pPr lvl="0"/>
            <a:r>
              <a:rPr/>
              <a:t>✅ </a:t>
            </a:r>
            <a:r>
              <a:rPr b="1"/>
              <a:t>Cloudinary</a:t>
            </a:r>
            <a:r>
              <a:rPr/>
              <a:t> (CDN, optimisation médias)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Tests et qualité</a:t>
            </a:r>
          </a:p>
          <a:p>
            <a:pPr lvl="0"/>
            <a:r>
              <a:rPr/>
              <a:t>✅ Tests manuels (99 cas de test)</a:t>
            </a:r>
          </a:p>
          <a:p>
            <a:pPr lvl="0"/>
            <a:r>
              <a:rPr/>
              <a:t>✅ Lighthouse (Performance, SEO)</a:t>
            </a:r>
          </a:p>
          <a:p>
            <a:pPr lvl="0"/>
            <a:r>
              <a:rPr/>
              <a:t>✅ Postman (Tests API)</a:t>
            </a:r>
          </a:p>
          <a:p>
            <a:pPr lvl="0"/>
            <a:r>
              <a:rPr/>
              <a:t>✅ WAVE (Accessibilité)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Compétences Méthodologiques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Gestion de projet</a:t>
            </a:r>
          </a:p>
          <a:p>
            <a:pPr lvl="0"/>
            <a:r>
              <a:rPr/>
              <a:t>✅ </a:t>
            </a:r>
            <a:r>
              <a:rPr b="1"/>
              <a:t>Agile/Scrum</a:t>
            </a:r>
            <a:r>
              <a:rPr/>
              <a:t> (User stories, sprints, backlog)</a:t>
            </a:r>
          </a:p>
          <a:p>
            <a:pPr lvl="0"/>
            <a:r>
              <a:rPr/>
              <a:t>✅ </a:t>
            </a:r>
            <a:r>
              <a:rPr b="1"/>
              <a:t>Priorisation</a:t>
            </a:r>
            <a:r>
              <a:rPr/>
              <a:t> (P0, P1, P2)</a:t>
            </a:r>
          </a:p>
          <a:p>
            <a:pPr lvl="0"/>
            <a:r>
              <a:rPr/>
              <a:t>✅ </a:t>
            </a:r>
            <a:r>
              <a:rPr b="1"/>
              <a:t>Planification</a:t>
            </a:r>
            <a:r>
              <a:rPr/>
              <a:t> (8 semaines, 5 phases)</a:t>
            </a:r>
          </a:p>
          <a:p>
            <a:pPr lvl="0"/>
            <a:r>
              <a:rPr/>
              <a:t>✅ </a:t>
            </a:r>
            <a:r>
              <a:rPr b="1"/>
              <a:t>Suivi</a:t>
            </a:r>
            <a:r>
              <a:rPr/>
              <a:t> (Todo list, statuts)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</a:t>
            </a:r>
          </a:p>
          <a:p>
            <a:pPr lvl="0"/>
            <a:r>
              <a:rPr/>
              <a:t>✅ </a:t>
            </a:r>
            <a:r>
              <a:rPr b="1"/>
              <a:t>8 fichiers</a:t>
            </a:r>
            <a:r>
              <a:rPr/>
              <a:t> de documentation (100+ pages)</a:t>
            </a:r>
          </a:p>
          <a:p>
            <a:pPr lvl="0"/>
            <a:r>
              <a:rPr/>
              <a:t>✅ Cahier des charges complet</a:t>
            </a:r>
          </a:p>
          <a:p>
            <a:pPr lvl="0"/>
            <a:r>
              <a:rPr/>
              <a:t>✅ 27 User stories avec critères d’acceptation</a:t>
            </a:r>
          </a:p>
          <a:p>
            <a:pPr lvl="0"/>
            <a:r>
              <a:rPr/>
              <a:t>✅ Diagrammes (ERD, séquence, architecture)</a:t>
            </a:r>
          </a:p>
          <a:p>
            <a:pPr lvl="0"/>
            <a:r>
              <a:rPr/>
              <a:t>✅ Plan de tests détaillé</a:t>
            </a:r>
          </a:p>
          <a:p>
            <a:pPr lvl="0"/>
            <a:r>
              <a:rPr/>
              <a:t>✅ Documentation API (endpoints, exemples)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Soft Skills Développées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Organisation et autonomie</a:t>
            </a:r>
          </a:p>
          <a:p>
            <a:pPr lvl="0"/>
            <a:r>
              <a:rPr/>
              <a:t>Gestion de projet sur 8 semaines en autonomie</a:t>
            </a:r>
          </a:p>
          <a:p>
            <a:pPr lvl="0"/>
            <a:r>
              <a:rPr/>
              <a:t>Respect des deadlines</a:t>
            </a:r>
          </a:p>
          <a:p>
            <a:pPr lvl="0"/>
            <a:r>
              <a:rPr/>
              <a:t>Priorisation des tâches critiques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Communication</a:t>
            </a:r>
          </a:p>
          <a:p>
            <a:pPr lvl="0"/>
            <a:r>
              <a:rPr/>
              <a:t>Rédaction de documentation technique claire</a:t>
            </a:r>
          </a:p>
          <a:p>
            <a:pPr lvl="0"/>
            <a:r>
              <a:rPr/>
              <a:t>Présentation au client (association)</a:t>
            </a:r>
          </a:p>
          <a:p>
            <a:pPr lvl="0"/>
            <a:r>
              <a:rPr/>
              <a:t>Échanges avec formateurs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Résolution de problèmes</a:t>
            </a:r>
          </a:p>
          <a:p>
            <a:pPr lvl="0"/>
            <a:r>
              <a:rPr/>
              <a:t>Debugging (React, Strapi, PostgreSQL)</a:t>
            </a:r>
          </a:p>
          <a:p>
            <a:pPr lvl="0"/>
            <a:r>
              <a:rPr/>
              <a:t>Optimisation performance (Lighthouse)</a:t>
            </a:r>
          </a:p>
          <a:p>
            <a:pPr lvl="0"/>
            <a:r>
              <a:rPr/>
              <a:t>Gestion des erreurs (try/catch, validation)</a:t>
            </a:r>
          </a:p>
          <a:p>
            <a:pPr lvl="0"/>
            <a:r>
              <a:rPr/>
              <a:t>Recherche de solutions (documentation, Stack Overflow)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Conclusion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Bilan du Projet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Réussites</a:t>
            </a:r>
          </a:p>
          <a:p>
            <a:pPr lvl="0"/>
            <a:r>
              <a:rPr/>
              <a:t>✅ </a:t>
            </a:r>
            <a:r>
              <a:rPr b="1"/>
              <a:t>100% des fonctionnalités critiques</a:t>
            </a:r>
            <a:r>
              <a:rPr/>
              <a:t> développées</a:t>
            </a:r>
          </a:p>
          <a:p>
            <a:pPr lvl="0"/>
            <a:r>
              <a:rPr/>
              <a:t>✅ </a:t>
            </a:r>
            <a:r>
              <a:rPr b="1"/>
              <a:t>99% de tests réussis</a:t>
            </a:r>
            <a:r>
              <a:rPr/>
              <a:t> (98/99)</a:t>
            </a:r>
          </a:p>
          <a:p>
            <a:pPr lvl="0"/>
            <a:r>
              <a:rPr/>
              <a:t>✅ </a:t>
            </a:r>
            <a:r>
              <a:rPr b="1"/>
              <a:t>Performance excellente</a:t>
            </a:r>
            <a:r>
              <a:rPr/>
              <a:t> (Lighthouse &gt; 85 desktop)</a:t>
            </a:r>
          </a:p>
          <a:p>
            <a:pPr lvl="0"/>
            <a:r>
              <a:rPr/>
              <a:t>✅ </a:t>
            </a:r>
            <a:r>
              <a:rPr b="1"/>
              <a:t>Documentation complète</a:t>
            </a:r>
            <a:r>
              <a:rPr/>
              <a:t> (8 fichiers, 100 pages)</a:t>
            </a:r>
          </a:p>
          <a:p>
            <a:pPr lvl="0"/>
            <a:r>
              <a:rPr/>
              <a:t>✅ </a:t>
            </a:r>
            <a:r>
              <a:rPr b="1"/>
              <a:t>Compétences CCP1 + CCP2</a:t>
            </a:r>
            <a:r>
              <a:rPr/>
              <a:t> validées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Difficultés rencontrées et solutions</a:t>
            </a:r>
          </a:p>
          <a:p>
            <a:pPr lvl="0"/>
            <a:r>
              <a:rPr/>
              <a:t>⚠️ Performance mobile (vidéo lourde) → Solution : compression en cours</a:t>
            </a:r>
          </a:p>
          <a:p>
            <a:pPr lvl="0"/>
            <a:r>
              <a:rPr/>
              <a:t>⚠️ Strapi v5 (nouvelle version) → Documentation officielle + forums</a:t>
            </a:r>
          </a:p>
          <a:p>
            <a:pPr lvl="0"/>
            <a:r>
              <a:rPr/>
              <a:t>⚠️ GSAP ScrollTrigger (courbe d’apprentissage) → Tutoriels online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Apports personnels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Sur le plan technique</a:t>
            </a:r>
          </a:p>
          <a:p>
            <a:pPr lvl="0"/>
            <a:r>
              <a:rPr/>
              <a:t>Maîtrise complète de Next.js 15 (App Router)</a:t>
            </a:r>
          </a:p>
          <a:p>
            <a:pPr lvl="0"/>
            <a:r>
              <a:rPr/>
              <a:t>Découverte de Strapi v5 (Headless CMS)</a:t>
            </a:r>
          </a:p>
          <a:p>
            <a:pPr lvl="0"/>
            <a:r>
              <a:rPr/>
              <a:t>Approfondissement PostgreSQL (relations complexes)</a:t>
            </a:r>
          </a:p>
          <a:p>
            <a:pPr lvl="0"/>
            <a:r>
              <a:rPr/>
              <a:t>Expertise animations GSAP (ScrollTrigger)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Sur le plan professionnel</a:t>
            </a:r>
          </a:p>
          <a:p>
            <a:pPr lvl="0"/>
            <a:r>
              <a:rPr/>
              <a:t>Capacité à gérer un projet complet de A à Z</a:t>
            </a:r>
          </a:p>
          <a:p>
            <a:pPr lvl="0"/>
            <a:r>
              <a:rPr/>
              <a:t>Autonomie dans la recherche de solutions</a:t>
            </a:r>
          </a:p>
          <a:p>
            <a:pPr lvl="0"/>
            <a:r>
              <a:rPr/>
              <a:t>Documentation rigoureuse</a:t>
            </a:r>
          </a:p>
          <a:p>
            <a:pPr lvl="0"/>
            <a:r>
              <a:rPr/>
              <a:t>Vision globale (frontend + backend + déploiement)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Remerciements</a:t>
            </a:r>
          </a:p>
          <a:p>
            <a:pPr lvl="0"/>
            <a:r>
              <a:rPr b="1"/>
              <a:t>Association Patrimoine de Doazit</a:t>
            </a:r>
            <a:r>
              <a:rPr/>
              <a:t> pour la confiance accordée</a:t>
            </a:r>
          </a:p>
          <a:p>
            <a:pPr lvl="0"/>
            <a:r>
              <a:rPr b="1"/>
              <a:t>Formateurs TP DWWM</a:t>
            </a:r>
            <a:r>
              <a:rPr/>
              <a:t> pour l’accompagnement et les conseils</a:t>
            </a:r>
          </a:p>
          <a:p>
            <a:pPr lvl="0"/>
            <a:r>
              <a:rPr b="1"/>
              <a:t>Communauté open-source</a:t>
            </a:r>
            <a:r>
              <a:rPr/>
              <a:t> (Next.js, Strapi, GSAP, Tailwind)</a:t>
            </a:r>
          </a:p>
          <a:p>
            <a:pPr lvl="0"/>
            <a:r>
              <a:rPr b="1"/>
              <a:t>Ressources en ligne</a:t>
            </a:r>
            <a:r>
              <a:rPr/>
              <a:t> (Documentation, Stack Overflow, YouTube)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Philippe Barbosa</a:t>
            </a:r>
            <a:br/>
            <a:r>
              <a:rPr/>
              <a:t>Développeur Web et Web Mobile</a:t>
            </a:r>
          </a:p>
          <a:p>
            <a:pPr lvl="0" indent="0" marL="0">
              <a:buNone/>
            </a:pPr>
            <a:r>
              <a:rPr/>
              <a:t>📧 Email : philippe.barbosa@example.com</a:t>
            </a:r>
            <a:br/>
            <a:r>
              <a:rPr/>
              <a:t>🔗 GitHub : github.com/Vince-ALIEN/apd</a:t>
            </a:r>
            <a:br/>
            <a:r>
              <a:rPr/>
              <a:t>💼 LinkedIn : linkedin.com/in/philippe-barbosa</a:t>
            </a:r>
          </a:p>
          <a:p>
            <a:pPr lvl="0" indent="0" marL="0">
              <a:buNone/>
            </a:pPr>
            <a:r>
              <a:rPr b="1"/>
              <a:t>Merci de votre attention !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Annexes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Statistiques du Projet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développé</a:t>
            </a:r>
          </a:p>
          <a:p>
            <a:pPr lvl="0"/>
            <a:r>
              <a:rPr b="1"/>
              <a:t>Lignes de code</a:t>
            </a:r>
            <a:r>
              <a:rPr/>
              <a:t> : ~15 000 (frontend + backend)</a:t>
            </a:r>
          </a:p>
          <a:p>
            <a:pPr lvl="0"/>
            <a:r>
              <a:rPr b="1"/>
              <a:t>Composants React</a:t>
            </a:r>
            <a:r>
              <a:rPr/>
              <a:t> : 16</a:t>
            </a:r>
          </a:p>
          <a:p>
            <a:pPr lvl="0"/>
            <a:r>
              <a:rPr b="1"/>
              <a:t>Pages Next.js</a:t>
            </a:r>
            <a:r>
              <a:rPr/>
              <a:t> : 5 principales</a:t>
            </a:r>
          </a:p>
          <a:p>
            <a:pPr lvl="0"/>
            <a:r>
              <a:rPr b="1"/>
              <a:t>Endpoints API</a:t>
            </a:r>
            <a:r>
              <a:rPr/>
              <a:t> : 8 (7 auto + 1 custom)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Base de données</a:t>
            </a:r>
          </a:p>
          <a:p>
            <a:pPr lvl="0"/>
            <a:r>
              <a:rPr b="1"/>
              <a:t>Tables</a:t>
            </a:r>
            <a:r>
              <a:rPr/>
              <a:t> : 8 principales + 11 tables de liaison</a:t>
            </a:r>
          </a:p>
          <a:p>
            <a:pPr lvl="0"/>
            <a:r>
              <a:rPr b="1"/>
              <a:t>Content-Types Strapi</a:t>
            </a:r>
            <a:r>
              <a:rPr/>
              <a:t> : 7</a:t>
            </a:r>
          </a:p>
          <a:p>
            <a:pPr lvl="0"/>
            <a:r>
              <a:rPr b="1"/>
              <a:t>Champs total</a:t>
            </a:r>
            <a:r>
              <a:rPr/>
              <a:t> : ~60</a:t>
            </a:r>
          </a:p>
          <a:p>
            <a:pPr lvl="0"/>
            <a:r>
              <a:rPr b="1"/>
              <a:t>Index</a:t>
            </a:r>
            <a:r>
              <a:rPr/>
              <a:t> : 12 index optimisés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 Complète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Fichiers créés (8 fichiers, ~100 pages)</a:t>
            </a:r>
          </a:p>
          <a:p>
            <a:pPr lvl="0" indent="-342900" marL="342900">
              <a:buAutoNum type="arabicPeriod"/>
            </a:pPr>
            <a:r>
              <a:rPr b="1"/>
              <a:t>MODELE_DONNEES.md</a:t>
            </a:r>
            <a:r>
              <a:rPr/>
              <a:t> - Schéma base de données + ERD</a:t>
            </a:r>
          </a:p>
          <a:p>
            <a:pPr lvl="0" indent="-342900" marL="342900">
              <a:buAutoNum type="arabicPeriod"/>
            </a:pPr>
            <a:r>
              <a:rPr b="1"/>
              <a:t>CAHIER_DES_CHARGES.md</a:t>
            </a:r>
            <a:r>
              <a:rPr/>
              <a:t> - Spécifications complètes</a:t>
            </a:r>
          </a:p>
          <a:p>
            <a:pPr lvl="0" indent="-342900" marL="342900">
              <a:buAutoNum type="arabicPeriod"/>
            </a:pPr>
            <a:r>
              <a:rPr b="1"/>
              <a:t>USER_STORIES.md</a:t>
            </a:r>
            <a:r>
              <a:rPr/>
              <a:t> - 27 user stories détaillées</a:t>
            </a:r>
          </a:p>
          <a:p>
            <a:pPr lvl="0" indent="-342900" marL="342900">
              <a:buAutoNum type="arabicPeriod"/>
            </a:pPr>
            <a:r>
              <a:rPr b="1"/>
              <a:t>API_DOCUMENTATION.md</a:t>
            </a:r>
            <a:r>
              <a:rPr/>
              <a:t> - Documentation API REST</a:t>
            </a:r>
          </a:p>
          <a:p>
            <a:pPr lvl="0" indent="-342900" marL="342900">
              <a:buAutoNum type="arabicPeriod"/>
            </a:pPr>
            <a:r>
              <a:rPr b="1"/>
              <a:t>PLAN_TESTS.md</a:t>
            </a:r>
            <a:r>
              <a:rPr/>
              <a:t> - 99 cas de test</a:t>
            </a:r>
          </a:p>
          <a:p>
            <a:pPr lvl="0" indent="-342900" marL="342900">
              <a:buAutoNum type="arabicPeriod"/>
            </a:pPr>
            <a:r>
              <a:rPr b="1"/>
              <a:t>database.sql</a:t>
            </a:r>
            <a:r>
              <a:rPr/>
              <a:t> - Scripts SQL (création + seed)</a:t>
            </a:r>
          </a:p>
          <a:p>
            <a:pPr lvl="0" indent="-342900" marL="342900">
              <a:buAutoNum type="arabicPeriod"/>
            </a:pPr>
            <a:r>
              <a:rPr b="1"/>
              <a:t>ARCHITECTURE.md</a:t>
            </a:r>
            <a:r>
              <a:rPr/>
              <a:t> - Diagrammes + flux</a:t>
            </a:r>
          </a:p>
          <a:p>
            <a:pPr lvl="0" indent="-342900" marL="342900">
              <a:buAutoNum type="arabicPeriod"/>
            </a:pPr>
            <a:r>
              <a:rPr b="1"/>
              <a:t>DESIGN_SYSTEM.md</a:t>
            </a:r>
            <a:r>
              <a:rPr/>
              <a:t> - Guidelines UI/UX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Diagrammes</a:t>
            </a:r>
          </a:p>
          <a:p>
            <a:pPr lvl="0"/>
            <a:r>
              <a:rPr/>
              <a:t>12 diagrammes Mermaid (ERD, séquence, composants)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Technologies - Récapitulatif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Frontend</a:t>
            </a:r>
          </a:p>
          <a:p>
            <a:pPr lvl="0"/>
            <a:r>
              <a:rPr/>
              <a:t>Next.js 15.5.3, React 19.1.0, Tailwind CSS 4</a:t>
            </a:r>
          </a:p>
          <a:p>
            <a:pPr lvl="0"/>
            <a:r>
              <a:rPr/>
              <a:t>GSAP 3.13.0, Lucide React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Backend</a:t>
            </a:r>
          </a:p>
          <a:p>
            <a:pPr lvl="0"/>
            <a:r>
              <a:rPr/>
              <a:t>Strapi v5.30.0, Node.js 20.19.5, TypeScript 5.x</a:t>
            </a:r>
          </a:p>
          <a:p>
            <a:pPr lvl="0"/>
            <a:r>
              <a:rPr/>
              <a:t>PostgreSQL 14+, Nodemailer 7.0.9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Services</a:t>
            </a:r>
          </a:p>
          <a:p>
            <a:pPr lvl="0"/>
            <a:r>
              <a:rPr/>
              <a:t>Vercel (frontend), Railway (backend)</a:t>
            </a:r>
          </a:p>
          <a:p>
            <a:pPr lvl="0"/>
            <a:r>
              <a:rPr/>
              <a:t>Cloudinary (CDN médias)</a:t>
            </a:r>
          </a:p>
          <a:p>
            <a:pPr lvl="0"/>
            <a:r>
              <a:rPr/>
              <a:t>Gmail SMTP (emails)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Outils</a:t>
            </a:r>
          </a:p>
          <a:p>
            <a:pPr lvl="0"/>
            <a:r>
              <a:rPr/>
              <a:t>Git/GitHub, VS Code, Postman, Lighthouse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Liens Utiles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 projet</a:t>
            </a:r>
          </a:p>
          <a:p>
            <a:pPr lvl="0"/>
            <a:r>
              <a:rPr/>
              <a:t>Cahier des charges</a:t>
            </a:r>
          </a:p>
          <a:p>
            <a:pPr lvl="0"/>
            <a:r>
              <a:rPr/>
              <a:t>User Stories</a:t>
            </a:r>
          </a:p>
          <a:p>
            <a:pPr lvl="0"/>
            <a:r>
              <a:rPr/>
              <a:t>Architecture</a:t>
            </a:r>
          </a:p>
          <a:p>
            <a:pPr lvl="0"/>
            <a:r>
              <a:rPr/>
              <a:t>Design System</a:t>
            </a:r>
          </a:p>
          <a:p>
            <a:pPr lvl="0"/>
            <a:r>
              <a:rPr/>
              <a:t>API Documentation</a:t>
            </a:r>
          </a:p>
          <a:p>
            <a:pPr lvl="0"/>
            <a:r>
              <a:rPr/>
              <a:t>Plan de tests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Technologies</a:t>
            </a:r>
          </a:p>
          <a:p>
            <a:pPr lvl="0"/>
            <a:r>
              <a:rPr/>
              <a:t>Next.js : nextjs.org</a:t>
            </a:r>
          </a:p>
          <a:p>
            <a:pPr lvl="0"/>
            <a:r>
              <a:rPr/>
              <a:t>Strapi : strapi.io</a:t>
            </a:r>
          </a:p>
          <a:p>
            <a:pPr lvl="0"/>
            <a:r>
              <a:rPr/>
              <a:t>Tailwind CSS : tailwindcss.com</a:t>
            </a:r>
          </a:p>
          <a:p>
            <a:pPr lvl="0"/>
            <a:r>
              <a:rPr/>
              <a:t>GSAP : gsap.com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Projet APD - Association Patrimoine de Doazit</a:t>
            </a:r>
          </a:p>
          <a:p>
            <a:pPr lvl="0" indent="0" marL="0">
              <a:buNone/>
            </a:pPr>
            <a:r>
              <a:rPr/>
              <a:t>Développé par </a:t>
            </a:r>
            <a:r>
              <a:rPr b="1"/>
              <a:t>Philippe Barbosa</a:t>
            </a:r>
            <a:br/>
            <a:r>
              <a:rPr/>
              <a:t>TP Développeur Web et Web Mobile - 2025</a:t>
            </a:r>
          </a:p>
          <a:p>
            <a:pPr lvl="0" indent="0" marL="0">
              <a:buNone/>
            </a:pPr>
            <a:r>
              <a:rPr b="1"/>
              <a:t>Valorisons notre patrimoine ensemble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APD - Site Web Association Patrimoine de Doazit</dc:title>
  <dc:creator>Philippe Barbosa</dc:creator>
  <cp:keywords/>
  <dcterms:created xsi:type="dcterms:W3CDTF">2025-11-20T10:39:00Z</dcterms:created>
  <dcterms:modified xsi:type="dcterms:W3CDTF">2025-11-20T10:39:00Z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 Novembre 2025</vt:lpwstr>
  </property>
  <property fmtid="{D5CDD505-2E9C-101B-9397-08002B2CF9AE}" pid="3" name="subtitle">
    <vt:lpwstr>TP Développeur Web et Web Mobile</vt:lpwstr>
  </property>
</Properties>
</file>