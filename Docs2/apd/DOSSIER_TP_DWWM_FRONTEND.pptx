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37160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6647688" cy="1097280"/>
          </a:xfrm>
          <a:prstGeom prst="rect">
            <a:avLst/>
          </a:prstGeom>
          <a:noFill/>
        </p:spPr>
        <p:txBody>
          <a:bodyPr wrap="square">
            <a:spAutoFit/>
          </a:bodyPr>
          <a:lstStyle/>
          <a:p>
            <a:pPr algn="ctr">
              <a:defRPr sz="3200" b="1">
                <a:solidFill>
                  <a:srgbClr val="FFFFFF"/>
                </a:solidFill>
              </a:defRPr>
            </a:pPr>
            <a:r>
              <a:t>DOSSIER PROJET</a:t>
            </a:r>
            <a:br/>
            <a:r>
              <a:t>TITRE PROFESSIONNEL</a:t>
            </a:r>
            <a:br/>
            <a:r>
              <a:t>DÉVELOPPEUR WEB ET WEB MOBILE</a:t>
            </a:r>
          </a:p>
        </p:txBody>
      </p:sp>
      <p:sp>
        <p:nvSpPr>
          <p:cNvPr id="4" name="TextBox 3"/>
          <p:cNvSpPr txBox="1"/>
          <p:nvPr/>
        </p:nvSpPr>
        <p:spPr>
          <a:xfrm>
            <a:off x="457200" y="1828800"/>
            <a:ext cx="6647688" cy="914400"/>
          </a:xfrm>
          <a:prstGeom prst="rect">
            <a:avLst/>
          </a:prstGeom>
          <a:noFill/>
        </p:spPr>
        <p:txBody>
          <a:bodyPr wrap="square">
            <a:spAutoFit/>
          </a:bodyPr>
          <a:lstStyle/>
          <a:p>
            <a:pPr algn="ctr">
              <a:defRPr sz="1800">
                <a:solidFill>
                  <a:srgbClr val="34495E"/>
                </a:solidFill>
              </a:defRPr>
            </a:pPr>
            <a:r>
              <a:t>PARTIE 1 : DÉVELOPPEMENT FRONTEND</a:t>
            </a:r>
            <a:br/>
            <a:br/>
            <a:r>
              <a:t>Philippe BARBOSA</a:t>
            </a:r>
            <a:br/>
            <a:r>
              <a:t>Novembre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Présentation</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600" b="1"/>
            </a:pPr>
            <a:r>
              <a:t>👤 Philippe BARBOSA</a:t>
            </a:r>
          </a:p>
          <a:p>
            <a:pPr>
              <a:spcAft>
                <a:spcPts val="600"/>
              </a:spcAft>
              <a:defRPr sz="1400"/>
            </a:pPr>
            <a:r>
              <a:t>54 ans, en reconversion professionnelle</a:t>
            </a:r>
          </a:p>
          <a:p>
            <a:pPr>
              <a:spcAft>
                <a:spcPts val="600"/>
              </a:spcAft>
              <a:defRPr sz="1400"/>
            </a:pPr>
          </a:p>
          <a:p>
            <a:pPr>
              <a:spcAft>
                <a:spcPts val="600"/>
              </a:spcAft>
              <a:defRPr sz="1500" b="1"/>
            </a:pPr>
            <a:r>
              <a:t>🎯 Parcours</a:t>
            </a:r>
          </a:p>
          <a:p>
            <a:pPr>
              <a:spcAft>
                <a:spcPts val="600"/>
              </a:spcAft>
              <a:defRPr sz="1300"/>
            </a:pPr>
            <a:r>
              <a:t>Formation Titre Professionnel Développeur Web et Web Mobile</a:t>
            </a:r>
          </a:p>
          <a:p>
            <a:pPr>
              <a:spcAft>
                <a:spcPts val="600"/>
              </a:spcAft>
              <a:defRPr sz="1300"/>
            </a:pPr>
            <a:r>
              <a:t>Stage professionnel : UFO Agency (agence web)</a:t>
            </a:r>
          </a:p>
          <a:p>
            <a:pPr>
              <a:spcAft>
                <a:spcPts val="600"/>
              </a:spcAft>
              <a:defRPr sz="1400"/>
            </a:pPr>
          </a:p>
          <a:p>
            <a:pPr>
              <a:spcAft>
                <a:spcPts val="600"/>
              </a:spcAft>
              <a:defRPr sz="1500" b="1"/>
            </a:pPr>
            <a:r>
              <a:t>💡 Motivation</a:t>
            </a:r>
          </a:p>
          <a:p>
            <a:pPr>
              <a:spcAft>
                <a:spcPts val="600"/>
              </a:spcAft>
              <a:defRPr sz="1300"/>
            </a:pPr>
            <a:r>
              <a:t>Passionné depuis longtemps par le développement web, j'ai décidé de me reconvertir dans ce secteur qui m'anime. Cette formation me permet de concrétiser cette ambition et d'acquérir les compétences techniques nécessaires pour exercer ce métier.</a:t>
            </a:r>
          </a:p>
          <a:p>
            <a:pPr>
              <a:spcAft>
                <a:spcPts val="600"/>
              </a:spcAft>
              <a:defRPr sz="1400"/>
            </a:pPr>
          </a:p>
          <a:p>
            <a:pPr>
              <a:spcAft>
                <a:spcPts val="600"/>
              </a:spcAft>
              <a:defRPr sz="1500" b="1"/>
            </a:pPr>
            <a:r>
              <a:t>📁 Projets présentés</a:t>
            </a:r>
          </a:p>
          <a:p>
            <a:pPr>
              <a:spcAft>
                <a:spcPts val="600"/>
              </a:spcAft>
              <a:defRPr sz="1300"/>
            </a:pPr>
            <a:r>
              <a:t>Frontend : APD (projet stage UFO Agency)</a:t>
            </a:r>
          </a:p>
          <a:p>
            <a:pPr>
              <a:spcAft>
                <a:spcPts val="600"/>
              </a:spcAft>
              <a:defRPr sz="1300"/>
            </a:pPr>
            <a:r>
              <a:t>Maquettage : CoolBooking (projet fil-rouge personnel)</a:t>
            </a:r>
          </a:p>
          <a:p>
            <a:pPr>
              <a:spcAft>
                <a:spcPts val="600"/>
              </a:spcAft>
              <a:defRPr sz="1300"/>
            </a:pPr>
            <a:r>
              <a:t>Backend : CoolBooking MariaDB (projet fil-rouge personnel)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Projet APD - Association Pour la Dignité</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Contexte du projet</a:t>
            </a:r>
          </a:p>
          <a:p>
            <a:pPr>
              <a:spcAft>
                <a:spcPts val="600"/>
              </a:spcAft>
              <a:defRPr sz="1300"/>
            </a:pPr>
            <a:r>
              <a:t>Projet confié par l'agence UFO Agency lors de mon stage</a:t>
            </a:r>
          </a:p>
          <a:p>
            <a:pPr>
              <a:spcAft>
                <a:spcPts val="600"/>
              </a:spcAft>
              <a:defRPr sz="1300"/>
            </a:pPr>
            <a:r>
              <a:t>Site vitrine pour une association humanitaire</a:t>
            </a:r>
          </a:p>
          <a:p>
            <a:pPr>
              <a:spcAft>
                <a:spcPts val="600"/>
              </a:spcAft>
              <a:defRPr sz="1300"/>
            </a:pPr>
            <a:r>
              <a:t>Maquettage déjà réalisé en amont par l'agence</a:t>
            </a:r>
          </a:p>
          <a:p>
            <a:pPr>
              <a:spcAft>
                <a:spcPts val="600"/>
              </a:spcAft>
              <a:defRPr sz="1400"/>
            </a:pPr>
          </a:p>
          <a:p>
            <a:pPr>
              <a:spcAft>
                <a:spcPts val="600"/>
              </a:spcAft>
              <a:defRPr sz="1500" b="1"/>
            </a:pPr>
            <a:r>
              <a:t>🎯 Objectifs</a:t>
            </a:r>
          </a:p>
          <a:p>
            <a:pPr>
              <a:spcAft>
                <a:spcPts val="600"/>
              </a:spcAft>
              <a:defRPr sz="1300"/>
            </a:pPr>
            <a:r>
              <a:t>Créer une interface moderne et performante</a:t>
            </a:r>
          </a:p>
          <a:p>
            <a:pPr>
              <a:spcAft>
                <a:spcPts val="600"/>
              </a:spcAft>
              <a:defRPr sz="1300"/>
            </a:pPr>
            <a:r>
              <a:t>Présenter l'association, ses actions et ses partenaires</a:t>
            </a:r>
          </a:p>
          <a:p>
            <a:pPr>
              <a:spcAft>
                <a:spcPts val="600"/>
              </a:spcAft>
              <a:defRPr sz="1300"/>
            </a:pPr>
            <a:r>
              <a:t>Publier des articles et interviews</a:t>
            </a:r>
          </a:p>
          <a:p>
            <a:pPr>
              <a:spcAft>
                <a:spcPts val="600"/>
              </a:spcAft>
              <a:defRPr sz="1300"/>
            </a:pPr>
            <a:r>
              <a:t>Gérer le contenu via une interface d'administration simple</a:t>
            </a:r>
          </a:p>
          <a:p>
            <a:pPr>
              <a:spcAft>
                <a:spcPts val="600"/>
              </a:spcAft>
              <a:defRPr sz="1400"/>
            </a:pPr>
          </a:p>
          <a:p>
            <a:pPr>
              <a:spcAft>
                <a:spcPts val="600"/>
              </a:spcAft>
              <a:defRPr sz="1500" b="1"/>
            </a:pPr>
            <a:r>
              <a:t>⚙️ Contraintes techniques</a:t>
            </a:r>
          </a:p>
          <a:p>
            <a:pPr>
              <a:spcAft>
                <a:spcPts val="600"/>
              </a:spcAft>
              <a:defRPr sz="1300"/>
            </a:pPr>
            <a:r>
              <a:t>Utilisation imposée de Strapi CMS pour le backend</a:t>
            </a:r>
          </a:p>
          <a:p>
            <a:pPr>
              <a:spcAft>
                <a:spcPts val="600"/>
              </a:spcAft>
              <a:defRPr sz="1300"/>
            </a:pPr>
            <a:r>
              <a:t>Respect du maquettage existant</a:t>
            </a:r>
          </a:p>
          <a:p>
            <a:pPr>
              <a:spcAft>
                <a:spcPts val="600"/>
              </a:spcAft>
              <a:defRPr sz="1300"/>
            </a:pPr>
            <a:r>
              <a:t>Performance et accessibilité</a:t>
            </a:r>
          </a:p>
          <a:p>
            <a:pPr>
              <a:spcAft>
                <a:spcPts val="600"/>
              </a:spcAft>
              <a:defRPr sz="1300"/>
            </a:pPr>
            <a:r>
              <a:t>Design responsive (mobile-first)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Stack Technique Frontend</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600" b="1"/>
            </a:pPr>
            <a:r>
              <a:t>🛠️ Technologies utilisées</a:t>
            </a:r>
          </a:p>
          <a:p>
            <a:pPr>
              <a:spcAft>
                <a:spcPts val="600"/>
              </a:spcAft>
              <a:defRPr sz="1400"/>
            </a:pPr>
          </a:p>
          <a:p>
            <a:pPr>
              <a:spcAft>
                <a:spcPts val="600"/>
              </a:spcAft>
              <a:defRPr sz="1400" b="1"/>
            </a:pPr>
            <a:r>
              <a:t>Next.js 15 (App Router)</a:t>
            </a:r>
          </a:p>
          <a:p>
            <a:pPr>
              <a:spcAft>
                <a:spcPts val="600"/>
              </a:spcAft>
              <a:defRPr sz="1200"/>
            </a:pPr>
            <a:r>
              <a:t>Framework React avec routing intégré et Server Components</a:t>
            </a:r>
          </a:p>
          <a:p>
            <a:pPr>
              <a:spcAft>
                <a:spcPts val="600"/>
              </a:spcAft>
              <a:defRPr sz="1200"/>
            </a:pPr>
            <a:r>
              <a:t>Rendu côté serveur (SSR) et génération statique (SSG)</a:t>
            </a:r>
          </a:p>
          <a:p>
            <a:pPr>
              <a:spcAft>
                <a:spcPts val="600"/>
              </a:spcAft>
              <a:defRPr sz="1400"/>
            </a:pPr>
          </a:p>
          <a:p>
            <a:pPr>
              <a:spcAft>
                <a:spcPts val="600"/>
              </a:spcAft>
              <a:defRPr sz="1400" b="1"/>
            </a:pPr>
            <a:r>
              <a:t>React 19</a:t>
            </a:r>
          </a:p>
          <a:p>
            <a:pPr>
              <a:spcAft>
                <a:spcPts val="600"/>
              </a:spcAft>
              <a:defRPr sz="1200"/>
            </a:pPr>
            <a:r>
              <a:t>Bibliothèque JavaScript pour créer des interfaces utilisateur</a:t>
            </a:r>
          </a:p>
          <a:p>
            <a:pPr>
              <a:spcAft>
                <a:spcPts val="600"/>
              </a:spcAft>
              <a:defRPr sz="1200"/>
            </a:pPr>
            <a:r>
              <a:t>Composants fonctionnels avec hooks</a:t>
            </a:r>
          </a:p>
          <a:p>
            <a:pPr>
              <a:spcAft>
                <a:spcPts val="600"/>
              </a:spcAft>
              <a:defRPr sz="1400"/>
            </a:pPr>
          </a:p>
          <a:p>
            <a:pPr>
              <a:spcAft>
                <a:spcPts val="600"/>
              </a:spcAft>
              <a:defRPr sz="1400" b="1"/>
            </a:pPr>
            <a:r>
              <a:t>TailwindCSS</a:t>
            </a:r>
          </a:p>
          <a:p>
            <a:pPr>
              <a:spcAft>
                <a:spcPts val="600"/>
              </a:spcAft>
              <a:defRPr sz="1200"/>
            </a:pPr>
            <a:r>
              <a:t>Framework CSS utility-first pour un design rapide et cohérent</a:t>
            </a:r>
          </a:p>
          <a:p>
            <a:pPr>
              <a:spcAft>
                <a:spcPts val="600"/>
              </a:spcAft>
              <a:defRPr sz="1400"/>
            </a:pPr>
          </a:p>
          <a:p>
            <a:pPr>
              <a:spcAft>
                <a:spcPts val="600"/>
              </a:spcAft>
              <a:defRPr sz="1400" b="1"/>
            </a:pPr>
            <a:r>
              <a:t>GSAP &amp; Lenis</a:t>
            </a:r>
          </a:p>
          <a:p>
            <a:pPr>
              <a:spcAft>
                <a:spcPts val="600"/>
              </a:spcAft>
              <a:defRPr sz="1200"/>
            </a:pPr>
            <a:r>
              <a:t>Animations fluides et scroll smooth pour améliorer l'UX</a:t>
            </a:r>
          </a:p>
          <a:p>
            <a:pPr>
              <a:spcAft>
                <a:spcPts val="600"/>
              </a:spcAft>
              <a:defRPr sz="1400"/>
            </a:pPr>
          </a:p>
          <a:p>
            <a:pPr>
              <a:spcAft>
                <a:spcPts val="600"/>
              </a:spcAft>
              <a:defRPr sz="1400" b="1"/>
            </a:pPr>
            <a:r>
              <a:t>Cloudinary</a:t>
            </a:r>
          </a:p>
          <a:p>
            <a:pPr>
              <a:spcAft>
                <a:spcPts val="600"/>
              </a:spcAft>
              <a:defRPr sz="1200"/>
            </a:pPr>
            <a:r>
              <a:t>CDN pour optimiser le chargement des images et vidéos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Architecture Next.js App Router</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Structure du projet</a:t>
            </a:r>
          </a:p>
          <a:p>
            <a:pPr>
              <a:spcAft>
                <a:spcPts val="600"/>
              </a:spcAft>
              <a:defRPr sz="1300"/>
            </a:pPr>
            <a:r>
              <a:t>J'ai organisé le projet selon l'App Router de Next.js 15 :</a:t>
            </a:r>
          </a:p>
          <a:p>
            <a:pPr>
              <a:spcAft>
                <a:spcPts val="600"/>
              </a:spcAft>
              <a:defRPr sz="1400"/>
            </a:pPr>
          </a:p>
          <a:p>
            <a:pPr>
              <a:spcAft>
                <a:spcPts val="600"/>
              </a:spcAft>
              <a:defRPr sz="1000" b="1">
                <a:latin typeface="Courier New"/>
              </a:defRPr>
            </a:pPr>
            <a:r>
              <a:t>frontend/src/app/</a:t>
            </a:r>
          </a:p>
          <a:p>
            <a:pPr lvl="1">
              <a:spcAft>
                <a:spcPts val="600"/>
              </a:spcAft>
              <a:defRPr sz="1000">
                <a:latin typeface="Courier New"/>
              </a:defRPr>
            </a:pPr>
            <a:r>
              <a:t>├── page.jsx         → Page d'accueil</a:t>
            </a:r>
          </a:p>
          <a:p>
            <a:pPr lvl="1">
              <a:spcAft>
                <a:spcPts val="600"/>
              </a:spcAft>
              <a:defRPr sz="1000">
                <a:latin typeface="Courier New"/>
              </a:defRPr>
            </a:pPr>
            <a:r>
              <a:t>├── layout.js        → Layout global</a:t>
            </a:r>
          </a:p>
          <a:p>
            <a:pPr lvl="1">
              <a:spcAft>
                <a:spcPts val="600"/>
              </a:spcAft>
              <a:defRPr sz="1000">
                <a:latin typeface="Courier New"/>
              </a:defRPr>
            </a:pPr>
            <a:r>
              <a:t>├── globals.css      → Styles globaux</a:t>
            </a:r>
          </a:p>
          <a:p>
            <a:pPr lvl="1">
              <a:spcAft>
                <a:spcPts val="600"/>
              </a:spcAft>
              <a:defRPr sz="1000">
                <a:latin typeface="Courier New"/>
              </a:defRPr>
            </a:pPr>
            <a:r>
              <a:t>├── blog/</a:t>
            </a:r>
          </a:p>
          <a:p>
            <a:pPr lvl="2">
              <a:spcAft>
                <a:spcPts val="600"/>
              </a:spcAft>
              <a:defRPr sz="1000">
                <a:latin typeface="Courier New"/>
              </a:defRPr>
            </a:pPr>
            <a:r>
              <a:t>│   ├── page.jsx     → Liste des articles</a:t>
            </a:r>
          </a:p>
          <a:p>
            <a:pPr lvl="2">
              <a:spcAft>
                <a:spcPts val="600"/>
              </a:spcAft>
              <a:defRPr sz="1000">
                <a:latin typeface="Courier New"/>
              </a:defRPr>
            </a:pPr>
            <a:r>
              <a:t>│   └── [slug]/</a:t>
            </a:r>
          </a:p>
          <a:p>
            <a:pPr lvl="3">
              <a:spcAft>
                <a:spcPts val="600"/>
              </a:spcAft>
              <a:defRPr sz="1000">
                <a:latin typeface="Courier New"/>
              </a:defRPr>
            </a:pPr>
            <a:r>
              <a:t>│       └── page.jsx → Article dynamique</a:t>
            </a:r>
          </a:p>
          <a:p>
            <a:pPr lvl="1">
              <a:spcAft>
                <a:spcPts val="600"/>
              </a:spcAft>
              <a:defRPr sz="1000">
                <a:latin typeface="Courier New"/>
              </a:defRPr>
            </a:pPr>
            <a:r>
              <a:t>├── association/</a:t>
            </a:r>
          </a:p>
          <a:p>
            <a:pPr lvl="1">
              <a:spcAft>
                <a:spcPts val="600"/>
              </a:spcAft>
              <a:defRPr sz="1000">
                <a:latin typeface="Courier New"/>
              </a:defRPr>
            </a:pPr>
            <a:r>
              <a:t>└── partners/</a:t>
            </a:r>
          </a:p>
          <a:p>
            <a:pPr>
              <a:spcAft>
                <a:spcPts val="600"/>
              </a:spcAft>
              <a:defRPr sz="1400"/>
            </a:pPr>
          </a:p>
          <a:p>
            <a:pPr>
              <a:spcAft>
                <a:spcPts val="600"/>
              </a:spcAft>
              <a:defRPr sz="1000" b="1">
                <a:latin typeface="Courier New"/>
              </a:defRPr>
            </a:pPr>
            <a:r>
              <a:t>frontend/src/components/</a:t>
            </a:r>
          </a:p>
          <a:p>
            <a:pPr lvl="1">
              <a:spcAft>
                <a:spcPts val="600"/>
              </a:spcAft>
              <a:defRPr sz="1000">
                <a:latin typeface="Courier New"/>
              </a:defRPr>
            </a:pPr>
            <a:r>
              <a:t>├── Header.jsx</a:t>
            </a:r>
          </a:p>
          <a:p>
            <a:pPr lvl="1">
              <a:spcAft>
                <a:spcPts val="600"/>
              </a:spcAft>
              <a:defRPr sz="1000">
                <a:latin typeface="Courier New"/>
              </a:defRPr>
            </a:pPr>
            <a:r>
              <a:t>├── Footer.jsx</a:t>
            </a:r>
          </a:p>
          <a:p>
            <a:pPr lvl="1">
              <a:spcAft>
                <a:spcPts val="600"/>
              </a:spcAft>
              <a:defRPr sz="1000">
                <a:latin typeface="Courier New"/>
              </a:defRPr>
            </a:pPr>
            <a:r>
              <a:t>├── VideoBackground.jsx</a:t>
            </a:r>
          </a:p>
          <a:p>
            <a:pPr lvl="1">
              <a:spcAft>
                <a:spcPts val="600"/>
              </a:spcAft>
              <a:defRPr sz="1000">
                <a:latin typeface="Courier New"/>
              </a:defRPr>
            </a:pPr>
            <a:r>
              <a:t>├── BlogSection.jsx</a:t>
            </a:r>
          </a:p>
          <a:p>
            <a:pPr lvl="1">
              <a:spcAft>
                <a:spcPts val="600"/>
              </a:spcAft>
              <a:defRPr sz="1000">
                <a:latin typeface="Courier New"/>
              </a:defRPr>
            </a:pPr>
            <a:r>
              <a:t>└── PartnerSection.jsx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Page d'accueil - page.jsx</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J'ai structuré la page d'accueil avec des imports dynamiques pour optimiser les performances. Le composant VideoBackground charge en priorité la vidéo d'arrière-plan.</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frontend/src/app/page.jsx</a:t>
            </a:r>
            <a:br/>
            <a:r>
              <a:t>import VideoBackground from "@/components/VideoBackground";</a:t>
            </a:r>
            <a:br/>
            <a:r>
              <a:t>import dynamic from "next/dynamic";</a:t>
            </a:r>
            <a:br/>
            <a:r>
              <a:t>import useSiteData from "@/hooks/useSiteData";</a:t>
            </a:r>
            <a:br/>
            <a:br/>
            <a:r>
              <a:t>// Import dynamique pour optimiser le chargement</a:t>
            </a:r>
            <a:br/>
            <a:r>
              <a:t>const PartnerSection = dynamic(</a:t>
            </a:r>
            <a:br/>
            <a:r>
              <a:t>  () =&gt; import("@/components/PartnerSection"),</a:t>
            </a:r>
            <a:br/>
            <a:r>
              <a:t>  { ssr: false }</a:t>
            </a:r>
            <a:br/>
            <a:r>
              <a:t>);</a:t>
            </a:r>
            <a:br/>
            <a:br/>
            <a:r>
              <a:t>const BlogSection = dynamic(</a:t>
            </a:r>
            <a:br/>
            <a:r>
              <a:t>  () =&gt; import("@/components/BlogSection"),</a:t>
            </a:r>
            <a:br/>
            <a:r>
              <a:t>  { ssr: false }</a:t>
            </a:r>
            <a:br/>
            <a:r>
              <a:t>);</a:t>
            </a:r>
            <a:br/>
            <a:br/>
            <a:r>
              <a:t>export default function Home() {</a:t>
            </a:r>
            <a:br/>
            <a:r>
              <a:t>  const { data, loading, error } = useSiteData();</a:t>
            </a:r>
            <a:br/>
            <a:br/>
            <a:r>
              <a:t>  if (loading) return &lt;div&gt;Chargement...&lt;/div&gt;;</a:t>
            </a:r>
            <a:br/>
            <a:r>
              <a:t>  if (error) return &lt;div&gt;Erreur: {error}&lt;/div&gt;;</a:t>
            </a:r>
            <a:br/>
            <a:br/>
            <a:r>
              <a:t>  return (</a:t>
            </a:r>
            <a:br/>
            <a:r>
              <a:t>    &lt;main&gt;</a:t>
            </a:r>
            <a:br/>
            <a:r>
              <a:t>      &lt;VideoBackground videoUrl={data.accueil?.video} /&gt;</a:t>
            </a:r>
            <a:br/>
            <a:r>
              <a:t>      &lt;IntroSection /&gt;</a:t>
            </a:r>
            <a:br/>
            <a:r>
              <a:t>      &lt;DescriptionSection /&gt;</a:t>
            </a:r>
            <a:br/>
            <a:r>
              <a:t>      &lt;PartnerSection partners={data.partenaires} /&gt;</a:t>
            </a:r>
            <a:br/>
            <a:r>
              <a:t>      &lt;BlogSection articles={data.articles} limit={3} /&gt;</a:t>
            </a:r>
            <a:br/>
            <a:r>
              <a:t>    &lt;/main&gt;</a:t>
            </a:r>
            <a:br/>
            <a:r>
              <a:t>  );</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Composant VideoBackground</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J'ai créé un composant qui gère l'affichage progressif de la vidéo avec une transition d'opacité pour améliorer l'expérience utilisateur.</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frontend/src/components/VideoBackground.jsx</a:t>
            </a:r>
            <a:br/>
            <a:r>
              <a:t>'use client';</a:t>
            </a:r>
            <a:br/>
            <a:r>
              <a:t>import { useState } from 'react';</a:t>
            </a:r>
            <a:br/>
            <a:br/>
            <a:r>
              <a:t>export default function VideoBackground({ videoUrl }) {</a:t>
            </a:r>
            <a:br/>
            <a:r>
              <a:t>  const [opacity, setOpacity] = useState(0);</a:t>
            </a:r>
            <a:br/>
            <a:br/>
            <a:r>
              <a:t>  const handleVideoReady = () =&gt; {</a:t>
            </a:r>
            <a:br/>
            <a:r>
              <a:t>    setOpacity(1); // Transition douce quand la vidéo est prête</a:t>
            </a:r>
            <a:br/>
            <a:r>
              <a:t>  };</a:t>
            </a:r>
            <a:br/>
            <a:br/>
            <a:r>
              <a:t>  return (</a:t>
            </a:r>
            <a:br/>
            <a:r>
              <a:t>    &lt;div className="video-container"&gt;</a:t>
            </a:r>
            <a:br/>
            <a:r>
              <a:t>      &lt;video</a:t>
            </a:r>
            <a:br/>
            <a:r>
              <a:t>        autoPlay</a:t>
            </a:r>
            <a:br/>
            <a:r>
              <a:t>        loop</a:t>
            </a:r>
            <a:br/>
            <a:r>
              <a:t>        muted</a:t>
            </a:r>
            <a:br/>
            <a:r>
              <a:t>        playsInline</a:t>
            </a:r>
            <a:br/>
            <a:r>
              <a:t>        preload="auto"</a:t>
            </a:r>
            <a:br/>
            <a:r>
              <a:t>        onLoadedData={handleVideoReady}</a:t>
            </a:r>
            <a:br/>
            <a:r>
              <a:t>        onCanPlayThrough={handleVideoReady}</a:t>
            </a:r>
            <a:br/>
            <a:r>
              <a:t>        style={{ opacity, transition: 'opacity 0.5s ease-in' }}</a:t>
            </a:r>
            <a:br/>
            <a:r>
              <a:t>      &gt;</a:t>
            </a:r>
            <a:br/>
            <a:r>
              <a:t>        &lt;source src={videoUrl} type="video/mp4" /&gt;</a:t>
            </a:r>
            <a:br/>
            <a:r>
              <a:t>      &lt;/video&gt;</a:t>
            </a:r>
            <a:br/>
            <a:r>
              <a:t>    &lt;/div&gt;</a:t>
            </a:r>
            <a:br/>
            <a:r>
              <a:t>  );</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Hook personnalisé - useSiteData</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Hook personnalisé pour centraliser les appels API. J'ai implémenté un chargement prioritaire pour la vidéo et parallélisé les autres requêtes pour optimiser les performances.</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frontend/src/hooks/useSiteData.jsx</a:t>
            </a:r>
            <a:br/>
            <a:r>
              <a:t>'use client';</a:t>
            </a:r>
            <a:br/>
            <a:r>
              <a:t>import { useState, useEffect } from 'react';</a:t>
            </a:r>
            <a:br/>
            <a:br/>
            <a:r>
              <a:t>export default function useSiteData() {</a:t>
            </a:r>
            <a:br/>
            <a:r>
              <a:t>  const [data, setData] = useState({});</a:t>
            </a:r>
            <a:br/>
            <a:r>
              <a:t>  const [loading, setLoading] = useState(true);</a:t>
            </a:r>
            <a:br/>
            <a:r>
              <a:t>  const [error, setError] = useState(null);</a:t>
            </a:r>
            <a:br/>
            <a:br/>
            <a:r>
              <a:t>  useEffect(() =&gt; {</a:t>
            </a:r>
            <a:br/>
            <a:r>
              <a:t>    async function fetchData() {</a:t>
            </a:r>
            <a:br/>
            <a:r>
              <a:t>      try {</a:t>
            </a:r>
            <a:br/>
            <a:r>
              <a:t>        // Chargement prioritaire de l'accueil (vidéo)</a:t>
            </a:r>
            <a:br/>
            <a:r>
              <a:t>        const accueilRes = await fetch(</a:t>
            </a:r>
            <a:br/>
            <a:r>
              <a:t>          `${process.env.NEXT_PUBLIC_STRAPI_URL}/api/accueil?populate=*`</a:t>
            </a:r>
            <a:br/>
            <a:r>
              <a:t>        );</a:t>
            </a:r>
            <a:br/>
            <a:r>
              <a:t>        const accueilData = await accueilRes.json();</a:t>
            </a:r>
            <a:br/>
            <a:r>
              <a:t>        </a:t>
            </a:r>
            <a:br/>
            <a:r>
              <a:t>        // Chargement parallèle des autres endpoints</a:t>
            </a:r>
            <a:br/>
            <a:r>
              <a:t>        const [articlesRes, partenairesRes, interviewsRes] = </a:t>
            </a:r>
            <a:br/>
            <a:r>
              <a:t>          await Promise.all([</a:t>
            </a:r>
            <a:br/>
            <a:r>
              <a:t>            fetch(`${process.env.NEXT_PUBLIC_STRAPI_URL}/api/articles?populate=*`),</a:t>
            </a:r>
            <a:br/>
            <a:r>
              <a:t>            fetch(`${process.env.NEXT_PUBLIC_STRAPI_URL}/api/partenaires?populate=*`),</a:t>
            </a:r>
            <a:br/>
            <a:r>
              <a:t>            fetch(`${process.env.NEXT_PUBLIC_STRAPI_URL}/api/interviews?populate=*`)</a:t>
            </a:r>
            <a:br/>
            <a:r>
              <a:t>          ]);</a:t>
            </a:r>
            <a:br/>
            <a:br/>
            <a:r>
              <a:t>        const articles = await articlesRes.json();</a:t>
            </a:r>
            <a:br/>
            <a:r>
              <a:t>        const partenaires = await partenairesRes.json();</a:t>
            </a:r>
            <a:br/>
            <a:r>
              <a:t>        const interviews = await interviewsRes.json();</a:t>
            </a:r>
            <a:br/>
            <a:br/>
            <a:r>
              <a:t>        setData({</a:t>
            </a:r>
            <a:br/>
            <a:r>
              <a:t>          accueil: accueilData.data,</a:t>
            </a:r>
            <a:br/>
            <a:r>
              <a:t>          articles: articles.data.sort((a,b) =&gt; </a:t>
            </a:r>
            <a:br/>
            <a:r>
              <a:t>            new Date(b.attributes.date) - new Date(a.attributes.date)</a:t>
            </a:r>
            <a:br/>
            <a:r>
              <a:t>          ),</a:t>
            </a:r>
            <a:br/>
            <a:r>
              <a:t>          partenaires: partenaires.data,</a:t>
            </a:r>
            <a:br/>
            <a:r>
              <a:t>          interviews: interviews.data,</a:t>
            </a:r>
            <a:br/>
            <a:r>
              <a:t>        });</a:t>
            </a:r>
            <a:br/>
            <a:r>
              <a:t>      } catch (err) {</a:t>
            </a:r>
            <a:br/>
            <a:r>
              <a:t>        setError(err.message);</a:t>
            </a:r>
            <a:br/>
            <a:r>
              <a:t>      } finally {</a:t>
            </a:r>
            <a:br/>
            <a:r>
              <a:t>        setLoading(false);</a:t>
            </a:r>
            <a:br/>
            <a:r>
              <a:t>      }</a:t>
            </a:r>
            <a:br/>
            <a:r>
              <a:t>    }</a:t>
            </a:r>
            <a:br/>
            <a:r>
              <a:t>    fetchData();</a:t>
            </a:r>
            <a:br/>
            <a:r>
              <a:t>  }, []);</a:t>
            </a:r>
            <a:br/>
            <a:br/>
            <a:r>
              <a:t>  return { data, loading, error };</a:t>
            </a: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Composant BlogSection</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Composant réutilisable pour afficher les articles. J'utilise next/image pour optimiser les images et next/link pour la navigation.</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frontend/src/components/BlogSection.jsx</a:t>
            </a:r>
            <a:br/>
            <a:r>
              <a:t>import Image from 'next/image';</a:t>
            </a:r>
            <a:br/>
            <a:r>
              <a:t>import Link from 'next/link';</a:t>
            </a:r>
            <a:br/>
            <a:br/>
            <a:r>
              <a:t>export default function BlogSection({ articles, limit = 3 }) {</a:t>
            </a:r>
            <a:br/>
            <a:r>
              <a:t>  const displayedArticles = articles?.slice(0, limit) || [];</a:t>
            </a:r>
            <a:br/>
            <a:br/>
            <a:r>
              <a:t>  return (</a:t>
            </a:r>
            <a:br/>
            <a:r>
              <a:t>    &lt;section className="blog-section"&gt;</a:t>
            </a:r>
            <a:br/>
            <a:r>
              <a:t>      &lt;h2&gt;Nos derniers articles&lt;/h2&gt;</a:t>
            </a:r>
            <a:br/>
            <a:r>
              <a:t>      &lt;div className="articles-grid"&gt;</a:t>
            </a:r>
            <a:br/>
            <a:r>
              <a:t>        {displayedArticles.map((article) =&gt; (</a:t>
            </a:r>
            <a:br/>
            <a:r>
              <a:t>          &lt;Link </a:t>
            </a:r>
            <a:br/>
            <a:r>
              <a:t>            href={`/blog/${article.attributes.slug}`} </a:t>
            </a:r>
            <a:br/>
            <a:r>
              <a:t>            key={article.id}</a:t>
            </a:r>
            <a:br/>
            <a:r>
              <a:t>          &gt;</a:t>
            </a:r>
            <a:br/>
            <a:r>
              <a:t>            &lt;article className="article-card"&gt;</a:t>
            </a:r>
            <a:br/>
            <a:r>
              <a:t>              &lt;Image</a:t>
            </a:r>
            <a:br/>
            <a:r>
              <a:t>                src={article.attributes.image.data.attributes.url}</a:t>
            </a:r>
            <a:br/>
            <a:r>
              <a:t>                alt={article.attributes.titre}</a:t>
            </a:r>
            <a:br/>
            <a:r>
              <a:t>                width={400}</a:t>
            </a:r>
            <a:br/>
            <a:r>
              <a:t>                height={250}</a:t>
            </a:r>
            <a:br/>
            <a:r>
              <a:t>              /&gt;</a:t>
            </a:r>
            <a:br/>
            <a:r>
              <a:t>              &lt;h3&gt;{article.attributes.titre}&lt;/h3&gt;</a:t>
            </a:r>
            <a:br/>
            <a:r>
              <a:t>              &lt;p&gt;{article.attributes.extrait?.slice(0, 150)}...&lt;/p&gt;</a:t>
            </a:r>
            <a:br/>
            <a:r>
              <a:t>              &lt;time&gt;</a:t>
            </a:r>
            <a:br/>
            <a:r>
              <a:t>                {new Date(article.attributes.date)</a:t>
            </a:r>
            <a:br/>
            <a:r>
              <a:t>                  .toLocaleDateString('fr-FR')}</a:t>
            </a:r>
            <a:br/>
            <a:r>
              <a:t>              &lt;/time&gt;</a:t>
            </a:r>
            <a:br/>
            <a:r>
              <a:t>            &lt;/article&gt;</a:t>
            </a:r>
            <a:br/>
            <a:r>
              <a:t>          &lt;/Link&gt;</a:t>
            </a:r>
            <a:br/>
            <a:r>
              <a:t>        ))}</a:t>
            </a:r>
            <a:br/>
            <a:r>
              <a:t>      &lt;/div&gt;</a:t>
            </a:r>
            <a:br/>
            <a:r>
              <a:t>      &lt;Link href="/blog" className="cta-button"&gt;</a:t>
            </a:r>
            <a:br/>
            <a:r>
              <a:t>        Voir tous les articles</a:t>
            </a:r>
            <a:br/>
            <a:r>
              <a:t>      &lt;/Link&gt;</a:t>
            </a:r>
            <a:br/>
            <a:r>
              <a:t>    &lt;/section&gt;</a:t>
            </a:r>
            <a:br/>
            <a:r>
              <a:t>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Routing Dynamique - Article</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Page dynamique pour afficher un article à partir de son slug. J'utilise generateMetadata pour le SEO et la revalidation incrémentale (ISR) pour optimiser les performances.</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frontend/src/app/blog/[slug]/page.jsx</a:t>
            </a:r>
            <a:br/>
            <a:r>
              <a:t>export const revalidate = 60; // Revalidation toutes les 60s</a:t>
            </a:r>
            <a:br/>
            <a:br/>
            <a:r>
              <a:t>export async function generateMetadata({ params }) {</a:t>
            </a:r>
            <a:br/>
            <a:r>
              <a:t>  const { slug } = params;</a:t>
            </a:r>
            <a:br/>
            <a:r>
              <a:t>  const res = await fetch(</a:t>
            </a:r>
            <a:br/>
            <a:r>
              <a:t>    `${process.env.NEXT_PUBLIC_STRAPI_URL}/api/articles?` +</a:t>
            </a:r>
            <a:br/>
            <a:r>
              <a:t>    `filters[slug][$eq]=${slug}&amp;populate=*`</a:t>
            </a:r>
            <a:br/>
            <a:r>
              <a:t>  );</a:t>
            </a:r>
            <a:br/>
            <a:r>
              <a:t>  const data = await res.json();</a:t>
            </a:r>
            <a:br/>
            <a:r>
              <a:t>  const article = data.data[0];</a:t>
            </a:r>
            <a:br/>
            <a:r>
              <a:t>  </a:t>
            </a:r>
            <a:br/>
            <a:r>
              <a:t>  return {</a:t>
            </a:r>
            <a:br/>
            <a:r>
              <a:t>    title: article.attributes.titre,</a:t>
            </a:r>
            <a:br/>
            <a:r>
              <a:t>    description: article.attributes.extrait,</a:t>
            </a:r>
            <a:br/>
            <a:r>
              <a:t>  };</a:t>
            </a:r>
            <a:br/>
            <a:r>
              <a:t>}</a:t>
            </a:r>
            <a:br/>
            <a:br/>
            <a:r>
              <a:t>export default async function ArticlePage({ params }) {</a:t>
            </a:r>
            <a:br/>
            <a:r>
              <a:t>  const { slug } = params;</a:t>
            </a:r>
            <a:br/>
            <a:r>
              <a:t>  const res = await fetch(</a:t>
            </a:r>
            <a:br/>
            <a:r>
              <a:t>    `${process.env.NEXT_PUBLIC_STRAPI_URL}/api/articles?` +</a:t>
            </a:r>
            <a:br/>
            <a:r>
              <a:t>    `filters[slug][$eq]=${slug}&amp;populate=*`,</a:t>
            </a:r>
            <a:br/>
            <a:r>
              <a:t>    { next: { revalidate: 60 } }</a:t>
            </a:r>
            <a:br/>
            <a:r>
              <a:t>  );</a:t>
            </a:r>
            <a:br/>
            <a:r>
              <a:t>  </a:t>
            </a:r>
            <a:br/>
            <a:r>
              <a:t>  const data = await res.json();</a:t>
            </a:r>
            <a:br/>
            <a:r>
              <a:t>  const article = data.data[0]?.attributes;</a:t>
            </a:r>
            <a:br/>
            <a:br/>
            <a:r>
              <a:t>  if (!article) return &lt;div&gt;Article non trouvé&lt;/div&gt;;</a:t>
            </a:r>
            <a:br/>
            <a:br/>
            <a:r>
              <a:t>  return (</a:t>
            </a:r>
            <a:br/>
            <a:r>
              <a:t>    &lt;article&gt;</a:t>
            </a:r>
            <a:br/>
            <a:r>
              <a:t>      &lt;h1&gt;{article.titre}&lt;/h1&gt;</a:t>
            </a:r>
            <a:br/>
            <a:r>
              <a:t>      &lt;time&gt;{new Date(article.date).toLocaleDateString('fr-FR')}&lt;/time&gt;</a:t>
            </a:r>
            <a:br/>
            <a:r>
              <a:t>      &lt;p&gt;Par {article.auteur}&lt;/p&gt;</a:t>
            </a:r>
            <a:br/>
            <a:r>
              <a:t>      &lt;Image src={article.image.data.attributes.url} /&gt;</a:t>
            </a:r>
            <a:br/>
            <a:r>
              <a:t>      &lt;div dangerouslySetInnerHTML={{ __html: article.contenu }} /&gt;</a:t>
            </a:r>
            <a:br/>
            <a:r>
              <a:t>    &lt;/article&gt;</a:t>
            </a:r>
            <a:br/>
            <a:r>
              <a: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Strapi CMS - Pourquoi ?</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Contexte de choix</a:t>
            </a:r>
          </a:p>
          <a:p>
            <a:pPr>
              <a:spcAft>
                <a:spcPts val="600"/>
              </a:spcAft>
              <a:defRPr sz="1300"/>
            </a:pPr>
            <a:r>
              <a:t>L'agence UFO Agency a choisi Strapi pour ce projet afin de fournir une interface simple de gestion de contenu à l'association.</a:t>
            </a:r>
          </a:p>
          <a:p>
            <a:pPr>
              <a:spcAft>
                <a:spcPts val="600"/>
              </a:spcAft>
              <a:defRPr sz="1400"/>
            </a:pPr>
          </a:p>
          <a:p>
            <a:pPr>
              <a:spcAft>
                <a:spcPts val="600"/>
              </a:spcAft>
              <a:defRPr sz="1500" b="1"/>
            </a:pPr>
            <a:r>
              <a:t>✅ Avantages de Strapi</a:t>
            </a:r>
          </a:p>
          <a:p>
            <a:pPr>
              <a:spcAft>
                <a:spcPts val="600"/>
              </a:spcAft>
              <a:defRPr sz="1300"/>
            </a:pPr>
            <a:r>
              <a:t>Interface d'administration clé en main</a:t>
            </a:r>
          </a:p>
          <a:p>
            <a:pPr lvl="1">
              <a:spcAft>
                <a:spcPts val="600"/>
              </a:spcAft>
              <a:defRPr sz="1200"/>
            </a:pPr>
            <a:r>
              <a:t>→ L'association peut gérer articles, interviews et partenaires sans compétences techniques</a:t>
            </a:r>
          </a:p>
          <a:p>
            <a:pPr>
              <a:spcAft>
                <a:spcPts val="600"/>
              </a:spcAft>
              <a:defRPr sz="1400"/>
            </a:pPr>
          </a:p>
          <a:p>
            <a:pPr>
              <a:spcAft>
                <a:spcPts val="600"/>
              </a:spcAft>
              <a:defRPr sz="1300"/>
            </a:pPr>
            <a:r>
              <a:t>API REST générée automatiquement</a:t>
            </a:r>
          </a:p>
          <a:p>
            <a:pPr lvl="1">
              <a:spcAft>
                <a:spcPts val="600"/>
              </a:spcAft>
              <a:defRPr sz="1200"/>
            </a:pPr>
            <a:r>
              <a:t>→ Gain de temps sur le développement backend</a:t>
            </a:r>
          </a:p>
          <a:p>
            <a:pPr>
              <a:spcAft>
                <a:spcPts val="600"/>
              </a:spcAft>
              <a:defRPr sz="1400"/>
            </a:pPr>
          </a:p>
          <a:p>
            <a:pPr>
              <a:spcAft>
                <a:spcPts val="600"/>
              </a:spcAft>
              <a:defRPr sz="1300"/>
            </a:pPr>
            <a:r>
              <a:t>Gestion des médias intégrée</a:t>
            </a:r>
          </a:p>
          <a:p>
            <a:pPr lvl="1">
              <a:spcAft>
                <a:spcPts val="600"/>
              </a:spcAft>
              <a:defRPr sz="1200"/>
            </a:pPr>
            <a:r>
              <a:t>→ Upload d'images et vidéos directement dans l'interface</a:t>
            </a:r>
          </a:p>
          <a:p>
            <a:pPr>
              <a:spcAft>
                <a:spcPts val="600"/>
              </a:spcAft>
              <a:defRPr sz="1400"/>
            </a:pPr>
          </a:p>
          <a:p>
            <a:pPr>
              <a:spcAft>
                <a:spcPts val="600"/>
              </a:spcAft>
              <a:defRPr sz="1300"/>
            </a:pPr>
            <a:r>
              <a:t>Extensible avec des routes personnalisées</a:t>
            </a:r>
          </a:p>
          <a:p>
            <a:pPr lvl="1">
              <a:spcAft>
                <a:spcPts val="600"/>
              </a:spcAft>
              <a:defRPr sz="1200"/>
            </a:pPr>
            <a:r>
              <a:t>→ J'ai pu ajouter une route d'envoi d'email pour le formulaire de contact</a:t>
            </a:r>
          </a:p>
          <a:p>
            <a:pPr>
              <a:spcAft>
                <a:spcPts val="600"/>
              </a:spcAft>
              <a:defRPr sz="1400"/>
            </a:pPr>
          </a:p>
          <a:p>
            <a:pPr>
              <a:spcAft>
                <a:spcPts val="600"/>
              </a:spcAft>
              <a:defRPr sz="1300"/>
            </a:pPr>
            <a:r>
              <a:t>Open source et bien documenté</a:t>
            </a:r>
          </a:p>
          <a:p>
            <a:pPr lvl="1">
              <a:spcAft>
                <a:spcPts val="600"/>
              </a:spcAft>
              <a:defRPr sz="1200"/>
            </a:pPr>
            <a:r>
              <a:t>→ Large communauté et ressources disponibles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Strapi - Architecture Backend</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Structure du backend Strapi</a:t>
            </a:r>
          </a:p>
          <a:p>
            <a:pPr>
              <a:spcAft>
                <a:spcPts val="600"/>
              </a:spcAft>
              <a:defRPr sz="1400"/>
            </a:pPr>
          </a:p>
          <a:p>
            <a:pPr>
              <a:spcAft>
                <a:spcPts val="600"/>
              </a:spcAft>
              <a:defRPr sz="1000" b="1">
                <a:latin typeface="Courier New"/>
              </a:defRPr>
            </a:pPr>
            <a:r>
              <a:t>src/api/</a:t>
            </a:r>
          </a:p>
          <a:p>
            <a:pPr lvl="1">
              <a:spcAft>
                <a:spcPts val="600"/>
              </a:spcAft>
              <a:defRPr sz="1000">
                <a:latin typeface="Courier New"/>
              </a:defRPr>
            </a:pPr>
            <a:r>
              <a:t>├── article/          → Content-type Article</a:t>
            </a:r>
          </a:p>
          <a:p>
            <a:pPr lvl="2">
              <a:spcAft>
                <a:spcPts val="600"/>
              </a:spcAft>
              <a:defRPr sz="1000">
                <a:latin typeface="Courier New"/>
              </a:defRPr>
            </a:pPr>
            <a:r>
              <a:t>│   ├── content-types/</a:t>
            </a:r>
          </a:p>
          <a:p>
            <a:pPr lvl="2">
              <a:spcAft>
                <a:spcPts val="600"/>
              </a:spcAft>
              <a:defRPr sz="1000">
                <a:latin typeface="Courier New"/>
              </a:defRPr>
            </a:pPr>
            <a:r>
              <a:t>│   ├── controllers/  → Logique métier</a:t>
            </a:r>
          </a:p>
          <a:p>
            <a:pPr lvl="2">
              <a:spcAft>
                <a:spcPts val="600"/>
              </a:spcAft>
              <a:defRPr sz="1000">
                <a:latin typeface="Courier New"/>
              </a:defRPr>
            </a:pPr>
            <a:r>
              <a:t>│   ├── routes/       → Endpoints API</a:t>
            </a:r>
          </a:p>
          <a:p>
            <a:pPr lvl="2">
              <a:spcAft>
                <a:spcPts val="600"/>
              </a:spcAft>
              <a:defRPr sz="1000">
                <a:latin typeface="Courier New"/>
              </a:defRPr>
            </a:pPr>
            <a:r>
              <a:t>│   └── services/     → Services réutilisables</a:t>
            </a:r>
          </a:p>
          <a:p>
            <a:pPr>
              <a:spcAft>
                <a:spcPts val="600"/>
              </a:spcAft>
              <a:defRPr sz="1400"/>
            </a:pPr>
          </a:p>
          <a:p>
            <a:pPr lvl="1">
              <a:spcAft>
                <a:spcPts val="600"/>
              </a:spcAft>
              <a:defRPr sz="1000">
                <a:latin typeface="Courier New"/>
              </a:defRPr>
            </a:pPr>
            <a:r>
              <a:t>├── interview/</a:t>
            </a:r>
          </a:p>
          <a:p>
            <a:pPr lvl="1">
              <a:spcAft>
                <a:spcPts val="600"/>
              </a:spcAft>
              <a:defRPr sz="1000">
                <a:latin typeface="Courier New"/>
              </a:defRPr>
            </a:pPr>
            <a:r>
              <a:t>├── partenaire/</a:t>
            </a:r>
          </a:p>
          <a:p>
            <a:pPr lvl="1">
              <a:spcAft>
                <a:spcPts val="600"/>
              </a:spcAft>
              <a:defRPr sz="1000">
                <a:latin typeface="Courier New"/>
              </a:defRPr>
            </a:pPr>
            <a:r>
              <a:t>├── accueil/</a:t>
            </a:r>
          </a:p>
          <a:p>
            <a:pPr lvl="1">
              <a:spcAft>
                <a:spcPts val="600"/>
              </a:spcAft>
              <a:defRPr sz="1000">
                <a:latin typeface="Courier New"/>
              </a:defRPr>
            </a:pPr>
            <a:r>
              <a:t>└── email/            → Route personnalisée</a:t>
            </a:r>
          </a:p>
          <a:p>
            <a:pPr>
              <a:spcAft>
                <a:spcPts val="600"/>
              </a:spcAft>
              <a:defRPr sz="1400"/>
            </a:pPr>
          </a:p>
          <a:p>
            <a:pPr>
              <a:spcAft>
                <a:spcPts val="600"/>
              </a:spcAft>
              <a:defRPr sz="1000" b="1">
                <a:latin typeface="Courier New"/>
              </a:defRPr>
            </a:pPr>
            <a:r>
              <a:t>config/</a:t>
            </a:r>
          </a:p>
          <a:p>
            <a:pPr lvl="1">
              <a:spcAft>
                <a:spcPts val="600"/>
              </a:spcAft>
              <a:defRPr sz="1000">
                <a:latin typeface="Courier New"/>
              </a:defRPr>
            </a:pPr>
            <a:r>
              <a:t>├── database.ts       → PostgreSQL</a:t>
            </a:r>
          </a:p>
          <a:p>
            <a:pPr lvl="1">
              <a:spcAft>
                <a:spcPts val="600"/>
              </a:spcAft>
              <a:defRPr sz="1000">
                <a:latin typeface="Courier New"/>
              </a:defRPr>
            </a:pPr>
            <a:r>
              <a:t>├── server.ts         → Config serveur</a:t>
            </a:r>
          </a:p>
          <a:p>
            <a:pPr lvl="1">
              <a:spcAft>
                <a:spcPts val="600"/>
              </a:spcAft>
              <a:defRPr sz="1000">
                <a:latin typeface="Courier New"/>
              </a:defRPr>
            </a:pPr>
            <a:r>
              <a:t>└── api.ts            → Config API REST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Strapi - Configuration</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Configuration de Strapi : base de données PostgreSQL, paramètres API REST et serveur. Les variables d'environnement sont utilisées pour la sécurité.</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config/database.ts</a:t>
            </a:r>
            <a:br/>
            <a:r>
              <a:t>export default ({ env }) =&gt; ({</a:t>
            </a:r>
            <a:br/>
            <a:r>
              <a:t>  connection: {</a:t>
            </a:r>
            <a:br/>
            <a:r>
              <a:t>    client: 'postgres',</a:t>
            </a:r>
            <a:br/>
            <a:r>
              <a:t>    connection: {</a:t>
            </a:r>
            <a:br/>
            <a:r>
              <a:t>      connectionString: env('DATABASE_URL'),</a:t>
            </a:r>
            <a:br/>
            <a:r>
              <a:t>      ssl: env.bool('DATABASE_SSL', false),</a:t>
            </a:r>
            <a:br/>
            <a:r>
              <a:t>    },</a:t>
            </a:r>
            <a:br/>
            <a:r>
              <a:t>  },</a:t>
            </a:r>
            <a:br/>
            <a:r>
              <a:t>});</a:t>
            </a:r>
            <a:br/>
            <a:br/>
            <a:r>
              <a:t>// config/api.ts</a:t>
            </a:r>
            <a:br/>
            <a:r>
              <a:t>export default {</a:t>
            </a:r>
            <a:br/>
            <a:r>
              <a:t>  rest: {</a:t>
            </a:r>
            <a:br/>
            <a:r>
              <a:t>    defaultLimit: 25,</a:t>
            </a:r>
            <a:br/>
            <a:r>
              <a:t>    maxLimit: 100,</a:t>
            </a:r>
            <a:br/>
            <a:r>
              <a:t>    withCount: true,</a:t>
            </a:r>
            <a:br/>
            <a:r>
              <a:t>  },</a:t>
            </a:r>
            <a:br/>
            <a:r>
              <a:t>};</a:t>
            </a:r>
            <a:br/>
            <a:br/>
            <a:r>
              <a:t>// config/server.ts</a:t>
            </a:r>
            <a:br/>
            <a:r>
              <a:t>export default ({ env }) =&gt; ({</a:t>
            </a:r>
            <a:br/>
            <a:r>
              <a:t>  host: env('HOST', '0.0.0.0'),</a:t>
            </a:r>
            <a:br/>
            <a:r>
              <a:t>  port: env.int('PORT', 1337),</a:t>
            </a:r>
            <a:br/>
            <a:r>
              <a:t>  app: {</a:t>
            </a:r>
            <a:br/>
            <a:r>
              <a:t>    keys: env.array('APP_KEYS'),</a:t>
            </a:r>
            <a:br/>
            <a:r>
              <a:t>  },</a:t>
            </a:r>
            <a:b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Route Personnalisée - Email</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J'ai créé une route personnalisée pour gérer l'envoi d'emails depuis le formulaire de contact, en complément de l'API REST auto-générée.</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src/api/email/controllers/email.ts</a:t>
            </a:r>
            <a:br/>
            <a:r>
              <a:t>export default {</a:t>
            </a:r>
            <a:br/>
            <a:r>
              <a:t>  async send(ctx) {</a:t>
            </a:r>
            <a:br/>
            <a:r>
              <a:t>    const { name, email, message } = ctx.request.body;</a:t>
            </a:r>
            <a:br/>
            <a:br/>
            <a:r>
              <a:t>    // Validation</a:t>
            </a:r>
            <a:br/>
            <a:r>
              <a:t>    if (!name || !email || !message) {</a:t>
            </a:r>
            <a:br/>
            <a:r>
              <a:t>      return ctx.badRequest('Tous les champs sont requis');</a:t>
            </a:r>
            <a:br/>
            <a:r>
              <a:t>    }</a:t>
            </a:r>
            <a:br/>
            <a:br/>
            <a:r>
              <a:t>    try {</a:t>
            </a:r>
            <a:br/>
            <a:r>
              <a:t>      // Envoi de l'email via le service</a:t>
            </a:r>
            <a:br/>
            <a:r>
              <a:t>      await strapi.service('api::email.email').sendContactEmail({</a:t>
            </a:r>
            <a:br/>
            <a:r>
              <a:t>        name,</a:t>
            </a:r>
            <a:br/>
            <a:r>
              <a:t>        email,</a:t>
            </a:r>
            <a:br/>
            <a:r>
              <a:t>        message,</a:t>
            </a:r>
            <a:br/>
            <a:r>
              <a:t>      });</a:t>
            </a:r>
            <a:br/>
            <a:br/>
            <a:r>
              <a:t>      ctx.send({ message: 'Email envoyé avec succès' });</a:t>
            </a:r>
            <a:br/>
            <a:r>
              <a:t>    } catch (error) {</a:t>
            </a:r>
            <a:br/>
            <a:r>
              <a:t>      console.error('Erreur envoi email:', error);</a:t>
            </a:r>
            <a:br/>
            <a:r>
              <a:t>      ctx.internalServerError('Erreur lors de l'envoi');</a:t>
            </a:r>
            <a:br/>
            <a:r>
              <a:t>    }</a:t>
            </a:r>
            <a:br/>
            <a:r>
              <a:t>  },</a:t>
            </a:r>
            <a:br/>
            <a:r>
              <a:t>};</a:t>
            </a:r>
            <a:br/>
            <a:br/>
            <a:r>
              <a:t>// src/api/email/routes/email.ts</a:t>
            </a:r>
            <a:br/>
            <a:r>
              <a:t>export default {</a:t>
            </a:r>
            <a:br/>
            <a:r>
              <a:t>  routes: [</a:t>
            </a:r>
            <a:br/>
            <a:r>
              <a:t>    {</a:t>
            </a:r>
            <a:br/>
            <a:r>
              <a:t>      method: 'POST',</a:t>
            </a:r>
            <a:br/>
            <a:r>
              <a:t>      path: '/email',</a:t>
            </a:r>
            <a:br/>
            <a:r>
              <a:t>      handler: 'email.send',</a:t>
            </a:r>
            <a:br/>
            <a:r>
              <a:t>      config: {</a:t>
            </a:r>
            <a:br/>
            <a:r>
              <a:t>        auth: false, // Accessible sans authentification</a:t>
            </a:r>
            <a:br/>
            <a:r>
              <a:t>      },</a:t>
            </a:r>
            <a:br/>
            <a:r>
              <a:t>    },</a:t>
            </a:r>
            <a:br/>
            <a:r>
              <a:t>  ],</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Service Email avec Nodemailer</a:t>
            </a:r>
          </a:p>
        </p:txBody>
      </p:sp>
      <p:sp>
        <p:nvSpPr>
          <p:cNvPr id="4" name="TextBox 3"/>
          <p:cNvSpPr txBox="1"/>
          <p:nvPr/>
        </p:nvSpPr>
        <p:spPr>
          <a:xfrm>
            <a:off x="457200" y="1005840"/>
            <a:ext cx="6647688" cy="731520"/>
          </a:xfrm>
          <a:prstGeom prst="rect">
            <a:avLst/>
          </a:prstGeom>
          <a:noFill/>
        </p:spPr>
        <p:txBody>
          <a:bodyPr wrap="square">
            <a:spAutoFit/>
          </a:bodyPr>
          <a:lstStyle/>
          <a:p>
            <a:pPr>
              <a:defRPr sz="1200"/>
            </a:pPr>
            <a:r>
              <a:t>Service d'envoi d'emails avec Nodemailer et Gmail SMTP. J'ai configuré l'authentification via variables d'environnement pour la sécurité.</a:t>
            </a:r>
          </a:p>
        </p:txBody>
      </p:sp>
      <p:sp>
        <p:nvSpPr>
          <p:cNvPr id="5" name="Rectangle 4"/>
          <p:cNvSpPr/>
          <p:nvPr/>
        </p:nvSpPr>
        <p:spPr>
          <a:xfrm>
            <a:off x="457200" y="1828800"/>
            <a:ext cx="6647688" cy="8403336"/>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464808" cy="8220456"/>
          </a:xfrm>
          <a:prstGeom prst="rect">
            <a:avLst/>
          </a:prstGeom>
          <a:noFill/>
        </p:spPr>
        <p:txBody>
          <a:bodyPr wrap="square">
            <a:spAutoFit/>
          </a:bodyPr>
          <a:lstStyle/>
          <a:p>
            <a:pPr>
              <a:defRPr sz="900">
                <a:solidFill>
                  <a:srgbClr val="000000"/>
                </a:solidFill>
                <a:latin typeface="Courier New"/>
              </a:defRPr>
            </a:pPr>
            <a:r>
              <a:t>// src/services/email.ts</a:t>
            </a:r>
            <a:br/>
            <a:r>
              <a:t>import nodemailer from 'nodemailer';</a:t>
            </a:r>
            <a:br/>
            <a:br/>
            <a:r>
              <a:t>const transporter = nodemailer.createTransport({</a:t>
            </a:r>
            <a:br/>
            <a:r>
              <a:t>  service: 'gmail',</a:t>
            </a:r>
            <a:br/>
            <a:r>
              <a:t>  auth: {</a:t>
            </a:r>
            <a:br/>
            <a:r>
              <a:t>    user: process.env.SMTP_USERNAME,</a:t>
            </a:r>
            <a:br/>
            <a:r>
              <a:t>    pass: process.env.SMTP_PASSWORD,</a:t>
            </a:r>
            <a:br/>
            <a:r>
              <a:t>  },</a:t>
            </a:r>
            <a:br/>
            <a:r>
              <a:t>});</a:t>
            </a:r>
            <a:br/>
            <a:br/>
            <a:r>
              <a:t>export async function sendMail(to: string, subject: string, html: string) {</a:t>
            </a:r>
            <a:br/>
            <a:r>
              <a:t>  const mailOptions = {</a:t>
            </a:r>
            <a:br/>
            <a:r>
              <a:t>    from: process.env.SMTP_USERNAME,</a:t>
            </a:r>
            <a:br/>
            <a:r>
              <a:t>    to,</a:t>
            </a:r>
            <a:br/>
            <a:r>
              <a:t>    subject,</a:t>
            </a:r>
            <a:br/>
            <a:r>
              <a:t>    html,</a:t>
            </a:r>
            <a:br/>
            <a:r>
              <a:t>  };</a:t>
            </a:r>
            <a:br/>
            <a:br/>
            <a:r>
              <a:t>  return await transporter.sendMail(mailOptions);</a:t>
            </a:r>
            <a:br/>
            <a:r>
              <a:t>}</a:t>
            </a:r>
            <a:br/>
            <a:br/>
            <a:r>
              <a:t>// Utilisation dans le service</a:t>
            </a:r>
            <a:br/>
            <a:r>
              <a:t>export default () =&gt; ({</a:t>
            </a:r>
            <a:br/>
            <a:r>
              <a:t>  async sendContactEmail({ name, email, message }) {</a:t>
            </a:r>
            <a:br/>
            <a:r>
              <a:t>    const htmlContent = `</a:t>
            </a:r>
            <a:br/>
            <a:r>
              <a:t>      &lt;h2&gt;Nouveau message de contact&lt;/h2&gt;</a:t>
            </a:r>
            <a:br/>
            <a:r>
              <a:t>      &lt;p&gt;&lt;strong&gt;Nom :&lt;/strong&gt; ${name}&lt;/p&gt;</a:t>
            </a:r>
            <a:br/>
            <a:r>
              <a:t>      &lt;p&gt;&lt;strong&gt;Email :&lt;/strong&gt; ${email}&lt;/p&gt;</a:t>
            </a:r>
            <a:br/>
            <a:r>
              <a:t>      &lt;p&gt;&lt;strong&gt;Message :&lt;/strong&gt;&lt;/p&gt;</a:t>
            </a:r>
            <a:br/>
            <a:r>
              <a:t>      &lt;p&gt;${message}&lt;/p&gt;</a:t>
            </a:r>
            <a:br/>
            <a:r>
              <a:t>    `;</a:t>
            </a:r>
            <a:br/>
            <a:br/>
            <a:r>
              <a:t>    await sendMail(</a:t>
            </a:r>
            <a:br/>
            <a:r>
              <a:t>      process.env.CONTACT_RECEIVER,</a:t>
            </a:r>
            <a:br/>
            <a:r>
              <a:t>      'Nouveau message de contact APD',</a:t>
            </a:r>
            <a:br/>
            <a:r>
              <a:t>      htmlContent</a:t>
            </a:r>
            <a:br/>
            <a:r>
              <a:t>    );</a:t>
            </a:r>
            <a:br/>
            <a:r>
              <a:t>  },</a:t>
            </a:r>
            <a:b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Optimisations Performance</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Stratégies d'optimisation mises en place</a:t>
            </a:r>
          </a:p>
          <a:p>
            <a:pPr>
              <a:spcAft>
                <a:spcPts val="600"/>
              </a:spcAft>
              <a:defRPr sz="1400"/>
            </a:pPr>
          </a:p>
          <a:p>
            <a:pPr>
              <a:spcAft>
                <a:spcPts val="600"/>
              </a:spcAft>
              <a:defRPr sz="1400" b="1"/>
            </a:pPr>
            <a:r>
              <a:t>1. Images optimisées avec next/image</a:t>
            </a:r>
          </a:p>
          <a:p>
            <a:pPr>
              <a:spcAft>
                <a:spcPts val="600"/>
              </a:spcAft>
              <a:defRPr sz="1200"/>
            </a:pPr>
            <a:r>
              <a:t>Redimensionnement automatique et lazy loading</a:t>
            </a:r>
          </a:p>
          <a:p>
            <a:pPr>
              <a:spcAft>
                <a:spcPts val="600"/>
              </a:spcAft>
              <a:defRPr sz="1200"/>
            </a:pPr>
            <a:r>
              <a:t>Format WebP pour réduire la taille des fichiers</a:t>
            </a:r>
          </a:p>
          <a:p>
            <a:pPr>
              <a:spcAft>
                <a:spcPts val="600"/>
              </a:spcAft>
              <a:defRPr sz="1200"/>
            </a:pPr>
            <a:r>
              <a:t>CDN Cloudinary pour un chargement rapide</a:t>
            </a:r>
          </a:p>
          <a:p>
            <a:pPr>
              <a:spcAft>
                <a:spcPts val="600"/>
              </a:spcAft>
              <a:defRPr sz="1400"/>
            </a:pPr>
          </a:p>
          <a:p>
            <a:pPr>
              <a:spcAft>
                <a:spcPts val="600"/>
              </a:spcAft>
              <a:defRPr sz="1400" b="1"/>
            </a:pPr>
            <a:r>
              <a:t>2. Code splitting avec dynamic imports</a:t>
            </a:r>
          </a:p>
          <a:p>
            <a:pPr>
              <a:spcAft>
                <a:spcPts val="600"/>
              </a:spcAft>
              <a:defRPr sz="1200"/>
            </a:pPr>
            <a:r>
              <a:t>Chargement différé des composants non critiques</a:t>
            </a:r>
          </a:p>
          <a:p>
            <a:pPr>
              <a:spcAft>
                <a:spcPts val="600"/>
              </a:spcAft>
              <a:defRPr sz="1200"/>
            </a:pPr>
            <a:r>
              <a:t>Réduction du bundle JavaScript initial</a:t>
            </a:r>
          </a:p>
          <a:p>
            <a:pPr>
              <a:spcAft>
                <a:spcPts val="600"/>
              </a:spcAft>
              <a:defRPr sz="1400"/>
            </a:pPr>
          </a:p>
          <a:p>
            <a:pPr>
              <a:spcAft>
                <a:spcPts val="600"/>
              </a:spcAft>
              <a:defRPr sz="1400" b="1"/>
            </a:pPr>
            <a:r>
              <a:t>3. Chargement prioritaire</a:t>
            </a:r>
          </a:p>
          <a:p>
            <a:pPr>
              <a:spcAft>
                <a:spcPts val="600"/>
              </a:spcAft>
              <a:defRPr sz="1200"/>
            </a:pPr>
            <a:r>
              <a:t>Vidéo d'accueil chargée en priorité avec preload="auto"</a:t>
            </a:r>
          </a:p>
          <a:p>
            <a:pPr>
              <a:spcAft>
                <a:spcPts val="600"/>
              </a:spcAft>
              <a:defRPr sz="1200"/>
            </a:pPr>
            <a:r>
              <a:t>Hook useSiteData qui charge l'accueil en premier</a:t>
            </a:r>
          </a:p>
          <a:p>
            <a:pPr>
              <a:spcAft>
                <a:spcPts val="600"/>
              </a:spcAft>
              <a:defRPr sz="1400"/>
            </a:pPr>
          </a:p>
          <a:p>
            <a:pPr>
              <a:spcAft>
                <a:spcPts val="600"/>
              </a:spcAft>
              <a:defRPr sz="1400" b="1"/>
            </a:pPr>
            <a:r>
              <a:t>4. Server-Side Rendering (SSR)</a:t>
            </a:r>
          </a:p>
          <a:p>
            <a:pPr>
              <a:spcAft>
                <a:spcPts val="600"/>
              </a:spcAft>
              <a:defRPr sz="1200"/>
            </a:pPr>
            <a:r>
              <a:t>Pages générées côté serveur pour un meilleur SEO</a:t>
            </a:r>
          </a:p>
          <a:p>
            <a:pPr>
              <a:spcAft>
                <a:spcPts val="600"/>
              </a:spcAft>
              <a:defRPr sz="1200"/>
            </a:pPr>
            <a:r>
              <a:t>Incremental Static Regeneration (revalidate: 60s)</a:t>
            </a:r>
          </a:p>
          <a:p>
            <a:pPr>
              <a:spcAft>
                <a:spcPts val="600"/>
              </a:spcAft>
              <a:defRPr sz="1400"/>
            </a:pPr>
          </a:p>
          <a:p>
            <a:pPr>
              <a:spcAft>
                <a:spcPts val="600"/>
              </a:spcAft>
              <a:defRPr sz="1400" b="1"/>
            </a:pPr>
            <a:r>
              <a:t>5. Caching et revalidation</a:t>
            </a:r>
          </a:p>
          <a:p>
            <a:pPr>
              <a:spcAft>
                <a:spcPts val="600"/>
              </a:spcAft>
              <a:defRPr sz="1200"/>
            </a:pPr>
            <a:r>
              <a:t>Utilisation du cache Next.js pour les requêtes API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Responsive Design &amp; Accessibilité</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Approche Mobile-First</a:t>
            </a:r>
          </a:p>
          <a:p>
            <a:pPr>
              <a:spcAft>
                <a:spcPts val="600"/>
              </a:spcAft>
              <a:defRPr sz="1300"/>
            </a:pPr>
            <a:r>
              <a:t>J'ai développé le site en commençant par la version mobile, puis adapté progressivement pour les écrans plus larges.</a:t>
            </a:r>
          </a:p>
          <a:p>
            <a:pPr>
              <a:spcAft>
                <a:spcPts val="600"/>
              </a:spcAft>
              <a:defRPr sz="1400"/>
            </a:pPr>
          </a:p>
          <a:p>
            <a:pPr>
              <a:spcAft>
                <a:spcPts val="600"/>
              </a:spcAft>
              <a:defRPr sz="1400" b="1"/>
            </a:pPr>
            <a:r>
              <a:t>TailwindCSS - Breakpoints utilisés :</a:t>
            </a:r>
          </a:p>
          <a:p>
            <a:pPr lvl="1">
              <a:spcAft>
                <a:spcPts val="600"/>
              </a:spcAft>
              <a:defRPr sz="1000">
                <a:latin typeface="Courier New"/>
              </a:defRPr>
            </a:pPr>
            <a:r>
              <a:t>sm: (640px)  → Petits écrans</a:t>
            </a:r>
          </a:p>
          <a:p>
            <a:pPr lvl="1">
              <a:spcAft>
                <a:spcPts val="600"/>
              </a:spcAft>
              <a:defRPr sz="1000">
                <a:latin typeface="Courier New"/>
              </a:defRPr>
            </a:pPr>
            <a:r>
              <a:t>md: (768px)  → Tablettes</a:t>
            </a:r>
          </a:p>
          <a:p>
            <a:pPr lvl="1">
              <a:spcAft>
                <a:spcPts val="600"/>
              </a:spcAft>
              <a:defRPr sz="1000">
                <a:latin typeface="Courier New"/>
              </a:defRPr>
            </a:pPr>
            <a:r>
              <a:t>lg: (1024px) → Desktop</a:t>
            </a:r>
          </a:p>
          <a:p>
            <a:pPr lvl="1">
              <a:spcAft>
                <a:spcPts val="600"/>
              </a:spcAft>
              <a:defRPr sz="1000">
                <a:latin typeface="Courier New"/>
              </a:defRPr>
            </a:pPr>
            <a:r>
              <a:t>xl: (1280px) → Large desktop</a:t>
            </a:r>
          </a:p>
          <a:p>
            <a:pPr>
              <a:spcAft>
                <a:spcPts val="600"/>
              </a:spcAft>
              <a:defRPr sz="1400"/>
            </a:pPr>
          </a:p>
          <a:p>
            <a:pPr>
              <a:spcAft>
                <a:spcPts val="600"/>
              </a:spcAft>
              <a:defRPr sz="1500" b="1"/>
            </a:pPr>
            <a:r>
              <a:t>♿ Accessibilité (WCAG)</a:t>
            </a:r>
          </a:p>
          <a:p>
            <a:pPr>
              <a:spcAft>
                <a:spcPts val="600"/>
              </a:spcAft>
              <a:defRPr sz="1200"/>
            </a:pPr>
            <a:r>
              <a:t>Balises sémantiques HTML5 (header, nav, main, article, section)</a:t>
            </a:r>
          </a:p>
          <a:p>
            <a:pPr>
              <a:spcAft>
                <a:spcPts val="600"/>
              </a:spcAft>
              <a:defRPr sz="1200"/>
            </a:pPr>
            <a:r>
              <a:t>Attributs alt sur toutes les images</a:t>
            </a:r>
          </a:p>
          <a:p>
            <a:pPr>
              <a:spcAft>
                <a:spcPts val="600"/>
              </a:spcAft>
              <a:defRPr sz="1200"/>
            </a:pPr>
            <a:r>
              <a:t>Contraste de couleurs conforme aux normes AA</a:t>
            </a:r>
          </a:p>
          <a:p>
            <a:pPr>
              <a:spcAft>
                <a:spcPts val="600"/>
              </a:spcAft>
              <a:defRPr sz="1200"/>
            </a:pPr>
            <a:r>
              <a:t>Navigation au clavier fonctionnelle</a:t>
            </a:r>
          </a:p>
          <a:p>
            <a:pPr>
              <a:spcAft>
                <a:spcPts val="600"/>
              </a:spcAft>
              <a:defRPr sz="1200"/>
            </a:pPr>
            <a:r>
              <a:t>Attributs ARIA pour les éléments interactifs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Gestion d'État et Hooks</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Hooks React utilisés</a:t>
            </a:r>
          </a:p>
          <a:p>
            <a:pPr>
              <a:spcAft>
                <a:spcPts val="600"/>
              </a:spcAft>
              <a:defRPr sz="1400"/>
            </a:pPr>
          </a:p>
          <a:p>
            <a:pPr>
              <a:spcAft>
                <a:spcPts val="600"/>
              </a:spcAft>
              <a:defRPr sz="1400" b="1"/>
            </a:pPr>
            <a:r>
              <a:t>useState</a:t>
            </a:r>
          </a:p>
          <a:p>
            <a:pPr>
              <a:spcAft>
                <a:spcPts val="600"/>
              </a:spcAft>
              <a:defRPr sz="1200"/>
            </a:pPr>
            <a:r>
              <a:t>Gestion des états locaux (loading, error, data)</a:t>
            </a:r>
          </a:p>
          <a:p>
            <a:pPr>
              <a:spcAft>
                <a:spcPts val="600"/>
              </a:spcAft>
              <a:defRPr sz="1200"/>
            </a:pPr>
            <a:r>
              <a:t>Exemple : opacité de la vidéo, état du modal de contact</a:t>
            </a:r>
          </a:p>
          <a:p>
            <a:pPr>
              <a:spcAft>
                <a:spcPts val="600"/>
              </a:spcAft>
              <a:defRPr sz="1400"/>
            </a:pPr>
          </a:p>
          <a:p>
            <a:pPr>
              <a:spcAft>
                <a:spcPts val="600"/>
              </a:spcAft>
              <a:defRPr sz="1400" b="1"/>
            </a:pPr>
            <a:r>
              <a:t>useEffect</a:t>
            </a:r>
          </a:p>
          <a:p>
            <a:pPr>
              <a:spcAft>
                <a:spcPts val="600"/>
              </a:spcAft>
              <a:defRPr sz="1200"/>
            </a:pPr>
            <a:r>
              <a:t>Appels API au montage des composants</a:t>
            </a:r>
          </a:p>
          <a:p>
            <a:pPr>
              <a:spcAft>
                <a:spcPts val="600"/>
              </a:spcAft>
              <a:defRPr sz="1200"/>
            </a:pPr>
            <a:r>
              <a:t>Initialisation des animations GSAP</a:t>
            </a:r>
          </a:p>
          <a:p>
            <a:pPr>
              <a:spcAft>
                <a:spcPts val="600"/>
              </a:spcAft>
              <a:defRPr sz="1200"/>
            </a:pPr>
            <a:r>
              <a:t>Nettoyage des event listeners</a:t>
            </a:r>
          </a:p>
          <a:p>
            <a:pPr>
              <a:spcAft>
                <a:spcPts val="600"/>
              </a:spcAft>
              <a:defRPr sz="1400"/>
            </a:pPr>
          </a:p>
          <a:p>
            <a:pPr>
              <a:spcAft>
                <a:spcPts val="600"/>
              </a:spcAft>
              <a:defRPr sz="1400" b="1"/>
            </a:pPr>
            <a:r>
              <a:t>useRef</a:t>
            </a:r>
          </a:p>
          <a:p>
            <a:pPr>
              <a:spcAft>
                <a:spcPts val="600"/>
              </a:spcAft>
              <a:defRPr sz="1200"/>
            </a:pPr>
            <a:r>
              <a:t>Référence aux éléments DOM pour les animations</a:t>
            </a:r>
          </a:p>
          <a:p>
            <a:pPr>
              <a:spcAft>
                <a:spcPts val="600"/>
              </a:spcAft>
              <a:defRPr sz="1200"/>
            </a:pPr>
            <a:r>
              <a:t>Gestion de la lecture vidéo</a:t>
            </a:r>
          </a:p>
          <a:p>
            <a:pPr>
              <a:spcAft>
                <a:spcPts val="600"/>
              </a:spcAft>
              <a:defRPr sz="1400"/>
            </a:pPr>
          </a:p>
          <a:p>
            <a:pPr>
              <a:spcAft>
                <a:spcPts val="600"/>
              </a:spcAft>
              <a:defRPr sz="1400" b="1"/>
            </a:pPr>
            <a:r>
              <a:t>Hooks personnalisés</a:t>
            </a:r>
          </a:p>
          <a:p>
            <a:pPr>
              <a:spcAft>
                <a:spcPts val="600"/>
              </a:spcAft>
              <a:defRPr sz="1200"/>
            </a:pPr>
            <a:r>
              <a:t>useSiteData : centralise les appels API Strapi</a:t>
            </a:r>
          </a:p>
          <a:p>
            <a:pPr>
              <a:spcAft>
                <a:spcPts val="600"/>
              </a:spcAft>
              <a:defRPr sz="1200"/>
            </a:pPr>
            <a:r>
              <a:t>useIsMobile : détecte si l'utilisateur est sur mobile</a:t>
            </a:r>
          </a:p>
          <a:p>
            <a:pPr>
              <a:spcAft>
                <a:spcPts val="600"/>
              </a:spcAft>
              <a:defRPr sz="1400"/>
            </a:pPr>
          </a:p>
          <a:p>
            <a:pPr>
              <a:spcAft>
                <a:spcPts val="600"/>
              </a:spcAft>
              <a:defRPr sz="1200"/>
            </a:pPr>
            <a:r>
              <a:t>Pas de bibliothèque de gestion d'état externe (Redux, Zustand) car l'application est simple et les données viennent principalement de l'API.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Animations et Expérience Utilisateur</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500" b="1"/>
            </a:pPr>
            <a:r>
              <a:t>✨ GSAP - GreenSock Animation Platform</a:t>
            </a:r>
          </a:p>
          <a:p>
            <a:pPr>
              <a:spcAft>
                <a:spcPts val="600"/>
              </a:spcAft>
              <a:defRPr sz="1300"/>
            </a:pPr>
            <a:r>
              <a:t>Animations fluides et performantes :</a:t>
            </a:r>
          </a:p>
          <a:p>
            <a:pPr lvl="1">
              <a:spcAft>
                <a:spcPts val="600"/>
              </a:spcAft>
              <a:defRPr sz="1200"/>
            </a:pPr>
            <a:r>
              <a:t>→ Apparition progressive des sections au scroll</a:t>
            </a:r>
          </a:p>
          <a:p>
            <a:pPr lvl="1">
              <a:spcAft>
                <a:spcPts val="600"/>
              </a:spcAft>
              <a:defRPr sz="1200"/>
            </a:pPr>
            <a:r>
              <a:t>→ Transitions entre les pages</a:t>
            </a:r>
          </a:p>
          <a:p>
            <a:pPr lvl="1">
              <a:spcAft>
                <a:spcPts val="600"/>
              </a:spcAft>
              <a:defRPr sz="1200"/>
            </a:pPr>
            <a:r>
              <a:t>→ Effets de parallaxe sur les images</a:t>
            </a:r>
          </a:p>
          <a:p>
            <a:pPr>
              <a:spcAft>
                <a:spcPts val="600"/>
              </a:spcAft>
              <a:defRPr sz="1400"/>
            </a:pPr>
          </a:p>
          <a:p>
            <a:pPr>
              <a:spcAft>
                <a:spcPts val="600"/>
              </a:spcAft>
              <a:defRPr sz="1500" b="1"/>
            </a:pPr>
            <a:r>
              <a:t>🎯 Lenis - Smooth Scroll</a:t>
            </a:r>
          </a:p>
          <a:p>
            <a:pPr>
              <a:spcAft>
                <a:spcPts val="600"/>
              </a:spcAft>
              <a:defRPr sz="1300"/>
            </a:pPr>
            <a:r>
              <a:t>Défilement fluide et naturel de la page</a:t>
            </a:r>
          </a:p>
          <a:p>
            <a:pPr>
              <a:spcAft>
                <a:spcPts val="600"/>
              </a:spcAft>
              <a:defRPr sz="1300"/>
            </a:pPr>
            <a:r>
              <a:t>Améliore considérablement l'expérience de navigation</a:t>
            </a:r>
          </a:p>
          <a:p>
            <a:pPr>
              <a:spcAft>
                <a:spcPts val="600"/>
              </a:spcAft>
              <a:defRPr sz="1400"/>
            </a:pPr>
          </a:p>
          <a:p>
            <a:pPr>
              <a:spcAft>
                <a:spcPts val="600"/>
              </a:spcAft>
              <a:defRPr sz="1500" b="1"/>
            </a:pPr>
            <a:r>
              <a:t>🎨 Transitions CSS</a:t>
            </a:r>
          </a:p>
          <a:p>
            <a:pPr>
              <a:spcAft>
                <a:spcPts val="600"/>
              </a:spcAft>
              <a:defRPr sz="1300"/>
            </a:pPr>
            <a:r>
              <a:t>Transitions douces sur les hover/focus</a:t>
            </a:r>
          </a:p>
          <a:p>
            <a:pPr>
              <a:spcAft>
                <a:spcPts val="600"/>
              </a:spcAft>
              <a:defRPr sz="1300"/>
            </a:pPr>
            <a:r>
              <a:t>Effet de fondu sur le chargement de la vidéo</a:t>
            </a:r>
          </a:p>
          <a:p>
            <a:pPr>
              <a:spcAft>
                <a:spcPts val="600"/>
              </a:spcAft>
              <a:defRPr sz="1400"/>
            </a:pPr>
          </a:p>
          <a:p>
            <a:pPr>
              <a:spcAft>
                <a:spcPts val="600"/>
              </a:spcAft>
              <a:defRPr sz="1500" b="1"/>
            </a:pPr>
            <a:r>
              <a:t>💡 Indicateurs visuels</a:t>
            </a:r>
          </a:p>
          <a:p>
            <a:pPr>
              <a:spcAft>
                <a:spcPts val="600"/>
              </a:spcAft>
              <a:defRPr sz="1300"/>
            </a:pPr>
            <a:r>
              <a:t>ScrollIndicator : indique la progression de lecture</a:t>
            </a:r>
          </a:p>
          <a:p>
            <a:pPr>
              <a:spcAft>
                <a:spcPts val="600"/>
              </a:spcAft>
              <a:defRPr sz="1300"/>
            </a:pPr>
            <a:r>
              <a:t>États de chargement avec spinners</a:t>
            </a:r>
          </a:p>
          <a:p>
            <a:pPr>
              <a:spcAft>
                <a:spcPts val="600"/>
              </a:spcAft>
              <a:defRPr sz="1300"/>
            </a:pPr>
            <a:r>
              <a:t>Messages d'erreur clairs et informatifs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Compétences Frontend Démontrées</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600" b="1"/>
            </a:pPr>
            <a:r>
              <a:t>✅ Attendus TP DWWM - Frontend</a:t>
            </a:r>
          </a:p>
          <a:p>
            <a:pPr>
              <a:spcAft>
                <a:spcPts val="600"/>
              </a:spcAft>
              <a:defRPr sz="1400"/>
            </a:pPr>
          </a:p>
          <a:p>
            <a:pPr>
              <a:spcAft>
                <a:spcPts val="600"/>
              </a:spcAft>
              <a:defRPr sz="1400" b="1"/>
            </a:pPr>
            <a:r>
              <a:t>1. Maquetter une application</a:t>
            </a:r>
          </a:p>
          <a:p>
            <a:pPr>
              <a:spcAft>
                <a:spcPts val="600"/>
              </a:spcAft>
              <a:defRPr sz="1200"/>
            </a:pPr>
            <a:r>
              <a:t>Respect du maquettage fourni par l'agence</a:t>
            </a:r>
          </a:p>
          <a:p>
            <a:pPr>
              <a:spcAft>
                <a:spcPts val="600"/>
              </a:spcAft>
              <a:defRPr sz="1200"/>
            </a:pPr>
            <a:r>
              <a:t>Adaptation responsive sur tous les devices</a:t>
            </a:r>
          </a:p>
          <a:p>
            <a:pPr>
              <a:spcAft>
                <a:spcPts val="600"/>
              </a:spcAft>
              <a:defRPr sz="1400"/>
            </a:pPr>
          </a:p>
          <a:p>
            <a:pPr>
              <a:spcAft>
                <a:spcPts val="600"/>
              </a:spcAft>
              <a:defRPr sz="1400" b="1"/>
            </a:pPr>
            <a:r>
              <a:t>2. Réaliser une interface utilisateur web statique et adaptable</a:t>
            </a:r>
          </a:p>
          <a:p>
            <a:pPr>
              <a:spcAft>
                <a:spcPts val="600"/>
              </a:spcAft>
              <a:defRPr sz="1200"/>
            </a:pPr>
            <a:r>
              <a:t>HTML5 sémantique avec Next.js/React</a:t>
            </a:r>
          </a:p>
          <a:p>
            <a:pPr>
              <a:spcAft>
                <a:spcPts val="600"/>
              </a:spcAft>
              <a:defRPr sz="1200"/>
            </a:pPr>
            <a:r>
              <a:t>CSS avec TailwindCSS (utility-first)</a:t>
            </a:r>
          </a:p>
          <a:p>
            <a:pPr>
              <a:spcAft>
                <a:spcPts val="600"/>
              </a:spcAft>
              <a:defRPr sz="1200"/>
            </a:pPr>
            <a:r>
              <a:t>Design responsive mobile-first</a:t>
            </a:r>
          </a:p>
          <a:p>
            <a:pPr>
              <a:spcAft>
                <a:spcPts val="600"/>
              </a:spcAft>
              <a:defRPr sz="1400"/>
            </a:pPr>
          </a:p>
          <a:p>
            <a:pPr>
              <a:spcAft>
                <a:spcPts val="600"/>
              </a:spcAft>
              <a:defRPr sz="1400" b="1"/>
            </a:pPr>
            <a:r>
              <a:t>3. Développer une interface utilisateur web dynamique</a:t>
            </a:r>
          </a:p>
          <a:p>
            <a:pPr>
              <a:spcAft>
                <a:spcPts val="600"/>
              </a:spcAft>
              <a:defRPr sz="1200"/>
            </a:pPr>
            <a:r>
              <a:t>React 19 avec composants fonctionnels et hooks</a:t>
            </a:r>
          </a:p>
          <a:p>
            <a:pPr>
              <a:spcAft>
                <a:spcPts val="600"/>
              </a:spcAft>
              <a:defRPr sz="1200"/>
            </a:pPr>
            <a:r>
              <a:t>Gestion d'état avec useState/useEffect</a:t>
            </a:r>
          </a:p>
          <a:p>
            <a:pPr>
              <a:spcAft>
                <a:spcPts val="600"/>
              </a:spcAft>
              <a:defRPr sz="1200"/>
            </a:pPr>
            <a:r>
              <a:t>Hooks personnalisés pour réutilisabilité</a:t>
            </a:r>
          </a:p>
          <a:p>
            <a:pPr>
              <a:spcAft>
                <a:spcPts val="600"/>
              </a:spcAft>
              <a:defRPr sz="1400"/>
            </a:pPr>
          </a:p>
          <a:p>
            <a:pPr>
              <a:spcAft>
                <a:spcPts val="600"/>
              </a:spcAft>
              <a:defRPr sz="1400" b="1"/>
            </a:pPr>
            <a:r>
              <a:t>4. Réaliser une interface utilisateur avec une solution de gestion de contenu</a:t>
            </a:r>
          </a:p>
          <a:p>
            <a:pPr>
              <a:spcAft>
                <a:spcPts val="600"/>
              </a:spcAft>
              <a:defRPr sz="1200"/>
            </a:pPr>
            <a:r>
              <a:t>Intégration avec Strapi CMS headless</a:t>
            </a:r>
          </a:p>
          <a:p>
            <a:pPr>
              <a:spcAft>
                <a:spcPts val="600"/>
              </a:spcAft>
              <a:defRPr sz="1200"/>
            </a:pPr>
            <a:r>
              <a:t>Consommation API REST avec fetch</a:t>
            </a:r>
          </a:p>
          <a:p>
            <a:pPr>
              <a:spcAft>
                <a:spcPts val="600"/>
              </a:spcAft>
              <a:defRPr sz="1200"/>
            </a:pPr>
            <a:r>
              <a:t>Gestion du cache et revalidation Next.js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73152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7013448" cy="457200"/>
          </a:xfrm>
          <a:prstGeom prst="rect">
            <a:avLst/>
          </a:prstGeom>
          <a:noFill/>
        </p:spPr>
        <p:txBody>
          <a:bodyPr wrap="none">
            <a:spAutoFit/>
          </a:bodyPr>
          <a:lstStyle/>
          <a:p>
            <a:pPr>
              <a:defRPr sz="2400" b="1">
                <a:solidFill>
                  <a:srgbClr val="FFFFFF"/>
                </a:solidFill>
              </a:defRPr>
            </a:pPr>
            <a:r>
              <a:t>Bilan - Partie Frontend</a:t>
            </a:r>
          </a:p>
        </p:txBody>
      </p:sp>
      <p:sp>
        <p:nvSpPr>
          <p:cNvPr id="4" name="TextBox 3"/>
          <p:cNvSpPr txBox="1"/>
          <p:nvPr/>
        </p:nvSpPr>
        <p:spPr>
          <a:xfrm>
            <a:off x="457200" y="1005840"/>
            <a:ext cx="6647688" cy="9144000"/>
          </a:xfrm>
          <a:prstGeom prst="rect">
            <a:avLst/>
          </a:prstGeom>
          <a:noFill/>
        </p:spPr>
        <p:txBody>
          <a:bodyPr wrap="square">
            <a:spAutoFit/>
          </a:bodyPr>
          <a:lstStyle/>
          <a:p>
            <a:pPr>
              <a:spcAft>
                <a:spcPts val="600"/>
              </a:spcAft>
              <a:defRPr sz="1600" b="1"/>
            </a:pPr>
            <a:r>
              <a:t>🎯 Objectifs atteints</a:t>
            </a:r>
          </a:p>
          <a:p>
            <a:pPr>
              <a:spcAft>
                <a:spcPts val="600"/>
              </a:spcAft>
              <a:defRPr sz="1300"/>
            </a:pPr>
            <a:r>
              <a:t>Site vitrine moderne et performant pour l'association APD</a:t>
            </a:r>
          </a:p>
          <a:p>
            <a:pPr>
              <a:spcAft>
                <a:spcPts val="600"/>
              </a:spcAft>
              <a:defRPr sz="1300"/>
            </a:pPr>
            <a:r>
              <a:t>Interface d'administration simple avec Strapi</a:t>
            </a:r>
          </a:p>
          <a:p>
            <a:pPr>
              <a:spcAft>
                <a:spcPts val="600"/>
              </a:spcAft>
              <a:defRPr sz="1300"/>
            </a:pPr>
            <a:r>
              <a:t>Optimisations performance (images, code splitting, SSR)</a:t>
            </a:r>
          </a:p>
          <a:p>
            <a:pPr>
              <a:spcAft>
                <a:spcPts val="600"/>
              </a:spcAft>
              <a:defRPr sz="1300"/>
            </a:pPr>
            <a:r>
              <a:t>Design responsive et accessible</a:t>
            </a:r>
          </a:p>
          <a:p>
            <a:pPr>
              <a:spcAft>
                <a:spcPts val="600"/>
              </a:spcAft>
              <a:defRPr sz="1400"/>
            </a:pPr>
          </a:p>
          <a:p>
            <a:pPr>
              <a:spcAft>
                <a:spcPts val="600"/>
              </a:spcAft>
              <a:defRPr sz="1600" b="1"/>
            </a:pPr>
            <a:r>
              <a:t>💪 Points forts</a:t>
            </a:r>
          </a:p>
          <a:p>
            <a:pPr>
              <a:spcAft>
                <a:spcPts val="600"/>
              </a:spcAft>
              <a:defRPr sz="1300"/>
            </a:pPr>
            <a:r>
              <a:t>Maîtrise de Next.js 15 et App Router</a:t>
            </a:r>
          </a:p>
          <a:p>
            <a:pPr>
              <a:spcAft>
                <a:spcPts val="600"/>
              </a:spcAft>
              <a:defRPr sz="1300"/>
            </a:pPr>
            <a:r>
              <a:t>Utilisation avancée des hooks React</a:t>
            </a:r>
          </a:p>
          <a:p>
            <a:pPr>
              <a:spcAft>
                <a:spcPts val="600"/>
              </a:spcAft>
              <a:defRPr sz="1300"/>
            </a:pPr>
            <a:r>
              <a:t>Optimisations performance mesurables</a:t>
            </a:r>
          </a:p>
          <a:p>
            <a:pPr>
              <a:spcAft>
                <a:spcPts val="600"/>
              </a:spcAft>
              <a:defRPr sz="1300"/>
            </a:pPr>
            <a:r>
              <a:t>Code propre et maintenable</a:t>
            </a:r>
          </a:p>
          <a:p>
            <a:pPr>
              <a:spcAft>
                <a:spcPts val="600"/>
              </a:spcAft>
              <a:defRPr sz="1400"/>
            </a:pPr>
          </a:p>
          <a:p>
            <a:pPr>
              <a:spcAft>
                <a:spcPts val="600"/>
              </a:spcAft>
              <a:defRPr sz="1600" b="1"/>
            </a:pPr>
            <a:r>
              <a:t>📚 Apprentissages</a:t>
            </a:r>
          </a:p>
          <a:p>
            <a:pPr>
              <a:spcAft>
                <a:spcPts val="600"/>
              </a:spcAft>
              <a:defRPr sz="1300"/>
            </a:pPr>
            <a:r>
              <a:t>Découverte de Strapi CMS et architecture headless</a:t>
            </a:r>
          </a:p>
          <a:p>
            <a:pPr>
              <a:spcAft>
                <a:spcPts val="600"/>
              </a:spcAft>
              <a:defRPr sz="1300"/>
            </a:pPr>
            <a:r>
              <a:t>Approfondissement Next.js (SSR, ISR, Server Components)</a:t>
            </a:r>
          </a:p>
          <a:p>
            <a:pPr>
              <a:spcAft>
                <a:spcPts val="600"/>
              </a:spcAft>
              <a:defRPr sz="1300"/>
            </a:pPr>
            <a:r>
              <a:t>Gestion de projet en contexte professionnel</a:t>
            </a:r>
          </a:p>
          <a:p>
            <a:pPr>
              <a:spcAft>
                <a:spcPts val="600"/>
              </a:spcAft>
              <a:defRPr sz="1400"/>
            </a:pPr>
          </a:p>
          <a:p>
            <a:pPr>
              <a:spcAft>
                <a:spcPts val="600"/>
              </a:spcAft>
              <a:defRPr sz="1600" b="1"/>
            </a:pPr>
            <a:r>
              <a:t>🔄 Perspectives</a:t>
            </a:r>
          </a:p>
          <a:p>
            <a:pPr>
              <a:spcAft>
                <a:spcPts val="600"/>
              </a:spcAft>
              <a:defRPr sz="1300"/>
            </a:pPr>
            <a:r>
              <a:t>Ajout de tests unitaires et e2e (Jest, Playwright)</a:t>
            </a:r>
          </a:p>
          <a:p>
            <a:pPr>
              <a:spcAft>
                <a:spcPts val="600"/>
              </a:spcAft>
              <a:defRPr sz="1300"/>
            </a:pPr>
            <a:r>
              <a:t>Mise en place CI/CD pour déploiement automatisé</a:t>
            </a:r>
          </a:p>
          <a:p>
            <a:pPr>
              <a:spcAft>
                <a:spcPts val="600"/>
              </a:spcAft>
              <a:defRPr sz="1300"/>
            </a:pPr>
            <a:r>
              <a:t>Amélioration continue de l'accessibilité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