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C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7315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DOSSIER DE PROJET - TP DWWM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DEDED"/>
                </a:solidFill>
              </a:defRPr>
            </a:pPr>
            <a:r>
              <a:t>APD • CoolBooking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SOMMAIRE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71717"/>
                </a:solidFill>
              </a:defRPr>
            </a:pPr>
            <a:r>
              <a:t>Identité</a:t>
            </a:r>
          </a:p>
          <a:p>
            <a:pPr>
              <a:defRPr sz="2200">
                <a:solidFill>
                  <a:srgbClr val="171717"/>
                </a:solidFill>
              </a:defRPr>
            </a:pPr>
            <a:r>
              <a:t>Équipe</a:t>
            </a:r>
          </a:p>
          <a:p>
            <a:pPr>
              <a:defRPr sz="2200">
                <a:solidFill>
                  <a:srgbClr val="171717"/>
                </a:solidFill>
              </a:defRPr>
            </a:pPr>
            <a:r>
              <a:t>Architecture</a:t>
            </a:r>
          </a:p>
          <a:p>
            <a:pPr>
              <a:defRPr sz="2200">
                <a:solidFill>
                  <a:srgbClr val="171717"/>
                </a:solidFill>
              </a:defRPr>
            </a:pPr>
            <a:r>
              <a:t>Sécurité</a:t>
            </a:r>
          </a:p>
          <a:p>
            <a:pPr>
              <a:defRPr sz="2200">
                <a:solidFill>
                  <a:srgbClr val="171717"/>
                </a:solidFill>
              </a:defRPr>
            </a:pPr>
            <a:r>
              <a:t>Perspectives</a:t>
            </a:r>
          </a:p>
          <a:p>
            <a:pPr>
              <a:defRPr sz="2200">
                <a:solidFill>
                  <a:srgbClr val="171717"/>
                </a:solidFill>
              </a:defRPr>
            </a:pPr>
            <a:r>
              <a:t>Conclusion</a:t>
            </a:r>
          </a:p>
          <a:p>
            <a:pPr>
              <a:defRPr sz="2200">
                <a:solidFill>
                  <a:srgbClr val="171717"/>
                </a:solidFill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IDENTITÉ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Objectif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74980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71717"/>
                </a:solidFill>
              </a:defRPr>
            </a:pPr>
            <a:r>
              <a:t>Reconversion centrée produit &amp; sécurité</a:t>
            </a:r>
          </a:p>
          <a:p>
            <a:pPr>
              <a:defRPr sz="1600">
                <a:solidFill>
                  <a:srgbClr val="171717"/>
                </a:solidFill>
              </a:defRPr>
            </a:pPr>
            <a:r>
              <a:t>MVP rapide puis durcissement</a:t>
            </a:r>
          </a:p>
          <a:p>
            <a:pPr>
              <a:defRPr sz="1600">
                <a:solidFill>
                  <a:srgbClr val="171717"/>
                </a:solidFill>
              </a:defRPr>
            </a:pPr>
            <a:r>
              <a:t>Cycle complet UX → API → 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71717"/>
                </a:solidFill>
              </a:defRPr>
            </a:pPr>
            <a:r>
              <a:t>Next.js (SSR/RSC) + Strapi</a:t>
            </a:r>
          </a:p>
          <a:p>
            <a:pPr>
              <a:defRPr sz="1600">
                <a:solidFill>
                  <a:srgbClr val="171717"/>
                </a:solidFill>
              </a:defRPr>
            </a:pPr>
            <a:r>
              <a:t>Express + MariaDB + Cloudinary</a:t>
            </a:r>
          </a:p>
          <a:p>
            <a:pPr>
              <a:defRPr sz="1600">
                <a:solidFill>
                  <a:srgbClr val="171717"/>
                </a:solidFill>
              </a:defRPr>
            </a:pPr>
            <a:r>
              <a:t>Séparation frontend / backend</a:t>
            </a:r>
          </a:p>
          <a:p>
            <a:pPr>
              <a:defRPr sz="1600">
                <a:solidFill>
                  <a:srgbClr val="171717"/>
                </a:solidFill>
              </a:defRPr>
            </a:pPr>
            <a:r>
              <a:t>Scalabilité &amp; testabilité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SÉCURITÉ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Implémenté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71717"/>
                </a:solidFill>
              </a:defRPr>
            </a:pPr>
            <a:r>
              <a:t>Argon2id</a:t>
            </a:r>
          </a:p>
          <a:p>
            <a:pPr>
              <a:defRPr sz="1600">
                <a:solidFill>
                  <a:srgbClr val="171717"/>
                </a:solidFill>
              </a:defRPr>
            </a:pPr>
            <a:r>
              <a:t>JWT HttpOnly</a:t>
            </a:r>
          </a:p>
          <a:p>
            <a:pPr>
              <a:defRPr sz="1600">
                <a:solidFill>
                  <a:srgbClr val="171717"/>
                </a:solidFill>
              </a:defRPr>
            </a:pPr>
            <a:r>
              <a:t>Validation Joi</a:t>
            </a:r>
          </a:p>
          <a:p>
            <a:pPr>
              <a:defRPr sz="1600">
                <a:solidFill>
                  <a:srgbClr val="171717"/>
                </a:solidFill>
              </a:defRPr>
            </a:pPr>
            <a:r>
              <a:t>Requêtes paramétrées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À renforcer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71717"/>
                </a:solidFill>
              </a:defRPr>
            </a:pPr>
            <a:r>
              <a:t>Rate limiting</a:t>
            </a:r>
          </a:p>
          <a:p>
            <a:pPr>
              <a:defRPr sz="1600">
                <a:solidFill>
                  <a:srgbClr val="171717"/>
                </a:solidFill>
              </a:defRPr>
            </a:pPr>
            <a:r>
              <a:t>Helmet</a:t>
            </a:r>
          </a:p>
          <a:p>
            <a:pPr>
              <a:defRPr sz="1600">
                <a:solidFill>
                  <a:srgbClr val="171717"/>
                </a:solidFill>
              </a:defRPr>
            </a:pPr>
            <a:r>
              <a:t>Logs sécurité</a:t>
            </a:r>
          </a:p>
          <a:p>
            <a:pPr>
              <a:defRPr sz="1600">
                <a:solidFill>
                  <a:srgbClr val="171717"/>
                </a:solidFill>
              </a:defRPr>
            </a:pPr>
            <a:r>
              <a:t>Refresh tokens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71717"/>
                </a:solidFill>
              </a:defRPr>
            </a:pPr>
            <a:r>
              <a:t>Tests Jest + CI/CD</a:t>
            </a:r>
          </a:p>
          <a:p>
            <a:pPr>
              <a:defRPr sz="1600">
                <a:solidFill>
                  <a:srgbClr val="171717"/>
                </a:solidFill>
              </a:defRPr>
            </a:pPr>
            <a:r>
              <a:t>Optimisation vidéo</a:t>
            </a:r>
          </a:p>
          <a:p>
            <a:pPr>
              <a:defRPr sz="1600">
                <a:solidFill>
                  <a:srgbClr val="171717"/>
                </a:solidFill>
              </a:defRPr>
            </a:pPr>
            <a:r>
              <a:t>Réservations Stripe</a:t>
            </a:r>
          </a:p>
          <a:p>
            <a:pPr>
              <a:defRPr sz="1600">
                <a:solidFill>
                  <a:srgbClr val="171717"/>
                </a:solidFill>
              </a:defRPr>
            </a:pPr>
            <a:r>
              <a:t>Internationalisation</a:t>
            </a:r>
          </a:p>
          <a:p>
            <a:pPr>
              <a:defRPr sz="1600">
                <a:solidFill>
                  <a:srgbClr val="171717"/>
                </a:solidFill>
              </a:defRPr>
            </a:pPr>
            <a:r>
              <a:t>PWA / Offline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71717"/>
                </a:solidFill>
              </a:defRPr>
            </a:pPr>
            <a:r>
              <a:t>Base solide sécurité &amp; structure</a:t>
            </a:r>
          </a:p>
          <a:p>
            <a:pPr>
              <a:defRPr sz="1600">
                <a:solidFill>
                  <a:srgbClr val="171717"/>
                </a:solidFill>
              </a:defRPr>
            </a:pPr>
            <a:r>
              <a:t>Vision claire évolutive</a:t>
            </a:r>
          </a:p>
          <a:p>
            <a:pPr>
              <a:defRPr sz="1600">
                <a:solidFill>
                  <a:srgbClr val="171717"/>
                </a:solidFill>
              </a:defRPr>
            </a:pPr>
            <a:r>
              <a:t>Livrables documentés</a:t>
            </a:r>
          </a:p>
          <a:p>
            <a:pPr>
              <a:defRPr sz="1600">
                <a:solidFill>
                  <a:srgbClr val="171717"/>
                </a:solidFill>
              </a:defRPr>
            </a:pPr>
            <a:r>
              <a:t>Focus valeur utilisateur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AC1115"/>
                </a:solidFill>
              </a:defRPr>
            </a:pPr>
            <a:r>
              <a:t>Merci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